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rule in the first ten seconds: laptops open, we do this together, nobody watches. Anyone without Obsidian can still do every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personal. Nobody in the room is being asked to reorganise their employer. They are being asked to make their own week easier.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line that separates this from note-taking advice. Say it plainly: we are writing for the agents. A human-friendly vault is a side effect of a machine-readable one, not the goal.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skip clause out loud early so nobody stalls here downloading software. The honest trade is retrieval quality, not whether it works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room a real minute here. Everything after this assumes Claude is open. Walk round if you have to — a stalled laptop at step one stays stalled all hour.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Watch for people over-thinking the name. Any name. Move on fast — the next two steps are where questions 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them to tile the two windows — Claude on the left, Obsidian on the right. Seeing files appear as Claude works is the moment people understand what this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step that fails for people. Stay here until every laptop in the room says connected. The approval dialog is easy to miss.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sentence out and put it in the chat so nobody mistypes the address. It takes about a minute. Tell them to watch the Obsidian pane while it runs — folders and notes appear one after another.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try to read this from the projector — everyone has it on their own screen, full size. Hold the room until hands are down. If somebody's check is red, it will say why in plain language — read it out, it is a good advert for the next twenty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this a full five minutes and walk the room. The twelve-department instinct is universal; push back. Ask two or three people to say theirs out loud — it unsticks everyone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people will remember in a fortnight. Give a real example from your own work — a question you would not want an assistant guessing 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are an example — theirs will differ. Point at the Workflow Architect: it owns how a workflow gets written down, not what any hat does. It is the one role nobody thinks to create.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zero. That is the whole value proposition in one number — it is counted, not reported, so it cannot be quietly optimistic.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hands-on block — leave ten minutes for it. If the room is running short, this is the one to send home as homework; everything before it is already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it caught a typo — Socail — by name. Everyone has been burned by documentation that quietly went wrong; this is the answer to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Send them away with one instruction, not four: open the project instead of a new chat. Everything else is downstream of that habit.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e62a35b1-5075-553d-b086-acebfebc41ba/scratchpad/brand/meshpro-lockup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3108960" cy="78638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2148840"/>
            <a:ext cx="8595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3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Your AI</a:t>
            </a:r>
            <a:endParaRPr lang="en-US" sz="4600" dirty="0"/>
          </a:p>
          <a:p>
            <a:pPr indent="0" marL="0">
              <a:lnSpc>
                <a:spcPts val="53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Second Brain</a:t>
            </a:r>
            <a:endParaRPr lang="en-US" sz="4600" dirty="0"/>
          </a:p>
        </p:txBody>
      </p:sp>
      <p:sp>
        <p:nvSpPr>
          <p:cNvPr id="4" name="Shape 1"/>
          <p:cNvSpPr/>
          <p:nvPr/>
        </p:nvSpPr>
        <p:spPr>
          <a:xfrm>
            <a:off x="777240" y="4434840"/>
            <a:ext cx="914400" cy="32004"/>
          </a:xfrm>
          <a:prstGeom prst="rect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470916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hands-on hour. Open your laptop — you are building this with me, not watching me build it.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5806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BRING: A LAPTOP  ·  CLAUDE  ·  OBSIDIAN IF YOU HAVE IT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E8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MeshPro × Expectus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NEXT HOUR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you will have when you leave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78308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 a demo you watched. A thing on your own laptop, with your own work in it, that keeps working on Monday.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2697480"/>
            <a:ext cx="3291840" cy="2606040"/>
          </a:xfrm>
          <a:prstGeom prst="roundRect">
            <a:avLst>
              <a:gd name="adj" fmla="val 2105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2971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place your work lives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749040"/>
            <a:ext cx="27432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Your accounts, your promises, your half-finished drafts — written once, in plain text you own, instead of re-typed into a chat window every morning.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434840" y="2697480"/>
            <a:ext cx="3291840" cy="2606040"/>
          </a:xfrm>
          <a:prstGeom prst="roundRect">
            <a:avLst>
              <a:gd name="adj" fmla="val 2105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09160" y="2971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Assistants that know your job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4709160" y="3749040"/>
            <a:ext cx="27432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per department — one per part of your job. Each knows what it is responsible for, and — the part that matters — where it stops.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092440" y="2697480"/>
            <a:ext cx="3291840" cy="2606040"/>
          </a:xfrm>
          <a:prstGeom prst="roundRect">
            <a:avLst>
              <a:gd name="adj" fmla="val 2105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66760" y="297180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page that will not flatter you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8366760" y="3749040"/>
            <a:ext cx="27432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Rebuilt from your notes every time. It names what is waiting on you and how long it has been waiting.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55778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Everything you build today is yours, on your own machine, and none of it needs us afterwards.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IDEA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12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This is not being built for you.</a:t>
            </a:r>
            <a:endParaRPr lang="en-US" sz="3200" dirty="0"/>
          </a:p>
          <a:p>
            <a:pPr indent="0" marL="0">
              <a:lnSpc>
                <a:spcPts val="3712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is being built for the agents.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214884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Your vault is not a nicer set of notes. It is a structure an LLM can read, navigate and act on — written in the shape a machine needs, which happens to also be readable by a person.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3200400"/>
            <a:ext cx="3291840" cy="2286000"/>
          </a:xfrm>
          <a:prstGeom prst="roundRect">
            <a:avLst>
              <a:gd name="adj" fmla="val 2400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3474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 HOME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7673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fact lives in one place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4242816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 an agent never has to choose between two versions of the truth — and neither do you.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34840" y="3200400"/>
            <a:ext cx="3291840" cy="2286000"/>
          </a:xfrm>
          <a:prstGeom prst="roundRect">
            <a:avLst>
              <a:gd name="adj" fmla="val 2400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09160" y="3474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FIELDS, NOT PROSE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4709160" y="37673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note is labelled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709160" y="4242816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Plain-text fields it can filter, count and reason over, instead of guessing from prose.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92440" y="3200400"/>
            <a:ext cx="3291840" cy="2286000"/>
          </a:xfrm>
          <a:prstGeom prst="roundRect">
            <a:avLst>
              <a:gd name="adj" fmla="val 2400"/>
            </a:avLst>
          </a:prstGeom>
          <a:solidFill>
            <a:srgbClr val="1B1D29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366760" y="34747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GRAPH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8366760" y="37673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Linked, never copied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366760" y="4242816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graph is how it finds context. Copy-paste breaks it; a link makes it navigable.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E8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ONE TOOL WORTH HAVING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96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Obsidian: your vault, and why it is worth the five minutes</a:t>
            </a:r>
            <a:endParaRPr lang="en-US" sz="31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210312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Obsidian does not store anything. It reads the folder. Most of you already have it — if you do not, you can still do every step today.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2880360"/>
            <a:ext cx="5029200" cy="2606040"/>
          </a:xfrm>
          <a:prstGeom prst="roundRect">
            <a:avLst>
              <a:gd name="adj" fmla="val 2105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51560" y="315468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GIVES THE AGENTS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4472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Retrieval that actually works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3904488"/>
            <a:ext cx="448056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Backlinks and the graph turn your notes into something an agent can walk: from a client, to the promise, to the workflow that delivers it.</a:t>
            </a:r>
            <a:endParaRPr lang="en-US" sz="1300" dirty="0"/>
          </a:p>
          <a:p>
            <a:pPr indent="0" marL="0">
              <a:lnSpc>
                <a:spcPts val="1846"/>
              </a:lnSpc>
              <a:buNone/>
            </a:pPr>
            <a:endParaRPr lang="en-US" sz="1300" dirty="0"/>
          </a:p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Plus the plugin shelf — Dataview and the rest — which lets a page answer a question instead of just sitting there.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72200" y="2880360"/>
            <a:ext cx="5029200" cy="2606040"/>
          </a:xfrm>
          <a:prstGeom prst="roundRect">
            <a:avLst>
              <a:gd name="adj" fmla="val 2105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46520" y="315468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YOU SKIP IT TODAY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34472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Everything still works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3904488"/>
            <a:ext cx="448056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vault is plain Markdown. Notepad opens it, Claude reads and writes it, every step in this hour runs.</a:t>
            </a:r>
            <a:endParaRPr lang="en-US" sz="1300" dirty="0"/>
          </a:p>
          <a:p>
            <a:pPr indent="0" marL="0">
              <a:lnSpc>
                <a:spcPts val="1846"/>
              </a:lnSpc>
              <a:buNone/>
            </a:pPr>
            <a:endParaRPr lang="en-US" sz="1300" dirty="0"/>
          </a:p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you lose is the retrieval side: the graph links, the backlinks and the plugins. Install it tonight and nothing has to be redone.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SIXTY SECONDS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Before we start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224028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22402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Claude, on your laptop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40680" y="224028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desktop app, signed in. This is where every step happens.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7296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317296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Somewhere to put a folder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5440680" y="3172968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Documents is fine. It will be empty when we start.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105656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234440" y="410565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Obsidian, if you have it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440680" y="4105656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Optional. Five minutes to install if you want it now — or tonight.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5038344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503834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Nothing else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5440680" y="5038344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 Python, no terminal, no account to create, no plugin to buy.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E8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00"/>
              </a:lnSpc>
              <a:buNone/>
            </a:pPr>
            <a:r>
              <a:rPr lang="en-US" sz="32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Make the folder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777240" y="2148840"/>
            <a:ext cx="10637215" cy="1143000"/>
          </a:xfrm>
          <a:prstGeom prst="roundRect">
            <a:avLst>
              <a:gd name="adj" fmla="val 4800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2148840"/>
            <a:ext cx="9905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Make an empty folder under C:\AI and name it after yourself or your team — C:\AI\My Second Brain is a fine answer.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folder exists and is empty. That is genuinely all of step one.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4160520"/>
            <a:ext cx="10607040" cy="1783080"/>
          </a:xfrm>
          <a:prstGeom prst="roundRect">
            <a:avLst>
              <a:gd name="adj" fmla="val 3077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434840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A FOLDER AND NOT AN APP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72744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Because you keep it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5166360"/>
            <a:ext cx="100584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Everything today is plain text files in this folder. No database, no account, nothing hosted. If we never speak again it still opens — and you can read every file of it in Notepad.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2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00"/>
              </a:lnSpc>
              <a:buNone/>
            </a:pPr>
            <a:r>
              <a:rPr lang="en-US" sz="32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Open it in Obsidian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777240" y="2148840"/>
            <a:ext cx="10637215" cy="1143000"/>
          </a:xfrm>
          <a:prstGeom prst="roundRect">
            <a:avLst>
              <a:gd name="adj" fmla="val 4800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2148840"/>
            <a:ext cx="9905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 Obsidian choose Open folder as vault, and pick the folder you just made. If you do not have Obsidian, skip this and carry on.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Obsidian shows an empty vault with your folder's name in the corner.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4297680"/>
            <a:ext cx="5029200" cy="1600200"/>
          </a:xfrm>
          <a:prstGeom prst="roundRect">
            <a:avLst>
              <a:gd name="adj" fmla="val 3429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57200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is now a vault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5010912"/>
            <a:ext cx="44805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Same folder, nothing moved or converted. “Vault” is just Obsidian's word for a folder it is watching.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172200" y="4297680"/>
            <a:ext cx="5029200" cy="1600200"/>
          </a:xfrm>
          <a:prstGeom prst="roundRect">
            <a:avLst>
              <a:gd name="adj" fmla="val 3429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6520" y="4572000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Leave it open beside Claude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446520" y="5010912"/>
            <a:ext cx="44805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For the rest of the hour you will watch notes appear in Obsidian as Claude writes them. That is the whole demo, really.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3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00"/>
              </a:lnSpc>
              <a:buNone/>
            </a:pPr>
            <a:r>
              <a:rPr lang="en-US" sz="32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Make a project, and connect the folder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777240" y="2148840"/>
            <a:ext cx="10637215" cy="1143000"/>
          </a:xfrm>
          <a:prstGeom prst="roundRect">
            <a:avLst>
              <a:gd name="adj" fmla="val 4800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2148840"/>
            <a:ext cx="9905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In Claude, create a project and name it after your work. Then connect the folder you just made to that project and approve it.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Claude tells you the folder is connected and can list what is in it — nothing.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4160520"/>
            <a:ext cx="10607040" cy="1783080"/>
          </a:xfrm>
          <a:prstGeom prst="roundRect">
            <a:avLst>
              <a:gd name="adj" fmla="val 3077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434840"/>
            <a:ext cx="10058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A PROJECT AND NOT A NORMAL CHAT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72744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Because a project remembers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5166360"/>
            <a:ext cx="100584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 conversation inside it reads and writes the same folder. Next week starts where today ended instead of starting from nothing — which is the thing that has been annoying you every morning.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4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Ask for the setup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777240" y="2148840"/>
            <a:ext cx="10637215" cy="1143000"/>
          </a:xfrm>
          <a:prstGeom prst="roundRect">
            <a:avLst>
              <a:gd name="adj" fmla="val 4800"/>
            </a:avLst>
          </a:prstGeom>
          <a:solidFill>
            <a:srgbClr val="1B1D29"/>
          </a:solidFill>
          <a:ln w="17780">
            <a:solidFill>
              <a:srgbClr val="7367F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2148840"/>
            <a:ext cx="9905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Type the sentence below into your project. Then watch Obsidian.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Claude reports back what it made — folders, a contract, agents, workflows and a page.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4114800"/>
            <a:ext cx="10607040" cy="1371600"/>
          </a:xfrm>
          <a:prstGeom prst="roundRect">
            <a:avLst>
              <a:gd name="adj" fmla="val 4000"/>
            </a:avLst>
          </a:prstGeom>
          <a:solidFill>
            <a:srgbClr val="0E1016"/>
          </a:solidFill>
          <a:ln w="19050">
            <a:solidFill>
              <a:srgbClr val="7367F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88720" y="411480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Set up the AI Operations Framework in my connected folder.</a:t>
            </a:r>
            <a:endParaRPr lang="en-US" sz="1900" dirty="0"/>
          </a:p>
          <a:p>
            <a:pPr indent="0" marL="0">
              <a:lnSpc>
                <a:spcPts val="31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Pull it from github.com/meshpro/ai-ops-framework and run the install.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562356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Or your own words — it is read for intent, not matched against a format.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E8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CHECKPOINT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Everyone should be looking at this</a:t>
            </a:r>
            <a:endParaRPr lang="en-US" sz="3000" dirty="0"/>
          </a:p>
        </p:txBody>
      </p:sp>
      <p:pic>
        <p:nvPicPr>
          <p:cNvPr id="5" name="Image 1" descr="/tmp/claude-0/-home-claude/e62a35b1-5075-553d-b086-acebfebc41ba/scratchpad/deck/w-day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7589520" cy="401421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641080" y="1783080"/>
            <a:ext cx="2743200" cy="1874520"/>
          </a:xfrm>
          <a:prstGeom prst="roundRect">
            <a:avLst>
              <a:gd name="adj" fmla="val 2927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915400" y="20574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Ask for it by name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8915400" y="2478024"/>
            <a:ext cx="2194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“Open the picture and tell me what it says.” It is a file in your own folder.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8641080" y="3968496"/>
            <a:ext cx="2743200" cy="1874520"/>
          </a:xfrm>
          <a:prstGeom prst="roundRect">
            <a:avLst>
              <a:gd name="adj" fmla="val 2927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15400" y="424281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Nearly empty, and honest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8915400" y="4663440"/>
            <a:ext cx="21945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75"/>
              </a:lnSpc>
              <a:buNone/>
            </a:pPr>
            <a:r>
              <a:rPr lang="en-US" sz="12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example department, three roles. It does not pretend to be your job yet. Next step is where it becomes yours.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 · THE REAL FIRST STEP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5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00"/>
              </a:lnSpc>
              <a:buNone/>
            </a:pPr>
            <a:r>
              <a:rPr lang="en-US" sz="32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Name your departments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777240" y="2148840"/>
            <a:ext cx="10637215" cy="1143000"/>
          </a:xfrm>
          <a:prstGeom prst="roundRect">
            <a:avLst>
              <a:gd name="adj" fmla="val 4800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2148840"/>
            <a:ext cx="9905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Tell Claude: walk me through Setting Up a Department — my job has these parts, and then list them. Three to six.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note per department appears in Obsidian, each with an assistant attached to it.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4160520"/>
            <a:ext cx="5029200" cy="1965960"/>
          </a:xfrm>
          <a:prstGeom prst="roundRect">
            <a:avLst>
              <a:gd name="adj" fmla="val 2791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43484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COUNTS AS ONE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7274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 a division of the company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5166360"/>
            <a:ext cx="44805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accounts you look after. The reporting. The LinkedIn posting. The thing you inherited that nobody else touches. If you answer for it, it is one.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172200" y="4160520"/>
            <a:ext cx="5029200" cy="1965960"/>
          </a:xfrm>
          <a:prstGeom prst="roundRect">
            <a:avLst>
              <a:gd name="adj" fmla="val 2791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443484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TO SIX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7274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 twelve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5166360"/>
            <a:ext cx="44805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If two of them would never disagree about anything, they are one department. You can add another next week in one sentence.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PART WORTH UNDERSTANDING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Each one says where it stops — and that matters more than what it does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777240" y="2286000"/>
            <a:ext cx="5029200" cy="2560320"/>
          </a:xfrm>
          <a:prstGeom prst="roundRect">
            <a:avLst>
              <a:gd name="adj" fmla="val 2143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25603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85292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An agent always answers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291840"/>
            <a:ext cx="4480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Ask one something just outside its ground and it does not say “that is not mine.” It produces something confident and plausible about a subject it knows nothing about — and the answer looks exactly like a good one.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72200" y="2286000"/>
            <a:ext cx="5029200" cy="2560320"/>
          </a:xfrm>
          <a:prstGeom prst="roundRect">
            <a:avLst>
              <a:gd name="adj" fmla="val 2143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256032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FIX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285292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line: what this is not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3291840"/>
            <a:ext cx="44805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Your Reporting department does not decide what to do about a bad number. Your Client Work department does not set prices.</a:t>
            </a:r>
            <a:endParaRPr lang="en-US" sz="1300" dirty="0"/>
          </a:p>
          <a:p>
            <a:pPr indent="0" marL="0">
              <a:lnSpc>
                <a:spcPts val="1846"/>
              </a:lnSpc>
              <a:buNone/>
            </a:pPr>
            <a:endParaRPr lang="en-US" sz="1300" dirty="0"/>
          </a:p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Write that down and the assistant hands the question back instead of inventing one.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77240" y="507492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F0EEFC"/>
          </a:solidFill>
          <a:ln w="12700">
            <a:solidFill>
              <a:srgbClr val="C4BD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97280" y="50749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stop line is what makes the other answers worth having.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Without it you cannot tell a good answer from a confident one — and you will find out which it was later, in front of somebody else.</a:t>
            </a:r>
            <a:endParaRPr lang="en-US" sz="14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YOU JUST BUILT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596"/>
              </a:lnSpc>
              <a:buNone/>
            </a:pPr>
            <a:r>
              <a:rPr lang="en-US" sz="31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That is an executive layer, and it is yours</a:t>
            </a:r>
            <a:endParaRPr lang="en-US" sz="31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78308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Each department note compiles into an assistant that answers for that department and nothing else. Adding one next month is the same sentence again.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678528" y="2606040"/>
            <a:ext cx="2834640" cy="566928"/>
          </a:xfrm>
          <a:prstGeom prst="roundRect">
            <a:avLst>
              <a:gd name="adj" fmla="val 12903"/>
            </a:avLst>
          </a:prstGeom>
          <a:solidFill>
            <a:srgbClr val="15171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678528" y="260604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78528" y="3429000"/>
            <a:ext cx="2834640" cy="566928"/>
          </a:xfrm>
          <a:prstGeom prst="roundRect">
            <a:avLst>
              <a:gd name="adj" fmla="val 12903"/>
            </a:avLst>
          </a:prstGeom>
          <a:solidFill>
            <a:srgbClr val="7367F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678528" y="342900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Chief of Staff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084418" y="3172968"/>
            <a:ext cx="22860" cy="256032"/>
          </a:xfrm>
          <a:prstGeom prst="rect">
            <a:avLst/>
          </a:prstGeom>
          <a:solidFill>
            <a:srgbClr val="C9CDD6"/>
          </a:solidFill>
          <a:ln/>
        </p:spPr>
      </p:sp>
      <p:sp>
        <p:nvSpPr>
          <p:cNvPr id="11" name="Shape 8"/>
          <p:cNvSpPr/>
          <p:nvPr/>
        </p:nvSpPr>
        <p:spPr>
          <a:xfrm>
            <a:off x="6084418" y="3995928"/>
            <a:ext cx="22860" cy="292608"/>
          </a:xfrm>
          <a:prstGeom prst="rect">
            <a:avLst/>
          </a:prstGeom>
          <a:solidFill>
            <a:srgbClr val="C9CDD6"/>
          </a:solidFill>
          <a:ln/>
        </p:spPr>
      </p:sp>
      <p:sp>
        <p:nvSpPr>
          <p:cNvPr id="12" name="Shape 9"/>
          <p:cNvSpPr/>
          <p:nvPr/>
        </p:nvSpPr>
        <p:spPr>
          <a:xfrm>
            <a:off x="1798168" y="4279392"/>
            <a:ext cx="8595360" cy="22860"/>
          </a:xfrm>
          <a:prstGeom prst="rect">
            <a:avLst/>
          </a:prstGeom>
          <a:solidFill>
            <a:srgbClr val="C9CDD6"/>
          </a:solidFill>
          <a:ln/>
        </p:spPr>
      </p:sp>
      <p:sp>
        <p:nvSpPr>
          <p:cNvPr id="13" name="Shape 10"/>
          <p:cNvSpPr/>
          <p:nvPr/>
        </p:nvSpPr>
        <p:spPr>
          <a:xfrm>
            <a:off x="1786738" y="4279392"/>
            <a:ext cx="22860" cy="274320"/>
          </a:xfrm>
          <a:prstGeom prst="rect">
            <a:avLst/>
          </a:prstGeom>
          <a:solidFill>
            <a:srgbClr val="C9CDD6"/>
          </a:solidFill>
          <a:ln/>
        </p:spPr>
      </p:sp>
      <p:sp>
        <p:nvSpPr>
          <p:cNvPr id="14" name="Shape 11"/>
          <p:cNvSpPr/>
          <p:nvPr/>
        </p:nvSpPr>
        <p:spPr>
          <a:xfrm>
            <a:off x="838048" y="4553712"/>
            <a:ext cx="1920240" cy="841248"/>
          </a:xfrm>
          <a:prstGeom prst="roundRect">
            <a:avLst>
              <a:gd name="adj" fmla="val 8696"/>
            </a:avLst>
          </a:prstGeom>
          <a:solidFill>
            <a:srgbClr val="F4F5F8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38048" y="4553712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Client</a:t>
            </a:r>
            <a:endParaRPr lang="en-US" sz="13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Work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3935578" y="4279392"/>
            <a:ext cx="22860" cy="274320"/>
          </a:xfrm>
          <a:prstGeom prst="rect">
            <a:avLst/>
          </a:prstGeom>
          <a:solidFill>
            <a:srgbClr val="C9CDD6"/>
          </a:solidFill>
          <a:ln/>
        </p:spPr>
      </p:sp>
      <p:sp>
        <p:nvSpPr>
          <p:cNvPr id="17" name="Shape 14"/>
          <p:cNvSpPr/>
          <p:nvPr/>
        </p:nvSpPr>
        <p:spPr>
          <a:xfrm>
            <a:off x="2986888" y="4553712"/>
            <a:ext cx="1920240" cy="841248"/>
          </a:xfrm>
          <a:prstGeom prst="roundRect">
            <a:avLst>
              <a:gd name="adj" fmla="val 8696"/>
            </a:avLst>
          </a:prstGeom>
          <a:solidFill>
            <a:srgbClr val="F4F5F8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986888" y="4553712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Delivery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084418" y="4279392"/>
            <a:ext cx="22860" cy="274320"/>
          </a:xfrm>
          <a:prstGeom prst="rect">
            <a:avLst/>
          </a:prstGeom>
          <a:solidFill>
            <a:srgbClr val="C9CDD6"/>
          </a:solidFill>
          <a:ln/>
        </p:spPr>
      </p:sp>
      <p:sp>
        <p:nvSpPr>
          <p:cNvPr id="20" name="Shape 17"/>
          <p:cNvSpPr/>
          <p:nvPr/>
        </p:nvSpPr>
        <p:spPr>
          <a:xfrm>
            <a:off x="5135728" y="4553712"/>
            <a:ext cx="1920240" cy="841248"/>
          </a:xfrm>
          <a:prstGeom prst="roundRect">
            <a:avLst>
              <a:gd name="adj" fmla="val 8696"/>
            </a:avLst>
          </a:prstGeom>
          <a:solidFill>
            <a:srgbClr val="F4F5F8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135728" y="4553712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LinkedIn</a:t>
            </a:r>
            <a:endParaRPr lang="en-US" sz="13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&amp; Social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8233258" y="4279392"/>
            <a:ext cx="22860" cy="274320"/>
          </a:xfrm>
          <a:prstGeom prst="rect">
            <a:avLst/>
          </a:prstGeom>
          <a:solidFill>
            <a:srgbClr val="C9CDD6"/>
          </a:solidFill>
          <a:ln/>
        </p:spPr>
      </p:sp>
      <p:sp>
        <p:nvSpPr>
          <p:cNvPr id="23" name="Shape 20"/>
          <p:cNvSpPr/>
          <p:nvPr/>
        </p:nvSpPr>
        <p:spPr>
          <a:xfrm>
            <a:off x="7284568" y="4553712"/>
            <a:ext cx="1920240" cy="841248"/>
          </a:xfrm>
          <a:prstGeom prst="roundRect">
            <a:avLst>
              <a:gd name="adj" fmla="val 8696"/>
            </a:avLst>
          </a:prstGeom>
          <a:solidFill>
            <a:srgbClr val="F4F5F8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284568" y="4553712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Reporting</a:t>
            </a:r>
            <a:endParaRPr lang="en-US" sz="1350" dirty="0"/>
          </a:p>
        </p:txBody>
      </p:sp>
      <p:sp>
        <p:nvSpPr>
          <p:cNvPr id="25" name="Shape 22"/>
          <p:cNvSpPr/>
          <p:nvPr/>
        </p:nvSpPr>
        <p:spPr>
          <a:xfrm>
            <a:off x="10382098" y="4279392"/>
            <a:ext cx="22860" cy="274320"/>
          </a:xfrm>
          <a:prstGeom prst="rect">
            <a:avLst/>
          </a:prstGeom>
          <a:solidFill>
            <a:srgbClr val="C9CDD6"/>
          </a:solidFill>
          <a:ln/>
        </p:spPr>
      </p:sp>
      <p:sp>
        <p:nvSpPr>
          <p:cNvPr id="26" name="Shape 23"/>
          <p:cNvSpPr/>
          <p:nvPr/>
        </p:nvSpPr>
        <p:spPr>
          <a:xfrm>
            <a:off x="9433408" y="4553712"/>
            <a:ext cx="1920240" cy="841248"/>
          </a:xfrm>
          <a:prstGeom prst="roundRect">
            <a:avLst>
              <a:gd name="adj" fmla="val 8696"/>
            </a:avLst>
          </a:prstGeom>
          <a:solidFill>
            <a:srgbClr val="F4F5F8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433408" y="4553712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Workflow</a:t>
            </a:r>
            <a:endParaRPr lang="en-US" sz="13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Architect</a:t>
            </a:r>
            <a:endParaRPr lang="en-US" sz="1350" dirty="0"/>
          </a:p>
        </p:txBody>
      </p:sp>
      <p:sp>
        <p:nvSpPr>
          <p:cNvPr id="28" name="Text 25"/>
          <p:cNvSpPr txBox="1"/>
          <p:nvPr/>
        </p:nvSpPr>
        <p:spPr>
          <a:xfrm>
            <a:off x="777240" y="562356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5B62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Four of them are parts of your job. The fifth keeps the writing itself honest.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CHECKPOINT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80"/>
              </a:lnSpc>
              <a:buNone/>
            </a:pPr>
            <a:r>
              <a:rPr lang="en-US" sz="30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Your departments, on the page, counted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572768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Nobody typed these numbers. They were counted off your own notes when the page was built.</a:t>
            </a:r>
            <a:endParaRPr lang="en-US" sz="1500" dirty="0"/>
          </a:p>
        </p:txBody>
      </p:sp>
      <p:pic>
        <p:nvPicPr>
          <p:cNvPr id="6" name="Image 1" descr="/tmp/claude-0/-home-claude/e62a35b1-5075-553d-b086-acebfebc41ba/scratchpad/deck/w-dep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86000"/>
            <a:ext cx="10607040" cy="2642616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77240" y="5257800"/>
            <a:ext cx="10607040" cy="640080"/>
          </a:xfrm>
          <a:prstGeom prst="roundRect">
            <a:avLst>
              <a:gd name="adj" fmla="val 8571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097280" y="5257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“LinkedIn &amp; Social — 1 workflow, 0 running.” </a:t>
            </a:r>
            <a:pPr indent="0" marL="0"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Uncomfortable, true, and you did not have to admit it.</a:t>
            </a:r>
            <a:endParaRPr lang="en-US" sz="145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 ON · THE LAST ONE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868680"/>
            <a:ext cx="868680" cy="868680"/>
          </a:xfrm>
          <a:prstGeom prst="ellipse">
            <a:avLst/>
          </a:prstGeom>
          <a:solidFill>
            <a:srgbClr val="7367F0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6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2011680" y="868680"/>
            <a:ext cx="9402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00"/>
              </a:lnSpc>
              <a:buNone/>
            </a:pPr>
            <a:r>
              <a:rPr lang="en-US" sz="32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Write down the thing that annoys you most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777240" y="2148840"/>
            <a:ext cx="10637215" cy="1143000"/>
          </a:xfrm>
          <a:prstGeom prst="roundRect">
            <a:avLst>
              <a:gd name="adj" fmla="val 4800"/>
            </a:avLst>
          </a:prstGeom>
          <a:solidFill>
            <a:srgbClr val="F0EEFC"/>
          </a:solidFill>
          <a:ln w="17780">
            <a:solidFill>
              <a:srgbClr val="C4BD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2148840"/>
            <a:ext cx="99056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050" spc="16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THIS NOW   </a:t>
            </a:r>
            <a:pPr indent="0" marL="0">
              <a:lnSpc>
                <a:spcPts val="2600"/>
              </a:lnSpc>
              <a:buNone/>
            </a:pPr>
            <a:endParaRPr lang="en-US" sz="105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Say: let's write down how [the thing] actually happens today, including the parts that are a mess. Then answer its questions.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5204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know it worked when  </a:t>
            </a:r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workflow note exists with your steps in it — marked as a draft, and as not yet running.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77240" y="4160520"/>
            <a:ext cx="5029200" cy="1965960"/>
          </a:xfrm>
          <a:prstGeom prst="roundRect">
            <a:avLst>
              <a:gd name="adj" fmla="val 2791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51560" y="443484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PICK BADLY ON PURPOSE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47274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Not your most important process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" y="5166360"/>
            <a:ext cx="44805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The one that goes wrong most often. That is where an assistant earns its place, and it is the one you will actually check.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172200" y="4160520"/>
            <a:ext cx="5029200" cy="1965960"/>
          </a:xfrm>
          <a:prstGeom prst="roundRect">
            <a:avLst>
              <a:gd name="adj" fmla="val 2791"/>
            </a:avLst>
          </a:prstGeom>
          <a:solidFill>
            <a:srgbClr val="F4F5F8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4434840"/>
            <a:ext cx="4480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7367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TWO MARKS, NOT ONE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72744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5171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Written down is not working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5166360"/>
            <a:ext cx="44805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6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Is the note true? Only after you have walked one real case through it. Does it run end to end? Different question. They fail separately, so they are tracked separately.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198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YOU CAN TRUST IT IN A MONTH</a:t>
            </a:r>
            <a:endParaRPr lang="en-US" sz="1100" dirty="0"/>
          </a:p>
        </p:txBody>
      </p:sp>
      <p:pic>
        <p:nvPicPr>
          <p:cNvPr id="3" name="Image 0" descr="/tmp/claude-0/-home-claude/e62a35b1-5075-553d-b086-acebfebc41ba/scratchpad/brand/meshpro-emblem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0135" y="411480"/>
            <a:ext cx="384048" cy="3749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86868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712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tells you when you are wrong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210312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 hat with no assistant, and a workflow pointing at a hat that does not exist — a typo. Three seconds later: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77240" y="2743200"/>
            <a:ext cx="10607040" cy="1783080"/>
          </a:xfrm>
          <a:prstGeom prst="roundRect">
            <a:avLst>
              <a:gd name="adj" fmla="val 3077"/>
            </a:avLst>
          </a:prstGeom>
          <a:solidFill>
            <a:srgbClr val="0E1016"/>
          </a:solidFill>
          <a:ln w="12700">
            <a:solidFill>
              <a:srgbClr val="2B2E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88720" y="2944368"/>
            <a:ext cx="98755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E87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FAILED: 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D8DC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department has exactly one executive who answers for it —
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B4BA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'Reporting' has no executive; every question about it lands back on you
</a:t>
            </a:r>
            <a:pPr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E870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FAILED: 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D8DC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workflow belongs somewhere — 'Posting on LinkedIn' belongs to
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B4BA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'LinkedIn and Socail', and there is no note by that name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8920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No error code, no line number. It names the note and says what it costs you. That is why the page is still true in a month.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7E84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517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2062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A59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MONDAY MORNING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9951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What to do with it next week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157984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2157984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Open the project, not a new chat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903720" y="215798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That is the whole habit. Everything else follows from it.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26664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026664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Add the one you forgot today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302666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You will think of it on Tuesday. One sentence.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895344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895344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Write down the second annoying thing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389534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One a week is a transformed job by Christmas.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764024"/>
            <a:ext cx="365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367F0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—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764024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Ask it what is waiting on you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476402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On Friday. It will tell you, and it will be right.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5806440"/>
            <a:ext cx="914400" cy="32004"/>
          </a:xfrm>
          <a:prstGeom prst="rect">
            <a:avLst/>
          </a:prstGeom>
          <a:solidFill>
            <a:srgbClr val="7367F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8ADBA"/>
                </a:solidFill>
                <a:latin typeface="Public Sans" pitchFamily="34" charset="0"/>
                <a:ea typeface="Public Sans" pitchFamily="34" charset="-122"/>
                <a:cs typeface="Public Sans" pitchFamily="34" charset="-120"/>
              </a:rPr>
              <a:t>It is your folder, on your laptop. Nothing here phones home.</a:t>
            </a:r>
            <a:endParaRPr lang="en-US" sz="1350" dirty="0"/>
          </a:p>
        </p:txBody>
      </p:sp>
      <p:pic>
        <p:nvPicPr>
          <p:cNvPr id="18" name="Image 0" descr="/tmp/claude-0/-home-claude/e62a35b1-5075-553d-b086-acebfebc41ba/scratchpad/brand/meshpro-lockup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28455" y="5870448"/>
            <a:ext cx="2286000" cy="5760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MeshPro × Expectus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Your AI Second Brain — a hands-on hour</dc:title>
  <dc:subject>PptxGenJS Presentation</dc:subject>
  <dc:creator>MeshPro ehf.</dc:creator>
  <cp:lastModifiedBy>MeshPro ehf.</cp:lastModifiedBy>
  <cp:revision>1</cp:revision>
  <dcterms:created xsi:type="dcterms:W3CDTF">2026-09-22T15:13:09Z</dcterms:created>
  <dcterms:modified xsi:type="dcterms:W3CDTF">2026-09-22T15:13:09Z</dcterms:modified>
</cp:coreProperties>
</file>