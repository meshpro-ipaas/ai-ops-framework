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rule in the first ten seconds: laptops open, we do this together, nobody watches. Anyone without Obsidian can still do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personal. Nobody in the room is being asked to reorganise their employer. They are being asked to make their own week easier.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show of hands on the first one. Everybody re-explains their job to a chat window every morning. That is the hook — not productivity, the repetition.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line that separates this from note-taking advice. Say it plainly: we are writing for the agents. A human-friendly vault is a side effect of a machine-readable one, not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skip clause out loud early so nobody stalls here downloading software. The honest trade is retrieval quality, not whether it works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a real minute here. Everything after this assumes Claude is open. Walk round if you have to — a stalled laptop at step one stays stalled all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for people over-thinking the name. Any name. Move on fast — the next two steps are where questions 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to tile the two windows — Claude on the left, Obsidian on the right. Seeing files appear as Claude works is the moment people understand what this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step that fails for people. Stay here until every laptop in the room says connected. The approval dialog is easy to 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sentence out and put it in the chat so nobody mistypes the address. It takes about a minute. Tell them to watch the Obsidian pane while it runs — folders and notes appear one after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try to read this from the projector — everyone has it on their own screen, full size. Hold the room until hands are down. If somebody's check is red, it will say why in plain language — read it out, it is a good advert for the next twenty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this a full five minutes and walk the room. The twelve-hat instinct is universal; push back. Ask two or three people to say theirs out loud — it unsticks everyone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people will remember in a fortnight. Give a real example from your own work — a question you would not want an assistant guessing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are an example — theirs will differ. Point at the Workflow Architect: it owns how a workflow gets written down, not what any hat does. It is the one role nobody thinks to create.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zero. That is the whole value proposition in one number — it is counted, not reported, so it cannot be quietly optimistic.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hands-on block — leave ten minutes for it. If the room is running short, this is the one to send home as homework; everything before it is already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it caught a typo — Socail — by name. Everyone has been burned by documentation that quietly went wrong; this is the answer to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them away with one instruction, not four: open the project instead of a new chat. Everything else is downstream of that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62a35b1-5075-553d-b086-acebfebc41ba/scratchpad/brand/meshpro-lockup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3108960" cy="7863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2148840"/>
            <a:ext cx="8595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3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AI</a:t>
            </a:r>
            <a:endParaRPr lang="en-US" sz="4600" dirty="0"/>
          </a:p>
          <a:p>
            <a:pPr indent="0" marL="0">
              <a:lnSpc>
                <a:spcPts val="53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Second Brain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777240" y="4434840"/>
            <a:ext cx="914400" cy="32004"/>
          </a:xfrm>
          <a:prstGeom prst="rect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47091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hands-on hour. Open your laptop — you are building this with me, not watching me build it.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BRING: A LAPTOP  ·  CLAUDE  ·  OBSIDIAN IF YOU HAVE IT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MeshPro × Expectus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NEXT HOUR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you will have when you leave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7830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a demo you watched. A thing on your own laptop, with your own work in it, that keeps working on Monday.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2697480"/>
            <a:ext cx="3291840" cy="2606040"/>
          </a:xfrm>
          <a:prstGeom prst="roundRect">
            <a:avLst>
              <a:gd name="adj" fmla="val 2105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place your work lives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749040"/>
            <a:ext cx="2743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accounts, your promises, your half-finished drafts — written once, in plain text you own, instead of re-typed into a chat window every morning.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2697480"/>
            <a:ext cx="3291840" cy="2606040"/>
          </a:xfrm>
          <a:prstGeom prst="roundRect">
            <a:avLst>
              <a:gd name="adj" fmla="val 2105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0916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Assistants that know your job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3749040"/>
            <a:ext cx="2743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per hat you wear. Each knows what it is responsible for, and — the part that matters — where it stops.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92440" y="2697480"/>
            <a:ext cx="3291840" cy="2606040"/>
          </a:xfrm>
          <a:prstGeom prst="roundRect">
            <a:avLst>
              <a:gd name="adj" fmla="val 2105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6676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page that will not flatter you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3749040"/>
            <a:ext cx="2743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Rebuilt from your notes every time. It names what is waiting on you and how long it has been waiting.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55778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Everything you build today is yours, on your own machine, and none of it needs us afterwards.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FIRST, WHY THIS IS WORTH AN HOUR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already have a second brain. It is just in the wrong place.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777240" y="2377440"/>
            <a:ext cx="3291840" cy="2697480"/>
          </a:xfrm>
          <a:prstGeom prst="roundRect">
            <a:avLst>
              <a:gd name="adj" fmla="val 2034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2651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morning you re-explain yourself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3429000"/>
            <a:ext cx="27432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New chat, same context. Who the client is, what we agreed, how we do it here. You are the RAM, and you get wiped nightly.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2377440"/>
            <a:ext cx="3291840" cy="2697480"/>
          </a:xfrm>
          <a:prstGeom prst="roundRect">
            <a:avLst>
              <a:gd name="adj" fmla="val 2034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09160" y="2651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thing only you know how to do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3429000"/>
            <a:ext cx="27432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report, the handover, the monthly thing. It lives in your head, so it cannot be handed over and it cannot be helped with.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92440" y="2377440"/>
            <a:ext cx="3291840" cy="2697480"/>
          </a:xfrm>
          <a:prstGeom prst="roundRect">
            <a:avLst>
              <a:gd name="adj" fmla="val 2034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651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drafts that never leave your notes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3429000"/>
            <a:ext cx="27432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Written, nearly good, never posted or sent. Nothing is watching them, so nothing reminds you.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None of this is a discipline problem. </a:t>
            </a:r>
            <a:pPr indent="0" marL="0">
              <a:buNone/>
            </a:pPr>
            <a:r>
              <a:rPr lang="en-US" sz="15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There is nowhere for the answer to live that both you and an AI can read tomorrow.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12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is not being built for you.</a:t>
            </a:r>
            <a:endParaRPr lang="en-US" sz="3200" dirty="0"/>
          </a:p>
          <a:p>
            <a:pPr indent="0" marL="0">
              <a:lnSpc>
                <a:spcPts val="3712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is being built for the agents.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14884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vault is not a nicer set of notes. It is a structure an LLM can read, navigate and act on — written in the shape a machine needs, which happens to also be readable by a person.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3200400"/>
            <a:ext cx="3291840" cy="2286000"/>
          </a:xfrm>
          <a:prstGeom prst="roundRect">
            <a:avLst>
              <a:gd name="adj" fmla="val 2400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3474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HOME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767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fact lives in one place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424281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an agent never has to choose between two versions of the truth — and neither do you.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3200400"/>
            <a:ext cx="3291840" cy="2286000"/>
          </a:xfrm>
          <a:prstGeom prst="roundRect">
            <a:avLst>
              <a:gd name="adj" fmla="val 2400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3474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FIELDS, NOT PROSE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3767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note is labelled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424281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Plain-text fields it can filter, count and reason over, instead of guessing from prose.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2440" y="3200400"/>
            <a:ext cx="3291840" cy="2286000"/>
          </a:xfrm>
          <a:prstGeom prst="roundRect">
            <a:avLst>
              <a:gd name="adj" fmla="val 2400"/>
            </a:avLst>
          </a:prstGeom>
          <a:solidFill>
            <a:srgbClr val="1B1D29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474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GRAPH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3767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Linked, never copied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424281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graph is how it finds context. Copy-paste breaks it; a link makes it navigable.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ONE TOOL WORTH HAVING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Obsidian: your vault, and why it is worth the five minutes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1031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Obsidian does not store anything. It reads the folder. Most of you already have it — if you do not, you can still do every step today.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2880360"/>
            <a:ext cx="5029200" cy="2606040"/>
          </a:xfrm>
          <a:prstGeom prst="roundRect">
            <a:avLst>
              <a:gd name="adj" fmla="val 2105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31546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GIVES THE AGENTS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447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Retrieval that actually works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904488"/>
            <a:ext cx="44805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Backlinks and the graph turn your notes into something an agent can walk: from a client, to the promise, to the workflow that delivers it.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Plus the plugin shelf — Dataview and the rest — which lets a page answer a question instead of just sitting there.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880360"/>
            <a:ext cx="5029200" cy="2606040"/>
          </a:xfrm>
          <a:prstGeom prst="roundRect">
            <a:avLst>
              <a:gd name="adj" fmla="val 2105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31546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SKIP IT TODAY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3447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Everything still works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3904488"/>
            <a:ext cx="44805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vault is plain Markdown. Notepad opens it, Claude reads and writes it, every step in this hour runs.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you lose is the retrieval side: the graph links, the backlinks and the plugins. Install it tonight and nothing has to be redone.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SIXTY SECONDS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Before we start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2402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2240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Claude, on your laptop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4068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desktop app, signed in. This is where every step happens.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7296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1729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Somewhere to put a folder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31729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Documents is fine. It will be empty when we start.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10565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410565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Obsidian, if you have it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410565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Optional. Five minutes to install if you want it now — or tonight.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03834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503834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Nothing else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503834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Python, no terminal, no account to create, no plugin to buy.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the folder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77240" y="2148840"/>
            <a:ext cx="10637215" cy="1143000"/>
          </a:xfrm>
          <a:prstGeom prst="roundRect">
            <a:avLst>
              <a:gd name="adj" fmla="val 4800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214884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an empty folder and name it after yourself or your team. Documents\My Second Brain is a fine answer.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folder exists and is empty. That is genuinely all of step one.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160520"/>
            <a:ext cx="10607040" cy="178308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4348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 FOLDER AND NOT AN APP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72744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Because you keep it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5166360"/>
            <a:ext cx="10058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Everything today is plain text files in this folder. No database, no account, nothing hosted. If we never speak again it still opens — and you can read every file of it in Notepad.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 it in Obsidian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77240" y="2148840"/>
            <a:ext cx="10637215" cy="1143000"/>
          </a:xfrm>
          <a:prstGeom prst="roundRect">
            <a:avLst>
              <a:gd name="adj" fmla="val 4800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214884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 Obsidian choose Open folder as vault, and pick the folder you just made. If you do not have Obsidian, skip this and carry on.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Obsidian shows an empty vault with your folder's name in the corner.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297680"/>
            <a:ext cx="5029200" cy="1600200"/>
          </a:xfrm>
          <a:prstGeom prst="roundRect">
            <a:avLst>
              <a:gd name="adj" fmla="val 3429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5720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is now a vault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5010912"/>
            <a:ext cx="4480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Same folder, nothing moved or converted. “Vault” is just Obsidian's word for a folder it is watching.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72200" y="4297680"/>
            <a:ext cx="5029200" cy="1600200"/>
          </a:xfrm>
          <a:prstGeom prst="roundRect">
            <a:avLst>
              <a:gd name="adj" fmla="val 3429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45720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Leave it open beside Claude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5010912"/>
            <a:ext cx="4480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For the rest of the hour you will watch notes appear in Obsidian as Claude writes them. That is the whole demo, really.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a project, and connect the folder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77240" y="2148840"/>
            <a:ext cx="10637215" cy="1143000"/>
          </a:xfrm>
          <a:prstGeom prst="roundRect">
            <a:avLst>
              <a:gd name="adj" fmla="val 4800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214884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 Claude, create a project and name it after your work. Then connect the folder you just made to that project and approve it.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Claude tells you the folder is connected and can list what is in it — nothing.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160520"/>
            <a:ext cx="10607040" cy="178308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4348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 PROJECT AND NOT A NORMAL CHAT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72744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Because a project remembers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5166360"/>
            <a:ext cx="10058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conversation inside it reads and writes the same folder. Next week starts where today ended instead of starting from nothing — which is the thing that has been annoying you every morning.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Ask for the setup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77240" y="2148840"/>
            <a:ext cx="10637215" cy="1143000"/>
          </a:xfrm>
          <a:prstGeom prst="roundRect">
            <a:avLst>
              <a:gd name="adj" fmla="val 4800"/>
            </a:avLst>
          </a:prstGeom>
          <a:solidFill>
            <a:srgbClr val="1B1D29"/>
          </a:solidFill>
          <a:ln w="17780">
            <a:solidFill>
              <a:srgbClr val="7367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214884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Type the sentence below into your project. Then watch Obsidian.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Claude reports back what it made — folders, a contract, agents, workflows and a page.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114800"/>
            <a:ext cx="10607040" cy="1371600"/>
          </a:xfrm>
          <a:prstGeom prst="roundRect">
            <a:avLst>
              <a:gd name="adj" fmla="val 4000"/>
            </a:avLst>
          </a:prstGeom>
          <a:solidFill>
            <a:srgbClr val="0E1016"/>
          </a:solidFill>
          <a:ln w="19050">
            <a:solidFill>
              <a:srgbClr val="7367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41148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Set up the AI Operations Framework in my connected folder.</a:t>
            </a:r>
            <a:endParaRPr lang="en-US" sz="19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Pull it from github.com/meshpro/ai-ops-framework and run the install.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623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 your own words — it is read for intent, not matched against a format.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Everyone should be looking at this</a:t>
            </a:r>
            <a:endParaRPr lang="en-US" sz="3000" dirty="0"/>
          </a:p>
        </p:txBody>
      </p:sp>
      <p:pic>
        <p:nvPicPr>
          <p:cNvPr id="5" name="Image 1" descr="/tmp/claude-0/-home-claude/e62a35b1-5075-553d-b086-acebfebc41ba/scratchpad/deck/w-day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7589520" cy="401421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41080" y="1783080"/>
            <a:ext cx="2743200" cy="1874520"/>
          </a:xfrm>
          <a:prstGeom prst="roundRect">
            <a:avLst>
              <a:gd name="adj" fmla="val 292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915400" y="20574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Ask for it by name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915400" y="2478024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“Open the picture and tell me what it says.” It is a file in your own folder.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641080" y="3968496"/>
            <a:ext cx="2743200" cy="1874520"/>
          </a:xfrm>
          <a:prstGeom prst="roundRect">
            <a:avLst>
              <a:gd name="adj" fmla="val 2927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915400" y="42428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Nearly empty, and honest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915400" y="4663440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example department, three roles. It does not pretend to be your job yet. Next step is where it becomes yours.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 · THE REAL FIRST STEP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Name your hats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77240" y="2148840"/>
            <a:ext cx="10637215" cy="1143000"/>
          </a:xfrm>
          <a:prstGeom prst="roundRect">
            <a:avLst>
              <a:gd name="adj" fmla="val 4800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214884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Tell Claude: walk me through Setting Up a Department — my job has these parts, and then list them. Three to six.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note per hat appears in Obsidian, each with an assistant attached to it.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160520"/>
            <a:ext cx="5029200" cy="1965960"/>
          </a:xfrm>
          <a:prstGeom prst="roundRect">
            <a:avLst>
              <a:gd name="adj" fmla="val 2791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4348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DEPARTMENT IS A HAT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7274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a division of the company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5166360"/>
            <a:ext cx="4480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accounts you look after. The reporting. The LinkedIn posting. The thing you inherited that nobody else touches. If you answer for it, it is one.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4160520"/>
            <a:ext cx="5029200" cy="1965960"/>
          </a:xfrm>
          <a:prstGeom prst="roundRect">
            <a:avLst>
              <a:gd name="adj" fmla="val 2791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44348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TO SIX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7274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twelve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5166360"/>
            <a:ext cx="4480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If two of them would never disagree about anything, they are one hat. You can add another next week in one sentence.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PART WORTH UNDERSTANDING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hat says where it stops — and that matters more than what it does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2286000"/>
            <a:ext cx="5029200" cy="2286000"/>
          </a:xfrm>
          <a:prstGeom prst="roundRect">
            <a:avLst>
              <a:gd name="adj" fmla="val 2400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2560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8529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 agent always answers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291840"/>
            <a:ext cx="4480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Ask one something just outside its ground and it does not say “that is not mine.” It produces something confident and plausible about a subject it knows nothing about — and the answer looks exactly like a good one.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5029200" cy="2286000"/>
          </a:xfrm>
          <a:prstGeom prst="roundRect">
            <a:avLst>
              <a:gd name="adj" fmla="val 2400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2560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FIX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8529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line: what this is not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3291840"/>
            <a:ext cx="4480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Reporting hat does not decide what to do about a bad number. Your Client Work hat does not set prices.</a:t>
            </a: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endParaRPr lang="en-US" sz="1300" dirty="0"/>
          </a:p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Write that down and the assistant hands the question back instead of inventing an answer.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484632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F0EEFC"/>
          </a:solidFill>
          <a:ln w="12700">
            <a:solidFill>
              <a:srgbClr val="C4BD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7280" y="4846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stop line is what makes the other answers worth having.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Without it you cannot tell a good answer from a confident one — and you will find out which it was later, in front of somebody else.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JUST BUILT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96"/>
              </a:lnSpc>
              <a:buNone/>
            </a:pPr>
            <a:r>
              <a:rPr lang="en-US" sz="31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That is an executive layer, and it is yours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7830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hat note compiles into an assistant that answers for that hat and nothing else. Adding one next month is the same sentence again.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678528" y="2606040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15171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678528" y="26060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78528" y="3429000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367F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678528" y="34290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Chief of Staff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84418" y="3172968"/>
            <a:ext cx="22860" cy="256032"/>
          </a:xfrm>
          <a:prstGeom prst="rect">
            <a:avLst/>
          </a:prstGeom>
          <a:solidFill>
            <a:srgbClr val="C9CDD6"/>
          </a:solidFill>
          <a:ln/>
        </p:spPr>
      </p:sp>
      <p:sp>
        <p:nvSpPr>
          <p:cNvPr id="11" name="Shape 8"/>
          <p:cNvSpPr/>
          <p:nvPr/>
        </p:nvSpPr>
        <p:spPr>
          <a:xfrm>
            <a:off x="6084418" y="3995928"/>
            <a:ext cx="22860" cy="292608"/>
          </a:xfrm>
          <a:prstGeom prst="rect">
            <a:avLst/>
          </a:prstGeom>
          <a:solidFill>
            <a:srgbClr val="C9CDD6"/>
          </a:solidFill>
          <a:ln/>
        </p:spPr>
      </p:sp>
      <p:sp>
        <p:nvSpPr>
          <p:cNvPr id="12" name="Shape 9"/>
          <p:cNvSpPr/>
          <p:nvPr/>
        </p:nvSpPr>
        <p:spPr>
          <a:xfrm>
            <a:off x="1798168" y="4279392"/>
            <a:ext cx="8595360" cy="22860"/>
          </a:xfrm>
          <a:prstGeom prst="rect">
            <a:avLst/>
          </a:prstGeom>
          <a:solidFill>
            <a:srgbClr val="C9CDD6"/>
          </a:solidFill>
          <a:ln/>
        </p:spPr>
      </p:sp>
      <p:sp>
        <p:nvSpPr>
          <p:cNvPr id="13" name="Shape 10"/>
          <p:cNvSpPr/>
          <p:nvPr/>
        </p:nvSpPr>
        <p:spPr>
          <a:xfrm>
            <a:off x="1786738" y="4279392"/>
            <a:ext cx="22860" cy="274320"/>
          </a:xfrm>
          <a:prstGeom prst="rect">
            <a:avLst/>
          </a:prstGeom>
          <a:solidFill>
            <a:srgbClr val="C9CDD6"/>
          </a:solidFill>
          <a:ln/>
        </p:spPr>
      </p:sp>
      <p:sp>
        <p:nvSpPr>
          <p:cNvPr id="14" name="Shape 11"/>
          <p:cNvSpPr/>
          <p:nvPr/>
        </p:nvSpPr>
        <p:spPr>
          <a:xfrm>
            <a:off x="838048" y="4553712"/>
            <a:ext cx="1920240" cy="841248"/>
          </a:xfrm>
          <a:prstGeom prst="roundRect">
            <a:avLst>
              <a:gd name="adj" fmla="val 8696"/>
            </a:avLst>
          </a:prstGeom>
          <a:solidFill>
            <a:srgbClr val="F4F5F8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8048" y="455371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Client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Work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935578" y="4279392"/>
            <a:ext cx="22860" cy="274320"/>
          </a:xfrm>
          <a:prstGeom prst="rect">
            <a:avLst/>
          </a:prstGeom>
          <a:solidFill>
            <a:srgbClr val="C9CDD6"/>
          </a:solidFill>
          <a:ln/>
        </p:spPr>
      </p:sp>
      <p:sp>
        <p:nvSpPr>
          <p:cNvPr id="17" name="Shape 14"/>
          <p:cNvSpPr/>
          <p:nvPr/>
        </p:nvSpPr>
        <p:spPr>
          <a:xfrm>
            <a:off x="2986888" y="4553712"/>
            <a:ext cx="1920240" cy="841248"/>
          </a:xfrm>
          <a:prstGeom prst="roundRect">
            <a:avLst>
              <a:gd name="adj" fmla="val 8696"/>
            </a:avLst>
          </a:prstGeom>
          <a:solidFill>
            <a:srgbClr val="F4F5F8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986888" y="455371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Delivery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084418" y="4279392"/>
            <a:ext cx="22860" cy="274320"/>
          </a:xfrm>
          <a:prstGeom prst="rect">
            <a:avLst/>
          </a:prstGeom>
          <a:solidFill>
            <a:srgbClr val="C9CDD6"/>
          </a:solidFill>
          <a:ln/>
        </p:spPr>
      </p:sp>
      <p:sp>
        <p:nvSpPr>
          <p:cNvPr id="20" name="Shape 17"/>
          <p:cNvSpPr/>
          <p:nvPr/>
        </p:nvSpPr>
        <p:spPr>
          <a:xfrm>
            <a:off x="5135728" y="4553712"/>
            <a:ext cx="1920240" cy="841248"/>
          </a:xfrm>
          <a:prstGeom prst="roundRect">
            <a:avLst>
              <a:gd name="adj" fmla="val 8696"/>
            </a:avLst>
          </a:prstGeom>
          <a:solidFill>
            <a:srgbClr val="F4F5F8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135728" y="455371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LinkedIn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&amp; Social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233258" y="4279392"/>
            <a:ext cx="22860" cy="274320"/>
          </a:xfrm>
          <a:prstGeom prst="rect">
            <a:avLst/>
          </a:prstGeom>
          <a:solidFill>
            <a:srgbClr val="C9CDD6"/>
          </a:solidFill>
          <a:ln/>
        </p:spPr>
      </p:sp>
      <p:sp>
        <p:nvSpPr>
          <p:cNvPr id="23" name="Shape 20"/>
          <p:cNvSpPr/>
          <p:nvPr/>
        </p:nvSpPr>
        <p:spPr>
          <a:xfrm>
            <a:off x="7284568" y="4553712"/>
            <a:ext cx="1920240" cy="841248"/>
          </a:xfrm>
          <a:prstGeom prst="roundRect">
            <a:avLst>
              <a:gd name="adj" fmla="val 8696"/>
            </a:avLst>
          </a:prstGeom>
          <a:solidFill>
            <a:srgbClr val="F4F5F8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84568" y="455371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Reporting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10382098" y="4279392"/>
            <a:ext cx="22860" cy="274320"/>
          </a:xfrm>
          <a:prstGeom prst="rect">
            <a:avLst/>
          </a:prstGeom>
          <a:solidFill>
            <a:srgbClr val="C9CDD6"/>
          </a:solidFill>
          <a:ln/>
        </p:spPr>
      </p:sp>
      <p:sp>
        <p:nvSpPr>
          <p:cNvPr id="26" name="Shape 23"/>
          <p:cNvSpPr/>
          <p:nvPr/>
        </p:nvSpPr>
        <p:spPr>
          <a:xfrm>
            <a:off x="9433408" y="4553712"/>
            <a:ext cx="1920240" cy="841248"/>
          </a:xfrm>
          <a:prstGeom prst="roundRect">
            <a:avLst>
              <a:gd name="adj" fmla="val 8696"/>
            </a:avLst>
          </a:prstGeom>
          <a:solidFill>
            <a:srgbClr val="F4F5F8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433408" y="455371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Workflow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Architect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5623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of them are your hats. The fifth keeps the writing itself honest.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Your hats, on the page, counted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57276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Nobody typed these numbers. They were counted off your own notes when the page was built.</a:t>
            </a:r>
            <a:endParaRPr lang="en-US" sz="1500" dirty="0"/>
          </a:p>
        </p:txBody>
      </p:sp>
      <p:pic>
        <p:nvPicPr>
          <p:cNvPr id="6" name="Image 1" descr="/tmp/claude-0/-home-claude/e62a35b1-5075-553d-b086-acebfebc41ba/scratchpad/deck/w-dep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10607040" cy="26426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" y="5257800"/>
            <a:ext cx="10607040" cy="640080"/>
          </a:xfrm>
          <a:prstGeom prst="roundRect">
            <a:avLst>
              <a:gd name="adj" fmla="val 8571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097280" y="5257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“LinkedIn &amp; Social — 1 workflow, 0 running.” </a:t>
            </a:r>
            <a:pPr indent="0" marL="0"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Uncomfortable, true, and you did not have to admit it.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ON · THE LAST ONE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868680"/>
            <a:ext cx="868680" cy="868680"/>
          </a:xfrm>
          <a:prstGeom prst="ellipse">
            <a:avLst/>
          </a:prstGeom>
          <a:solidFill>
            <a:srgbClr val="7367F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868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86868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00"/>
              </a:lnSpc>
              <a:buNone/>
            </a:pPr>
            <a:r>
              <a:rPr lang="en-US" sz="32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Write down the thing that annoys you most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77240" y="2148840"/>
            <a:ext cx="10637215" cy="1143000"/>
          </a:xfrm>
          <a:prstGeom prst="roundRect">
            <a:avLst>
              <a:gd name="adj" fmla="val 4800"/>
            </a:avLst>
          </a:prstGeom>
          <a:solidFill>
            <a:srgbClr val="F0EEFC"/>
          </a:solidFill>
          <a:ln w="17780">
            <a:solidFill>
              <a:srgbClr val="C4BD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214884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050" spc="16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NOW   </a:t>
            </a:r>
            <a:pPr indent="0" marL="0">
              <a:lnSpc>
                <a:spcPts val="2600"/>
              </a:lnSpc>
              <a:buNone/>
            </a:pPr>
            <a:endParaRPr lang="en-US" sz="10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Say: let's write down how [the thing] actually happens today, including the parts that are a mess. Then answer its questions.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know it worked when 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workflow note exists with your steps in it — marked as a draft, and as not yet running.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4160520"/>
            <a:ext cx="5029200" cy="1965960"/>
          </a:xfrm>
          <a:prstGeom prst="roundRect">
            <a:avLst>
              <a:gd name="adj" fmla="val 2791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4348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BADLY ON PURPOSE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7274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 your most important process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5166360"/>
            <a:ext cx="4480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one that goes wrong most often. That is where an assistant earns its place, and it is the one you will actually check.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4160520"/>
            <a:ext cx="5029200" cy="1965960"/>
          </a:xfrm>
          <a:prstGeom prst="roundRect">
            <a:avLst>
              <a:gd name="adj" fmla="val 2791"/>
            </a:avLst>
          </a:prstGeom>
          <a:solidFill>
            <a:srgbClr val="F4F5F8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44348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36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MARKS, NOT ONE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7274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171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Written down is not working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5166360"/>
            <a:ext cx="4480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Is the note true? Only after you have walked one real case through it. Does it run end to end? Different question. They fail separately, so they are tracked separately.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1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YOU CAN TRUST IT IN A MONTH</a:t>
            </a:r>
            <a:endParaRPr lang="en-US" sz="1100" dirty="0"/>
          </a:p>
        </p:txBody>
      </p:sp>
      <p:pic>
        <p:nvPicPr>
          <p:cNvPr id="3" name="Image 0" descr="/tmp/claude-0/-home-claude/e62a35b1-5075-553d-b086-acebfebc41ba/scratchpad/brand/meshpro-emblem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0135" y="411480"/>
            <a:ext cx="384048" cy="374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86868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712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tells you when you are wrong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1031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hat with no assistant, and a workflow pointing at a hat that does not exist — a typo. Three seconds later: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2743200"/>
            <a:ext cx="10607040" cy="1783080"/>
          </a:xfrm>
          <a:prstGeom prst="roundRect">
            <a:avLst>
              <a:gd name="adj" fmla="val 3077"/>
            </a:avLst>
          </a:prstGeom>
          <a:solidFill>
            <a:srgbClr val="0E1016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2944368"/>
            <a:ext cx="9875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87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DC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department has exactly one executive who answers for it —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4BA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'Reporting' has no executive; every question about it lands back on you
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87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DC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workflow belongs somewhere — 'Posting on LinkedIn' belongs to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4BA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'LinkedIn and Socail', and there is no note by that name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892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error code, no line number. It names the note and says what it costs you. That is why the page is still true in a month.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E8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MONDAY MORNING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9951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to do with it next week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5798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15798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 the project, not a new chat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903720" y="215798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That is the whole habit. Everything else follows from it.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2666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02666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the hat you forgot today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302666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will think of it on Tuesday. One sentence.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9534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89534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Write down the second annoying thing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389534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a week is a transformed job by Christmas.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6402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67F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—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76402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Ask it what is waiting on you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476402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 Friday. It will tell you, and it will be right.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5806440"/>
            <a:ext cx="914400" cy="32004"/>
          </a:xfrm>
          <a:prstGeom prst="rect">
            <a:avLst/>
          </a:prstGeom>
          <a:solidFill>
            <a:srgbClr val="7367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D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is your folder, on your laptop. Nothing here phones home.</a:t>
            </a:r>
            <a:endParaRPr lang="en-US" sz="1350" dirty="0"/>
          </a:p>
        </p:txBody>
      </p:sp>
      <p:pic>
        <p:nvPicPr>
          <p:cNvPr id="18" name="Image 0" descr="/tmp/claude-0/-home-claude/e62a35b1-5075-553d-b086-acebfebc41ba/scratchpad/brand/meshpro-lockup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455" y="5870448"/>
            <a:ext cx="2286000" cy="576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MeshPro × Expectus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AI Second Brain — a hands-on hour</dc:title>
  <dc:subject>PptxGenJS Presentation</dc:subject>
  <dc:creator>MeshPro ehf.</dc:creator>
  <cp:lastModifiedBy>MeshPro ehf.</cp:lastModifiedBy>
  <cp:revision>1</cp:revision>
  <dcterms:created xsi:type="dcterms:W3CDTF">2026-09-22T14:45:07Z</dcterms:created>
  <dcterms:modified xsi:type="dcterms:W3CDTF">2026-09-22T14:45:07Z</dcterms:modified>
</cp:coreProperties>
</file>