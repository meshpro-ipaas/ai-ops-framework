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 minutes from an empty folder to an organisation that writes itself down. Nothing to install, nothing to type but plain sentences. I will show you the whole thing and then you will do it yourselves.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start with AI. Start with this. Everyone in the room recognises all three. The third one is the dangerous one, because it looks like it is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failure mode of every internal dashboard is that it drifts and people keep believing it. The check is the difference: it is a failure, not a warning.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are the whole product. Everything in the package is one of these four made mechanical. If someone only remembers one, make it the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lowers the shoulders in the room. Say the Python line out loud. Everything technical happens inside Claude, on their behalf, and the artefact left behind is text they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them through it on screen while this slide is up. The honest report at step four matters — it will tell them they have almost nothing yet, and that is the product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out. Then say: or anything that means the same. The point is that there is no syntax to get wrong — and if they are ever given some, that is a bug in how it was set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twelve-department instinct is universal — push back in the room. The not-owned list is the part everyone skips and the part that pays for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departments here is an example, not a prescription. Point at the Workflow Architect and explain that it owns how a workflow is written down, not what any department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marks are the most original idea in the package. Most process documentation collapses them and then flatters itself. Ask the room: how many of your written processes have actually been walked?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real thing on screen if the room is small enough. The emptiness is the point — it is not a demo vault stuffed with fake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Fourteen days is the number to read out. Nobody chased that decision because nobody could see it. Also worth saying: the same page shows Finance with two workflows and none of them running — uncomfortable, true, and counted rather than admitted.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moment that sells it. Everyone has been burned by documentation that quietly went wrong. Point out that it caught a typo — Delivry — by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Send them away with one instruction, not four: name your departments. Everything else in the package hangs off that and they can do it in ten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171F"/>
        </a:solidFill>
      </p:bgPr>
    </p:bg>
    <p:spTree>
      <p:nvGrpSpPr>
        <p:cNvPr id="1" name=""/>
        <p:cNvGrpSpPr/>
        <p:nvPr/>
      </p:nvGrpSpPr>
      <p:grpSpPr>
        <a:xfrm>
          <a:off x="0" y="0"/>
          <a:ext cx="0" cy="0"/>
          <a:chOff x="0" y="0"/>
          <a:chExt cx="0" cy="0"/>
        </a:xfrm>
      </p:grpSpPr>
      <p:pic>
        <p:nvPicPr>
          <p:cNvPr id="2" name="Image 0" descr="/tmp/claude-0/-home-claude/e62a35b1-5075-553d-b086-acebfebc41ba/scratchpad/brand/meshpro-lockup-navy.png">    </p:cNvPr>
          <p:cNvPicPr>
            <a:picLocks noChangeAspect="1"/>
          </p:cNvPicPr>
          <p:nvPr/>
        </p:nvPicPr>
        <p:blipFill>
          <a:blip r:embed="rId1"/>
          <a:stretch>
            <a:fillRect/>
          </a:stretch>
        </p:blipFill>
        <p:spPr>
          <a:xfrm>
            <a:off x="777240" y="731520"/>
            <a:ext cx="3108960" cy="786384"/>
          </a:xfrm>
          <a:prstGeom prst="rect">
            <a:avLst/>
          </a:prstGeom>
        </p:spPr>
      </p:pic>
      <p:sp>
        <p:nvSpPr>
          <p:cNvPr id="3" name="Text 0"/>
          <p:cNvSpPr txBox="1"/>
          <p:nvPr/>
        </p:nvSpPr>
        <p:spPr>
          <a:xfrm>
            <a:off x="777240" y="2194560"/>
            <a:ext cx="8595360" cy="2011680"/>
          </a:xfrm>
          <a:prstGeom prst="rect">
            <a:avLst/>
          </a:prstGeom>
          <a:noFill/>
          <a:ln/>
        </p:spPr>
        <p:txBody>
          <a:bodyPr wrap="square" lIns="0" tIns="0" rIns="0" bIns="0" rtlCol="0" anchor="ctr"/>
          <a:lstStyle/>
          <a:p>
            <a:pPr indent="0" marL="0">
              <a:lnSpc>
                <a:spcPts val="5100"/>
              </a:lnSpc>
              <a:buNone/>
            </a:pPr>
            <a:r>
              <a:rPr lang="en-US" sz="4400" b="1" dirty="0">
                <a:solidFill>
                  <a:srgbClr val="FFFFFF"/>
                </a:solidFill>
                <a:latin typeface="Public Sans" pitchFamily="34" charset="0"/>
                <a:ea typeface="Public Sans" pitchFamily="34" charset="-122"/>
                <a:cs typeface="Public Sans" pitchFamily="34" charset="-120"/>
              </a:rPr>
              <a:t>The AI Operations</a:t>
            </a:r>
            <a:endParaRPr lang="en-US" sz="4400" dirty="0"/>
          </a:p>
          <a:p>
            <a:pPr indent="0" marL="0">
              <a:lnSpc>
                <a:spcPts val="5100"/>
              </a:lnSpc>
              <a:buNone/>
            </a:pPr>
            <a:r>
              <a:rPr lang="en-US" sz="4400" b="1" dirty="0">
                <a:solidFill>
                  <a:srgbClr val="FFFFFF"/>
                </a:solidFill>
                <a:latin typeface="Public Sans" pitchFamily="34" charset="0"/>
                <a:ea typeface="Public Sans" pitchFamily="34" charset="-122"/>
                <a:cs typeface="Public Sans" pitchFamily="34" charset="-120"/>
              </a:rPr>
              <a:t>Framework</a:t>
            </a:r>
            <a:endParaRPr lang="en-US" sz="4400" dirty="0"/>
          </a:p>
        </p:txBody>
      </p:sp>
      <p:sp>
        <p:nvSpPr>
          <p:cNvPr id="4" name="Shape 1"/>
          <p:cNvSpPr/>
          <p:nvPr/>
        </p:nvSpPr>
        <p:spPr>
          <a:xfrm>
            <a:off x="777240" y="4343400"/>
            <a:ext cx="914400" cy="32004"/>
          </a:xfrm>
          <a:prstGeom prst="rect">
            <a:avLst/>
          </a:prstGeom>
          <a:solidFill>
            <a:srgbClr val="7367F0"/>
          </a:solidFill>
          <a:ln/>
        </p:spPr>
      </p:sp>
      <p:sp>
        <p:nvSpPr>
          <p:cNvPr id="5" name="Text 2"/>
          <p:cNvSpPr txBox="1"/>
          <p:nvPr/>
        </p:nvSpPr>
        <p:spPr>
          <a:xfrm>
            <a:off x="777240" y="4617720"/>
            <a:ext cx="7863840" cy="822960"/>
          </a:xfrm>
          <a:prstGeom prst="rect">
            <a:avLst/>
          </a:prstGeom>
          <a:noFill/>
          <a:ln/>
        </p:spPr>
        <p:txBody>
          <a:bodyPr wrap="square" lIns="0" tIns="0" rIns="0" bIns="0" rtlCol="0" anchor="ctr"/>
          <a:lstStyle/>
          <a:p>
            <a:pPr indent="0" marL="0">
              <a:lnSpc>
                <a:spcPts val="2500"/>
              </a:lnSpc>
              <a:buNone/>
            </a:pPr>
            <a:r>
              <a:rPr lang="en-US" sz="1700" dirty="0">
                <a:solidFill>
                  <a:srgbClr val="A8ADBA"/>
                </a:solidFill>
                <a:latin typeface="Public Sans" pitchFamily="34" charset="0"/>
                <a:ea typeface="Public Sans" pitchFamily="34" charset="-122"/>
                <a:cs typeface="Public Sans" pitchFamily="34" charset="-120"/>
              </a:rPr>
              <a:t>Give your company somewhere to live — and an executive layer that can actually work in it.</a:t>
            </a:r>
            <a:endParaRPr lang="en-US" sz="1700" dirty="0"/>
          </a:p>
        </p:txBody>
      </p:sp>
      <p:sp>
        <p:nvSpPr>
          <p:cNvPr id="6" name="Text 3"/>
          <p:cNvSpPr txBox="1"/>
          <p:nvPr/>
        </p:nvSpPr>
        <p:spPr>
          <a:xfrm>
            <a:off x="777240" y="5806440"/>
            <a:ext cx="5486400" cy="274320"/>
          </a:xfrm>
          <a:prstGeom prst="rect">
            <a:avLst/>
          </a:prstGeom>
          <a:noFill/>
          <a:ln/>
        </p:spPr>
        <p:txBody>
          <a:bodyPr wrap="square" lIns="0" tIns="0" rIns="0" bIns="0" rtlCol="0" anchor="ctr"/>
          <a:lstStyle/>
          <a:p>
            <a:pPr indent="0" marL="0">
              <a:buNone/>
            </a:pPr>
            <a:r>
              <a:rPr lang="en-US" sz="1100" spc="240" kern="0" dirty="0">
                <a:solidFill>
                  <a:srgbClr val="A59CFF"/>
                </a:solidFill>
                <a:latin typeface="Courier New" pitchFamily="34" charset="0"/>
                <a:ea typeface="Courier New" pitchFamily="34" charset="-122"/>
                <a:cs typeface="Courier New" pitchFamily="34" charset="-120"/>
              </a:rPr>
              <a:t>A STEP-BY-STEP START</a:t>
            </a:r>
            <a:endParaRPr lang="en-US" sz="1100" dirty="0"/>
          </a:p>
        </p:txBody>
      </p:sp>
      <p:sp>
        <p:nvSpPr>
          <p:cNvPr id="7" name="Text 4"/>
          <p:cNvSpPr txBox="1"/>
          <p:nvPr/>
        </p:nvSpPr>
        <p:spPr>
          <a:xfrm>
            <a:off x="777240" y="6291072"/>
            <a:ext cx="10637215" cy="274320"/>
          </a:xfrm>
          <a:prstGeom prst="rect">
            <a:avLst/>
          </a:prstGeom>
          <a:noFill/>
          <a:ln/>
        </p:spPr>
        <p:txBody>
          <a:bodyPr wrap="square" lIns="0" tIns="0" rIns="0" bIns="0" rtlCol="0" anchor="ctr"/>
          <a:lstStyle/>
          <a:p>
            <a:pPr indent="0" marL="0">
              <a:buNone/>
            </a:pPr>
            <a:r>
              <a:rPr lang="en-US" sz="950" spc="100" kern="0" dirty="0">
                <a:solidFill>
                  <a:srgbClr val="6E7482"/>
                </a:solidFill>
                <a:latin typeface="Courier New" pitchFamily="34" charset="0"/>
                <a:ea typeface="Courier New" pitchFamily="34" charset="-122"/>
                <a:cs typeface="Courier New" pitchFamily="34" charset="-120"/>
              </a:rPr>
              <a:t>MeshPro × Expectus</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420624"/>
            <a:ext cx="7315200" cy="274320"/>
          </a:xfrm>
          <a:prstGeom prst="rect">
            <a:avLst/>
          </a:prstGeom>
          <a:noFill/>
          <a:ln/>
        </p:spPr>
        <p:txBody>
          <a:bodyPr wrap="square" lIns="0" tIns="0" rIns="0" bIns="0" rtlCol="0" anchor="ctr"/>
          <a:lstStyle/>
          <a:p>
            <a:pPr indent="0" marL="0">
              <a:buNone/>
            </a:pPr>
            <a:r>
              <a:rPr lang="en-US" sz="1100" spc="200" kern="0" dirty="0">
                <a:solidFill>
                  <a:srgbClr val="7367F0"/>
                </a:solidFill>
                <a:latin typeface="Courier New" pitchFamily="34" charset="0"/>
                <a:ea typeface="Courier New" pitchFamily="34" charset="-122"/>
                <a:cs typeface="Courier New" pitchFamily="34" charset="-120"/>
              </a:rPr>
              <a:t>THE PROBLEM</a:t>
            </a:r>
            <a:endParaRPr lang="en-US" sz="1100" dirty="0"/>
          </a:p>
        </p:txBody>
      </p:sp>
      <p:pic>
        <p:nvPicPr>
          <p:cNvPr id="3" name="Image 0" descr="/tmp/claude-0/-home-claude/e62a35b1-5075-553d-b086-acebfebc41ba/scratchpad/brand/meshpro-emblem-white.png">    </p:cNvPr>
          <p:cNvPicPr>
            <a:picLocks noChangeAspect="1"/>
          </p:cNvPicPr>
          <p:nvPr/>
        </p:nvPicPr>
        <p:blipFill>
          <a:blip r:embed="rId1"/>
          <a:stretch>
            <a:fillRect/>
          </a:stretch>
        </p:blipFill>
        <p:spPr>
          <a:xfrm>
            <a:off x="11140135" y="411480"/>
            <a:ext cx="384048" cy="374904"/>
          </a:xfrm>
          <a:prstGeom prst="rect">
            <a:avLst/>
          </a:prstGeom>
        </p:spPr>
      </p:pic>
      <p:sp>
        <p:nvSpPr>
          <p:cNvPr id="4" name="Text 1"/>
          <p:cNvSpPr txBox="1"/>
          <p:nvPr/>
        </p:nvSpPr>
        <p:spPr>
          <a:xfrm>
            <a:off x="777240" y="868680"/>
            <a:ext cx="9951415" cy="914400"/>
          </a:xfrm>
          <a:prstGeom prst="rect">
            <a:avLst/>
          </a:prstGeom>
          <a:noFill/>
          <a:ln/>
        </p:spPr>
        <p:txBody>
          <a:bodyPr wrap="square" lIns="0" tIns="0" rIns="0" bIns="0" rtlCol="0" anchor="ctr"/>
          <a:lstStyle/>
          <a:p>
            <a:pPr indent="0" marL="0">
              <a:lnSpc>
                <a:spcPts val="3944"/>
              </a:lnSpc>
              <a:buNone/>
            </a:pPr>
            <a:r>
              <a:rPr lang="en-US" sz="3400" b="1" dirty="0">
                <a:solidFill>
                  <a:srgbClr val="15171F"/>
                </a:solidFill>
                <a:latin typeface="Public Sans" pitchFamily="34" charset="0"/>
                <a:ea typeface="Public Sans" pitchFamily="34" charset="-122"/>
                <a:cs typeface="Public Sans" pitchFamily="34" charset="-120"/>
              </a:rPr>
              <a:t>Where does your company actually live?</a:t>
            </a:r>
            <a:endParaRPr lang="en-US" sz="3400" dirty="0"/>
          </a:p>
        </p:txBody>
      </p:sp>
      <p:sp>
        <p:nvSpPr>
          <p:cNvPr id="5" name="Text 2"/>
          <p:cNvSpPr txBox="1"/>
          <p:nvPr/>
        </p:nvSpPr>
        <p:spPr>
          <a:xfrm>
            <a:off x="777240" y="1783080"/>
            <a:ext cx="10637215" cy="566928"/>
          </a:xfrm>
          <a:prstGeom prst="rect">
            <a:avLst/>
          </a:prstGeom>
          <a:noFill/>
          <a:ln/>
        </p:spPr>
        <p:txBody>
          <a:bodyPr wrap="square" lIns="0" tIns="0" rIns="0" bIns="0" rtlCol="0" anchor="ctr"/>
          <a:lstStyle/>
          <a:p>
            <a:pPr indent="0" marL="0">
              <a:lnSpc>
                <a:spcPts val="2100"/>
              </a:lnSpc>
              <a:buNone/>
            </a:pPr>
            <a:r>
              <a:rPr lang="en-US" sz="1500" dirty="0">
                <a:solidFill>
                  <a:srgbClr val="5B6270"/>
                </a:solidFill>
                <a:latin typeface="Public Sans" pitchFamily="34" charset="0"/>
                <a:ea typeface="Public Sans" pitchFamily="34" charset="-122"/>
                <a:cs typeface="Public Sans" pitchFamily="34" charset="-120"/>
              </a:rPr>
              <a:t>Ask two people in the same company the same question and you get two answers. Both of them are honest.</a:t>
            </a:r>
            <a:endParaRPr lang="en-US" sz="1500" dirty="0"/>
          </a:p>
        </p:txBody>
      </p:sp>
      <p:sp>
        <p:nvSpPr>
          <p:cNvPr id="6" name="Shape 3"/>
          <p:cNvSpPr/>
          <p:nvPr/>
        </p:nvSpPr>
        <p:spPr>
          <a:xfrm>
            <a:off x="777240" y="2697480"/>
            <a:ext cx="3291840" cy="2148840"/>
          </a:xfrm>
          <a:prstGeom prst="roundRect">
            <a:avLst>
              <a:gd name="adj" fmla="val 2553"/>
            </a:avLst>
          </a:prstGeom>
          <a:solidFill>
            <a:srgbClr val="F4F5F8"/>
          </a:solidFill>
          <a:ln w="12700">
            <a:solidFill>
              <a:srgbClr val="E4E6EC"/>
            </a:solidFill>
            <a:prstDash val="solid"/>
          </a:ln>
        </p:spPr>
      </p:sp>
      <p:sp>
        <p:nvSpPr>
          <p:cNvPr id="7" name="Text 4"/>
          <p:cNvSpPr txBox="1"/>
          <p:nvPr/>
        </p:nvSpPr>
        <p:spPr>
          <a:xfrm>
            <a:off x="1051560" y="2971800"/>
            <a:ext cx="2743200" cy="384048"/>
          </a:xfrm>
          <a:prstGeom prst="rect">
            <a:avLst/>
          </a:prstGeom>
          <a:noFill/>
          <a:ln/>
        </p:spPr>
        <p:txBody>
          <a:bodyPr wrap="square" lIns="0" tIns="0" rIns="0" bIns="0" rtlCol="0" anchor="ctr"/>
          <a:lstStyle/>
          <a:p>
            <a:pPr indent="0" marL="0">
              <a:lnSpc>
                <a:spcPts val="2040"/>
              </a:lnSpc>
              <a:buNone/>
            </a:pPr>
            <a:r>
              <a:rPr lang="en-US" sz="1700" b="1" dirty="0">
                <a:solidFill>
                  <a:srgbClr val="15171F"/>
                </a:solidFill>
                <a:latin typeface="Public Sans" pitchFamily="34" charset="0"/>
                <a:ea typeface="Public Sans" pitchFamily="34" charset="-122"/>
                <a:cs typeface="Public Sans" pitchFamily="34" charset="-120"/>
              </a:rPr>
              <a:t>In people's heads</a:t>
            </a:r>
            <a:endParaRPr lang="en-US" sz="1700" dirty="0"/>
          </a:p>
        </p:txBody>
      </p:sp>
      <p:sp>
        <p:nvSpPr>
          <p:cNvPr id="8" name="Text 5"/>
          <p:cNvSpPr txBox="1"/>
          <p:nvPr/>
        </p:nvSpPr>
        <p:spPr>
          <a:xfrm>
            <a:off x="1051560" y="3429000"/>
            <a:ext cx="2743200" cy="1197864"/>
          </a:xfrm>
          <a:prstGeom prst="rect">
            <a:avLst/>
          </a:prstGeom>
          <a:noFill/>
          <a:ln/>
        </p:spPr>
        <p:txBody>
          <a:bodyPr wrap="square" lIns="0" tIns="0" rIns="0" bIns="0" rtlCol="0" anchor="t"/>
          <a:lstStyle/>
          <a:p>
            <a:pPr indent="0" marL="0">
              <a:lnSpc>
                <a:spcPts val="1846"/>
              </a:lnSpc>
              <a:buNone/>
            </a:pPr>
            <a:r>
              <a:rPr lang="en-US" sz="1300" dirty="0">
                <a:solidFill>
                  <a:srgbClr val="5B6270"/>
                </a:solidFill>
                <a:latin typeface="Public Sans" pitchFamily="34" charset="0"/>
                <a:ea typeface="Public Sans" pitchFamily="34" charset="-122"/>
                <a:cs typeface="Public Sans" pitchFamily="34" charset="-120"/>
              </a:rPr>
              <a:t>The person who knows how it works is on holiday, and the work stops until Tuesday.</a:t>
            </a:r>
            <a:endParaRPr lang="en-US" sz="1300" dirty="0"/>
          </a:p>
        </p:txBody>
      </p:sp>
      <p:sp>
        <p:nvSpPr>
          <p:cNvPr id="9" name="Shape 6"/>
          <p:cNvSpPr/>
          <p:nvPr/>
        </p:nvSpPr>
        <p:spPr>
          <a:xfrm>
            <a:off x="4434840" y="2697480"/>
            <a:ext cx="3291840" cy="2148840"/>
          </a:xfrm>
          <a:prstGeom prst="roundRect">
            <a:avLst>
              <a:gd name="adj" fmla="val 2553"/>
            </a:avLst>
          </a:prstGeom>
          <a:solidFill>
            <a:srgbClr val="F4F5F8"/>
          </a:solidFill>
          <a:ln w="12700">
            <a:solidFill>
              <a:srgbClr val="E4E6EC"/>
            </a:solidFill>
            <a:prstDash val="solid"/>
          </a:ln>
        </p:spPr>
      </p:sp>
      <p:sp>
        <p:nvSpPr>
          <p:cNvPr id="10" name="Text 7"/>
          <p:cNvSpPr txBox="1"/>
          <p:nvPr/>
        </p:nvSpPr>
        <p:spPr>
          <a:xfrm>
            <a:off x="4709160" y="2971800"/>
            <a:ext cx="2743200" cy="384048"/>
          </a:xfrm>
          <a:prstGeom prst="rect">
            <a:avLst/>
          </a:prstGeom>
          <a:noFill/>
          <a:ln/>
        </p:spPr>
        <p:txBody>
          <a:bodyPr wrap="square" lIns="0" tIns="0" rIns="0" bIns="0" rtlCol="0" anchor="ctr"/>
          <a:lstStyle/>
          <a:p>
            <a:pPr indent="0" marL="0">
              <a:lnSpc>
                <a:spcPts val="2040"/>
              </a:lnSpc>
              <a:buNone/>
            </a:pPr>
            <a:r>
              <a:rPr lang="en-US" sz="1700" b="1" dirty="0">
                <a:solidFill>
                  <a:srgbClr val="15171F"/>
                </a:solidFill>
                <a:latin typeface="Public Sans" pitchFamily="34" charset="0"/>
                <a:ea typeface="Public Sans" pitchFamily="34" charset="-122"/>
                <a:cs typeface="Public Sans" pitchFamily="34" charset="-120"/>
              </a:rPr>
              <a:t>In a thread somewhere</a:t>
            </a:r>
            <a:endParaRPr lang="en-US" sz="1700" dirty="0"/>
          </a:p>
        </p:txBody>
      </p:sp>
      <p:sp>
        <p:nvSpPr>
          <p:cNvPr id="11" name="Text 8"/>
          <p:cNvSpPr txBox="1"/>
          <p:nvPr/>
        </p:nvSpPr>
        <p:spPr>
          <a:xfrm>
            <a:off x="4709160" y="3429000"/>
            <a:ext cx="2743200" cy="1197864"/>
          </a:xfrm>
          <a:prstGeom prst="rect">
            <a:avLst/>
          </a:prstGeom>
          <a:noFill/>
          <a:ln/>
        </p:spPr>
        <p:txBody>
          <a:bodyPr wrap="square" lIns="0" tIns="0" rIns="0" bIns="0" rtlCol="0" anchor="t"/>
          <a:lstStyle/>
          <a:p>
            <a:pPr indent="0" marL="0">
              <a:lnSpc>
                <a:spcPts val="1846"/>
              </a:lnSpc>
              <a:buNone/>
            </a:pPr>
            <a:r>
              <a:rPr lang="en-US" sz="1300" dirty="0">
                <a:solidFill>
                  <a:srgbClr val="5B6270"/>
                </a:solidFill>
                <a:latin typeface="Public Sans" pitchFamily="34" charset="0"/>
                <a:ea typeface="Public Sans" pitchFamily="34" charset="-122"/>
                <a:cs typeface="Public Sans" pitchFamily="34" charset="-120"/>
              </a:rPr>
              <a:t>It was decided. Nobody can find where, so it gets decided again, differently.</a:t>
            </a:r>
            <a:endParaRPr lang="en-US" sz="1300" dirty="0"/>
          </a:p>
        </p:txBody>
      </p:sp>
      <p:sp>
        <p:nvSpPr>
          <p:cNvPr id="12" name="Shape 9"/>
          <p:cNvSpPr/>
          <p:nvPr/>
        </p:nvSpPr>
        <p:spPr>
          <a:xfrm>
            <a:off x="8092440" y="2697480"/>
            <a:ext cx="3291840" cy="2148840"/>
          </a:xfrm>
          <a:prstGeom prst="roundRect">
            <a:avLst>
              <a:gd name="adj" fmla="val 2553"/>
            </a:avLst>
          </a:prstGeom>
          <a:solidFill>
            <a:srgbClr val="F4F5F8"/>
          </a:solidFill>
          <a:ln w="12700">
            <a:solidFill>
              <a:srgbClr val="E4E6EC"/>
            </a:solidFill>
            <a:prstDash val="solid"/>
          </a:ln>
        </p:spPr>
      </p:sp>
      <p:sp>
        <p:nvSpPr>
          <p:cNvPr id="13" name="Text 10"/>
          <p:cNvSpPr txBox="1"/>
          <p:nvPr/>
        </p:nvSpPr>
        <p:spPr>
          <a:xfrm>
            <a:off x="8366760" y="2971800"/>
            <a:ext cx="2743200" cy="384048"/>
          </a:xfrm>
          <a:prstGeom prst="rect">
            <a:avLst/>
          </a:prstGeom>
          <a:noFill/>
          <a:ln/>
        </p:spPr>
        <p:txBody>
          <a:bodyPr wrap="square" lIns="0" tIns="0" rIns="0" bIns="0" rtlCol="0" anchor="ctr"/>
          <a:lstStyle/>
          <a:p>
            <a:pPr indent="0" marL="0">
              <a:lnSpc>
                <a:spcPts val="2040"/>
              </a:lnSpc>
              <a:buNone/>
            </a:pPr>
            <a:r>
              <a:rPr lang="en-US" sz="1700" b="1" dirty="0">
                <a:solidFill>
                  <a:srgbClr val="15171F"/>
                </a:solidFill>
                <a:latin typeface="Public Sans" pitchFamily="34" charset="0"/>
                <a:ea typeface="Public Sans" pitchFamily="34" charset="-122"/>
                <a:cs typeface="Public Sans" pitchFamily="34" charset="-120"/>
              </a:rPr>
              <a:t>In one spreadsheet</a:t>
            </a:r>
            <a:endParaRPr lang="en-US" sz="1700" dirty="0"/>
          </a:p>
        </p:txBody>
      </p:sp>
      <p:sp>
        <p:nvSpPr>
          <p:cNvPr id="14" name="Text 11"/>
          <p:cNvSpPr txBox="1"/>
          <p:nvPr/>
        </p:nvSpPr>
        <p:spPr>
          <a:xfrm>
            <a:off x="8366760" y="3429000"/>
            <a:ext cx="2743200" cy="1197864"/>
          </a:xfrm>
          <a:prstGeom prst="rect">
            <a:avLst/>
          </a:prstGeom>
          <a:noFill/>
          <a:ln/>
        </p:spPr>
        <p:txBody>
          <a:bodyPr wrap="square" lIns="0" tIns="0" rIns="0" bIns="0" rtlCol="0" anchor="t"/>
          <a:lstStyle/>
          <a:p>
            <a:pPr indent="0" marL="0">
              <a:lnSpc>
                <a:spcPts val="1846"/>
              </a:lnSpc>
              <a:buNone/>
            </a:pPr>
            <a:r>
              <a:rPr lang="en-US" sz="1300" dirty="0">
                <a:solidFill>
                  <a:srgbClr val="5B6270"/>
                </a:solidFill>
                <a:latin typeface="Public Sans" pitchFamily="34" charset="0"/>
                <a:ea typeface="Public Sans" pitchFamily="34" charset="-122"/>
                <a:cs typeface="Public Sans" pitchFamily="34" charset="-120"/>
              </a:rPr>
              <a:t>It is accurate. One person can open it, and they are the bottleneck for everything.</a:t>
            </a:r>
            <a:endParaRPr lang="en-US" sz="1300" dirty="0"/>
          </a:p>
        </p:txBody>
      </p:sp>
      <p:sp>
        <p:nvSpPr>
          <p:cNvPr id="15" name="Text 12"/>
          <p:cNvSpPr txBox="1"/>
          <p:nvPr/>
        </p:nvSpPr>
        <p:spPr>
          <a:xfrm>
            <a:off x="777240" y="5166360"/>
            <a:ext cx="10607040" cy="457200"/>
          </a:xfrm>
          <a:prstGeom prst="rect">
            <a:avLst/>
          </a:prstGeom>
          <a:noFill/>
          <a:ln/>
        </p:spPr>
        <p:txBody>
          <a:bodyPr wrap="square" lIns="0" tIns="0" rIns="0" bIns="0" rtlCol="0" anchor="ctr"/>
          <a:lstStyle/>
          <a:p>
            <a:pPr indent="0" marL="0">
              <a:buNone/>
            </a:pPr>
            <a:r>
              <a:rPr lang="en-US" sz="1550" b="1" dirty="0">
                <a:solidFill>
                  <a:srgbClr val="15171F"/>
                </a:solidFill>
                <a:latin typeface="Public Sans" pitchFamily="34" charset="0"/>
                <a:ea typeface="Public Sans" pitchFamily="34" charset="-122"/>
                <a:cs typeface="Public Sans" pitchFamily="34" charset="-120"/>
              </a:rPr>
              <a:t>None of this is a discipline problem. </a:t>
            </a:r>
            <a:pPr indent="0" marL="0">
              <a:buNone/>
            </a:pPr>
            <a:r>
              <a:rPr lang="en-US" sz="1550" dirty="0">
                <a:solidFill>
                  <a:srgbClr val="5B6270"/>
                </a:solidFill>
                <a:latin typeface="Public Sans" pitchFamily="34" charset="0"/>
                <a:ea typeface="Public Sans" pitchFamily="34" charset="-122"/>
                <a:cs typeface="Public Sans" pitchFamily="34" charset="-120"/>
              </a:rPr>
              <a:t>There is simply nowhere for the answer to live, so it lives in whoever last dealt with it.</a:t>
            </a:r>
            <a:endParaRPr lang="en-US" sz="1550" dirty="0"/>
          </a:p>
        </p:txBody>
      </p:sp>
      <p:sp>
        <p:nvSpPr>
          <p:cNvPr id="16" name="Text 13"/>
          <p:cNvSpPr txBox="1"/>
          <p:nvPr/>
        </p:nvSpPr>
        <p:spPr>
          <a:xfrm>
            <a:off x="777240" y="6291072"/>
            <a:ext cx="10637215" cy="274320"/>
          </a:xfrm>
          <a:prstGeom prst="rect">
            <a:avLst/>
          </a:prstGeom>
          <a:noFill/>
          <a:ln/>
        </p:spPr>
        <p:txBody>
          <a:bodyPr wrap="square" lIns="0" tIns="0" rIns="0" bIns="0" rtlCol="0" anchor="ctr"/>
          <a:lstStyle/>
          <a:p>
            <a:pPr indent="0" marL="0">
              <a:buNone/>
            </a:pPr>
            <a:r>
              <a:rPr lang="en-US" sz="950" spc="100" kern="0" dirty="0">
                <a:solidFill>
                  <a:srgbClr val="9198A6"/>
                </a:solidFill>
                <a:latin typeface="Courier New" pitchFamily="34" charset="0"/>
                <a:ea typeface="Courier New" pitchFamily="34" charset="-122"/>
                <a:cs typeface="Courier New" pitchFamily="34" charset="-120"/>
              </a:rPr>
              <a:t>02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5171F"/>
        </a:solidFill>
      </p:bgPr>
    </p:bg>
    <p:spTree>
      <p:nvGrpSpPr>
        <p:cNvPr id="1" name=""/>
        <p:cNvGrpSpPr/>
        <p:nvPr/>
      </p:nvGrpSpPr>
      <p:grpSpPr>
        <a:xfrm>
          <a:off x="0" y="0"/>
          <a:ext cx="0" cy="0"/>
          <a:chOff x="0" y="0"/>
          <a:chExt cx="0" cy="0"/>
        </a:xfrm>
      </p:grpSpPr>
      <p:sp>
        <p:nvSpPr>
          <p:cNvPr id="2" name="Text 0"/>
          <p:cNvSpPr txBox="1"/>
          <p:nvPr/>
        </p:nvSpPr>
        <p:spPr>
          <a:xfrm>
            <a:off x="777240" y="420624"/>
            <a:ext cx="7315200" cy="274320"/>
          </a:xfrm>
          <a:prstGeom prst="rect">
            <a:avLst/>
          </a:prstGeom>
          <a:noFill/>
          <a:ln/>
        </p:spPr>
        <p:txBody>
          <a:bodyPr wrap="square" lIns="0" tIns="0" rIns="0" bIns="0" rtlCol="0" anchor="ctr"/>
          <a:lstStyle/>
          <a:p>
            <a:pPr indent="0" marL="0">
              <a:buNone/>
            </a:pPr>
            <a:r>
              <a:rPr lang="en-US" sz="1100" spc="200" kern="0" dirty="0">
                <a:solidFill>
                  <a:srgbClr val="A59CFF"/>
                </a:solidFill>
                <a:latin typeface="Courier New" pitchFamily="34" charset="0"/>
                <a:ea typeface="Courier New" pitchFamily="34" charset="-122"/>
                <a:cs typeface="Courier New" pitchFamily="34" charset="-120"/>
              </a:rPr>
              <a:t>WHAT YOU GET</a:t>
            </a:r>
            <a:endParaRPr lang="en-US" sz="1100" dirty="0"/>
          </a:p>
        </p:txBody>
      </p:sp>
      <p:pic>
        <p:nvPicPr>
          <p:cNvPr id="3" name="Image 0" descr="/tmp/claude-0/-home-claude/e62a35b1-5075-553d-b086-acebfebc41ba/scratchpad/brand/meshpro-emblem-navy.png">    </p:cNvPr>
          <p:cNvPicPr>
            <a:picLocks noChangeAspect="1"/>
          </p:cNvPicPr>
          <p:nvPr/>
        </p:nvPicPr>
        <p:blipFill>
          <a:blip r:embed="rId1"/>
          <a:stretch>
            <a:fillRect/>
          </a:stretch>
        </p:blipFill>
        <p:spPr>
          <a:xfrm>
            <a:off x="11140135" y="411480"/>
            <a:ext cx="384048" cy="374904"/>
          </a:xfrm>
          <a:prstGeom prst="rect">
            <a:avLst/>
          </a:prstGeom>
        </p:spPr>
      </p:pic>
      <p:sp>
        <p:nvSpPr>
          <p:cNvPr id="4" name="Text 1"/>
          <p:cNvSpPr txBox="1"/>
          <p:nvPr/>
        </p:nvSpPr>
        <p:spPr>
          <a:xfrm>
            <a:off x="777240" y="868680"/>
            <a:ext cx="9951415" cy="914400"/>
          </a:xfrm>
          <a:prstGeom prst="rect">
            <a:avLst/>
          </a:prstGeom>
          <a:noFill/>
          <a:ln/>
        </p:spPr>
        <p:txBody>
          <a:bodyPr wrap="square" lIns="0" tIns="0" rIns="0" bIns="0" rtlCol="0" anchor="ctr"/>
          <a:lstStyle/>
          <a:p>
            <a:pPr indent="0" marL="0">
              <a:lnSpc>
                <a:spcPts val="3712"/>
              </a:lnSpc>
              <a:buNone/>
            </a:pPr>
            <a:r>
              <a:rPr lang="en-US" sz="3200" b="1" dirty="0">
                <a:solidFill>
                  <a:srgbClr val="FFFFFF"/>
                </a:solidFill>
                <a:latin typeface="Public Sans" pitchFamily="34" charset="0"/>
                <a:ea typeface="Public Sans" pitchFamily="34" charset="-122"/>
                <a:cs typeface="Public Sans" pitchFamily="34" charset="-120"/>
              </a:rPr>
              <a:t>One page that cannot tell you</a:t>
            </a:r>
            <a:endParaRPr lang="en-US" sz="3200" dirty="0"/>
          </a:p>
          <a:p>
            <a:pPr indent="0" marL="0">
              <a:lnSpc>
                <a:spcPts val="3712"/>
              </a:lnSpc>
              <a:buNone/>
            </a:pPr>
            <a:r>
              <a:rPr lang="en-US" sz="3200" b="1" dirty="0">
                <a:solidFill>
                  <a:srgbClr val="FFFFFF"/>
                </a:solidFill>
                <a:latin typeface="Public Sans" pitchFamily="34" charset="0"/>
                <a:ea typeface="Public Sans" pitchFamily="34" charset="-122"/>
                <a:cs typeface="Public Sans" pitchFamily="34" charset="-120"/>
              </a:rPr>
              <a:t>something untrue</a:t>
            </a:r>
            <a:endParaRPr lang="en-US" sz="3200" dirty="0"/>
          </a:p>
        </p:txBody>
      </p:sp>
      <p:sp>
        <p:nvSpPr>
          <p:cNvPr id="5" name="Text 2"/>
          <p:cNvSpPr txBox="1"/>
          <p:nvPr/>
        </p:nvSpPr>
        <p:spPr>
          <a:xfrm>
            <a:off x="777240" y="2148840"/>
            <a:ext cx="10637215" cy="566928"/>
          </a:xfrm>
          <a:prstGeom prst="rect">
            <a:avLst/>
          </a:prstGeom>
          <a:noFill/>
          <a:ln/>
        </p:spPr>
        <p:txBody>
          <a:bodyPr wrap="square" lIns="0" tIns="0" rIns="0" bIns="0" rtlCol="0" anchor="ctr"/>
          <a:lstStyle/>
          <a:p>
            <a:pPr indent="0" marL="0">
              <a:lnSpc>
                <a:spcPts val="2100"/>
              </a:lnSpc>
              <a:buNone/>
            </a:pPr>
            <a:r>
              <a:rPr lang="en-US" sz="1500" dirty="0">
                <a:solidFill>
                  <a:srgbClr val="A8ADBA"/>
                </a:solidFill>
                <a:latin typeface="Public Sans" pitchFamily="34" charset="0"/>
                <a:ea typeface="Public Sans" pitchFamily="34" charset="-122"/>
                <a:cs typeface="Public Sans" pitchFamily="34" charset="-120"/>
              </a:rPr>
              <a:t>Not a dashboard somebody keeps up to date. A page rebuilt from your own notes every time, by a machine that fails rather than guesses.</a:t>
            </a:r>
            <a:endParaRPr lang="en-US" sz="1500" dirty="0"/>
          </a:p>
        </p:txBody>
      </p:sp>
      <p:sp>
        <p:nvSpPr>
          <p:cNvPr id="6" name="Shape 3"/>
          <p:cNvSpPr/>
          <p:nvPr/>
        </p:nvSpPr>
        <p:spPr>
          <a:xfrm>
            <a:off x="777240" y="3063240"/>
            <a:ext cx="3291840" cy="2514600"/>
          </a:xfrm>
          <a:prstGeom prst="roundRect">
            <a:avLst>
              <a:gd name="adj" fmla="val 2182"/>
            </a:avLst>
          </a:prstGeom>
          <a:solidFill>
            <a:srgbClr val="1B1D29"/>
          </a:solidFill>
          <a:ln w="12700">
            <a:solidFill>
              <a:srgbClr val="2B2E3C"/>
            </a:solidFill>
            <a:prstDash val="solid"/>
          </a:ln>
        </p:spPr>
      </p:sp>
      <p:sp>
        <p:nvSpPr>
          <p:cNvPr id="7" name="Shape 4"/>
          <p:cNvSpPr/>
          <p:nvPr/>
        </p:nvSpPr>
        <p:spPr>
          <a:xfrm>
            <a:off x="1051560" y="3337560"/>
            <a:ext cx="420624" cy="420624"/>
          </a:xfrm>
          <a:prstGeom prst="ellipse">
            <a:avLst/>
          </a:prstGeom>
          <a:solidFill>
            <a:srgbClr val="7367F0"/>
          </a:solidFill>
          <a:ln/>
        </p:spPr>
      </p:sp>
      <p:sp>
        <p:nvSpPr>
          <p:cNvPr id="8" name="Text 5"/>
          <p:cNvSpPr txBox="1"/>
          <p:nvPr/>
        </p:nvSpPr>
        <p:spPr>
          <a:xfrm>
            <a:off x="1051560" y="33375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Public Sans" pitchFamily="34" charset="0"/>
                <a:ea typeface="Public Sans" pitchFamily="34" charset="-122"/>
                <a:cs typeface="Public Sans" pitchFamily="34" charset="-120"/>
              </a:rPr>
              <a:t>1</a:t>
            </a:r>
            <a:endParaRPr lang="en-US" sz="1500" dirty="0"/>
          </a:p>
        </p:txBody>
      </p:sp>
      <p:sp>
        <p:nvSpPr>
          <p:cNvPr id="9" name="Text 6"/>
          <p:cNvSpPr txBox="1"/>
          <p:nvPr/>
        </p:nvSpPr>
        <p:spPr>
          <a:xfrm>
            <a:off x="1051560" y="3959352"/>
            <a:ext cx="2743200" cy="384048"/>
          </a:xfrm>
          <a:prstGeom prst="rect">
            <a:avLst/>
          </a:prstGeom>
          <a:noFill/>
          <a:ln/>
        </p:spPr>
        <p:txBody>
          <a:bodyPr wrap="square" lIns="0" tIns="0" rIns="0" bIns="0" rtlCol="0" anchor="ctr"/>
          <a:lstStyle/>
          <a:p>
            <a:pPr indent="0" marL="0">
              <a:lnSpc>
                <a:spcPts val="2040"/>
              </a:lnSpc>
              <a:buNone/>
            </a:pPr>
            <a:r>
              <a:rPr lang="en-US" sz="1700" b="1" dirty="0">
                <a:solidFill>
                  <a:srgbClr val="FFFFFF"/>
                </a:solidFill>
                <a:latin typeface="Public Sans" pitchFamily="34" charset="0"/>
                <a:ea typeface="Public Sans" pitchFamily="34" charset="-122"/>
                <a:cs typeface="Public Sans" pitchFamily="34" charset="-120"/>
              </a:rPr>
              <a:t>It is generated</a:t>
            </a:r>
            <a:endParaRPr lang="en-US" sz="1700" dirty="0"/>
          </a:p>
        </p:txBody>
      </p:sp>
      <p:sp>
        <p:nvSpPr>
          <p:cNvPr id="10" name="Text 7"/>
          <p:cNvSpPr txBox="1"/>
          <p:nvPr/>
        </p:nvSpPr>
        <p:spPr>
          <a:xfrm>
            <a:off x="1051560" y="4416552"/>
            <a:ext cx="2743200" cy="941832"/>
          </a:xfrm>
          <a:prstGeom prst="rect">
            <a:avLst/>
          </a:prstGeom>
          <a:noFill/>
          <a:ln/>
        </p:spPr>
        <p:txBody>
          <a:bodyPr wrap="square" lIns="0" tIns="0" rIns="0" bIns="0" rtlCol="0" anchor="t"/>
          <a:lstStyle/>
          <a:p>
            <a:pPr indent="0" marL="0">
              <a:lnSpc>
                <a:spcPts val="1775"/>
              </a:lnSpc>
              <a:buNone/>
            </a:pPr>
            <a:r>
              <a:rPr lang="en-US" sz="1250" dirty="0">
                <a:solidFill>
                  <a:srgbClr val="A8ADBA"/>
                </a:solidFill>
                <a:latin typeface="Public Sans" pitchFamily="34" charset="0"/>
                <a:ea typeface="Public Sans" pitchFamily="34" charset="-122"/>
                <a:cs typeface="Public Sans" pitchFamily="34" charset="-120"/>
              </a:rPr>
              <a:t>Nobody maintains it. It is rebuilt from the notes, so it cannot quietly go stale while everyone still trusts it.</a:t>
            </a:r>
            <a:endParaRPr lang="en-US" sz="1250" dirty="0"/>
          </a:p>
        </p:txBody>
      </p:sp>
      <p:sp>
        <p:nvSpPr>
          <p:cNvPr id="11" name="Shape 8"/>
          <p:cNvSpPr/>
          <p:nvPr/>
        </p:nvSpPr>
        <p:spPr>
          <a:xfrm>
            <a:off x="4434840" y="3063240"/>
            <a:ext cx="3291840" cy="2514600"/>
          </a:xfrm>
          <a:prstGeom prst="roundRect">
            <a:avLst>
              <a:gd name="adj" fmla="val 2182"/>
            </a:avLst>
          </a:prstGeom>
          <a:solidFill>
            <a:srgbClr val="1B1D29"/>
          </a:solidFill>
          <a:ln w="12700">
            <a:solidFill>
              <a:srgbClr val="2B2E3C"/>
            </a:solidFill>
            <a:prstDash val="solid"/>
          </a:ln>
        </p:spPr>
      </p:sp>
      <p:sp>
        <p:nvSpPr>
          <p:cNvPr id="12" name="Shape 9"/>
          <p:cNvSpPr/>
          <p:nvPr/>
        </p:nvSpPr>
        <p:spPr>
          <a:xfrm>
            <a:off x="4709160" y="3337560"/>
            <a:ext cx="420624" cy="420624"/>
          </a:xfrm>
          <a:prstGeom prst="ellipse">
            <a:avLst/>
          </a:prstGeom>
          <a:solidFill>
            <a:srgbClr val="7367F0"/>
          </a:solidFill>
          <a:ln/>
        </p:spPr>
      </p:sp>
      <p:sp>
        <p:nvSpPr>
          <p:cNvPr id="13" name="Text 10"/>
          <p:cNvSpPr txBox="1"/>
          <p:nvPr/>
        </p:nvSpPr>
        <p:spPr>
          <a:xfrm>
            <a:off x="4709160" y="33375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Public Sans" pitchFamily="34" charset="0"/>
                <a:ea typeface="Public Sans" pitchFamily="34" charset="-122"/>
                <a:cs typeface="Public Sans" pitchFamily="34" charset="-120"/>
              </a:rPr>
              <a:t>2</a:t>
            </a:r>
            <a:endParaRPr lang="en-US" sz="1500" dirty="0"/>
          </a:p>
        </p:txBody>
      </p:sp>
      <p:sp>
        <p:nvSpPr>
          <p:cNvPr id="14" name="Text 11"/>
          <p:cNvSpPr txBox="1"/>
          <p:nvPr/>
        </p:nvSpPr>
        <p:spPr>
          <a:xfrm>
            <a:off x="4709160" y="3959352"/>
            <a:ext cx="2743200" cy="384048"/>
          </a:xfrm>
          <a:prstGeom prst="rect">
            <a:avLst/>
          </a:prstGeom>
          <a:noFill/>
          <a:ln/>
        </p:spPr>
        <p:txBody>
          <a:bodyPr wrap="square" lIns="0" tIns="0" rIns="0" bIns="0" rtlCol="0" anchor="ctr"/>
          <a:lstStyle/>
          <a:p>
            <a:pPr indent="0" marL="0">
              <a:lnSpc>
                <a:spcPts val="2040"/>
              </a:lnSpc>
              <a:buNone/>
            </a:pPr>
            <a:r>
              <a:rPr lang="en-US" sz="1700" b="1" dirty="0">
                <a:solidFill>
                  <a:srgbClr val="FFFFFF"/>
                </a:solidFill>
                <a:latin typeface="Public Sans" pitchFamily="34" charset="0"/>
                <a:ea typeface="Public Sans" pitchFamily="34" charset="-122"/>
                <a:cs typeface="Public Sans" pitchFamily="34" charset="-120"/>
              </a:rPr>
              <a:t>It is checked</a:t>
            </a:r>
            <a:endParaRPr lang="en-US" sz="1700" dirty="0"/>
          </a:p>
        </p:txBody>
      </p:sp>
      <p:sp>
        <p:nvSpPr>
          <p:cNvPr id="15" name="Text 12"/>
          <p:cNvSpPr txBox="1"/>
          <p:nvPr/>
        </p:nvSpPr>
        <p:spPr>
          <a:xfrm>
            <a:off x="4709160" y="4416552"/>
            <a:ext cx="2743200" cy="941832"/>
          </a:xfrm>
          <a:prstGeom prst="rect">
            <a:avLst/>
          </a:prstGeom>
          <a:noFill/>
          <a:ln/>
        </p:spPr>
        <p:txBody>
          <a:bodyPr wrap="square" lIns="0" tIns="0" rIns="0" bIns="0" rtlCol="0" anchor="t"/>
          <a:lstStyle/>
          <a:p>
            <a:pPr indent="0" marL="0">
              <a:lnSpc>
                <a:spcPts val="1775"/>
              </a:lnSpc>
              <a:buNone/>
            </a:pPr>
            <a:r>
              <a:rPr lang="en-US" sz="1250" dirty="0">
                <a:solidFill>
                  <a:srgbClr val="A8ADBA"/>
                </a:solidFill>
                <a:latin typeface="Public Sans" pitchFamily="34" charset="0"/>
                <a:ea typeface="Public Sans" pitchFamily="34" charset="-122"/>
                <a:cs typeface="Public Sans" pitchFamily="34" charset="-120"/>
              </a:rPr>
              <a:t>Thirteen checks run over it. If the page would say nine and there are seven, the build fails.</a:t>
            </a:r>
            <a:endParaRPr lang="en-US" sz="1250" dirty="0"/>
          </a:p>
        </p:txBody>
      </p:sp>
      <p:sp>
        <p:nvSpPr>
          <p:cNvPr id="16" name="Shape 13"/>
          <p:cNvSpPr/>
          <p:nvPr/>
        </p:nvSpPr>
        <p:spPr>
          <a:xfrm>
            <a:off x="8092440" y="3063240"/>
            <a:ext cx="3291840" cy="2514600"/>
          </a:xfrm>
          <a:prstGeom prst="roundRect">
            <a:avLst>
              <a:gd name="adj" fmla="val 2182"/>
            </a:avLst>
          </a:prstGeom>
          <a:solidFill>
            <a:srgbClr val="1B1D29"/>
          </a:solidFill>
          <a:ln w="12700">
            <a:solidFill>
              <a:srgbClr val="2B2E3C"/>
            </a:solidFill>
            <a:prstDash val="solid"/>
          </a:ln>
        </p:spPr>
      </p:sp>
      <p:sp>
        <p:nvSpPr>
          <p:cNvPr id="17" name="Shape 14"/>
          <p:cNvSpPr/>
          <p:nvPr/>
        </p:nvSpPr>
        <p:spPr>
          <a:xfrm>
            <a:off x="8366760" y="3337560"/>
            <a:ext cx="420624" cy="420624"/>
          </a:xfrm>
          <a:prstGeom prst="ellipse">
            <a:avLst/>
          </a:prstGeom>
          <a:solidFill>
            <a:srgbClr val="7367F0"/>
          </a:solidFill>
          <a:ln/>
        </p:spPr>
      </p:sp>
      <p:sp>
        <p:nvSpPr>
          <p:cNvPr id="18" name="Text 15"/>
          <p:cNvSpPr txBox="1"/>
          <p:nvPr/>
        </p:nvSpPr>
        <p:spPr>
          <a:xfrm>
            <a:off x="8366760" y="33375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Public Sans" pitchFamily="34" charset="0"/>
                <a:ea typeface="Public Sans" pitchFamily="34" charset="-122"/>
                <a:cs typeface="Public Sans" pitchFamily="34" charset="-120"/>
              </a:rPr>
              <a:t>3</a:t>
            </a:r>
            <a:endParaRPr lang="en-US" sz="1500" dirty="0"/>
          </a:p>
        </p:txBody>
      </p:sp>
      <p:sp>
        <p:nvSpPr>
          <p:cNvPr id="19" name="Text 16"/>
          <p:cNvSpPr txBox="1"/>
          <p:nvPr/>
        </p:nvSpPr>
        <p:spPr>
          <a:xfrm>
            <a:off x="8366760" y="3959352"/>
            <a:ext cx="2743200" cy="384048"/>
          </a:xfrm>
          <a:prstGeom prst="rect">
            <a:avLst/>
          </a:prstGeom>
          <a:noFill/>
          <a:ln/>
        </p:spPr>
        <p:txBody>
          <a:bodyPr wrap="square" lIns="0" tIns="0" rIns="0" bIns="0" rtlCol="0" anchor="ctr"/>
          <a:lstStyle/>
          <a:p>
            <a:pPr indent="0" marL="0">
              <a:lnSpc>
                <a:spcPts val="2040"/>
              </a:lnSpc>
              <a:buNone/>
            </a:pPr>
            <a:r>
              <a:rPr lang="en-US" sz="1700" b="1" dirty="0">
                <a:solidFill>
                  <a:srgbClr val="FFFFFF"/>
                </a:solidFill>
                <a:latin typeface="Public Sans" pitchFamily="34" charset="0"/>
                <a:ea typeface="Public Sans" pitchFamily="34" charset="-122"/>
                <a:cs typeface="Public Sans" pitchFamily="34" charset="-120"/>
              </a:rPr>
              <a:t>It says what is waiting</a:t>
            </a:r>
            <a:endParaRPr lang="en-US" sz="1700" dirty="0"/>
          </a:p>
        </p:txBody>
      </p:sp>
      <p:sp>
        <p:nvSpPr>
          <p:cNvPr id="20" name="Text 17"/>
          <p:cNvSpPr txBox="1"/>
          <p:nvPr/>
        </p:nvSpPr>
        <p:spPr>
          <a:xfrm>
            <a:off x="8366760" y="4416552"/>
            <a:ext cx="2743200" cy="941832"/>
          </a:xfrm>
          <a:prstGeom prst="rect">
            <a:avLst/>
          </a:prstGeom>
          <a:noFill/>
          <a:ln/>
        </p:spPr>
        <p:txBody>
          <a:bodyPr wrap="square" lIns="0" tIns="0" rIns="0" bIns="0" rtlCol="0" anchor="t"/>
          <a:lstStyle/>
          <a:p>
            <a:pPr indent="0" marL="0">
              <a:lnSpc>
                <a:spcPts val="1775"/>
              </a:lnSpc>
              <a:buNone/>
            </a:pPr>
            <a:r>
              <a:rPr lang="en-US" sz="1250" dirty="0">
                <a:solidFill>
                  <a:srgbClr val="A8ADBA"/>
                </a:solidFill>
                <a:latin typeface="Public Sans" pitchFamily="34" charset="0"/>
                <a:ea typeface="Public Sans" pitchFamily="34" charset="-122"/>
                <a:cs typeface="Public Sans" pitchFamily="34" charset="-120"/>
              </a:rPr>
              <a:t>Named, not counted — and what happens if nothing is done about each one.</a:t>
            </a:r>
            <a:endParaRPr lang="en-US" sz="1250" dirty="0"/>
          </a:p>
        </p:txBody>
      </p:sp>
      <p:sp>
        <p:nvSpPr>
          <p:cNvPr id="21" name="Text 18"/>
          <p:cNvSpPr txBox="1"/>
          <p:nvPr/>
        </p:nvSpPr>
        <p:spPr>
          <a:xfrm>
            <a:off x="777240" y="6291072"/>
            <a:ext cx="10637215" cy="274320"/>
          </a:xfrm>
          <a:prstGeom prst="rect">
            <a:avLst/>
          </a:prstGeom>
          <a:noFill/>
          <a:ln/>
        </p:spPr>
        <p:txBody>
          <a:bodyPr wrap="square" lIns="0" tIns="0" rIns="0" bIns="0" rtlCol="0" anchor="ctr"/>
          <a:lstStyle/>
          <a:p>
            <a:pPr indent="0" marL="0">
              <a:buNone/>
            </a:pPr>
            <a:r>
              <a:rPr lang="en-US" sz="950" spc="100" kern="0" dirty="0">
                <a:solidFill>
                  <a:srgbClr val="6E7482"/>
                </a:solidFill>
                <a:latin typeface="Courier New" pitchFamily="34" charset="0"/>
                <a:ea typeface="Courier New" pitchFamily="34" charset="-122"/>
                <a:cs typeface="Courier New" pitchFamily="34" charset="-120"/>
              </a:rPr>
              <a:t>03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420624"/>
            <a:ext cx="7315200" cy="274320"/>
          </a:xfrm>
          <a:prstGeom prst="rect">
            <a:avLst/>
          </a:prstGeom>
          <a:noFill/>
          <a:ln/>
        </p:spPr>
        <p:txBody>
          <a:bodyPr wrap="square" lIns="0" tIns="0" rIns="0" bIns="0" rtlCol="0" anchor="ctr"/>
          <a:lstStyle/>
          <a:p>
            <a:pPr indent="0" marL="0">
              <a:buNone/>
            </a:pPr>
            <a:r>
              <a:rPr lang="en-US" sz="1100" spc="200" kern="0" dirty="0">
                <a:solidFill>
                  <a:srgbClr val="7367F0"/>
                </a:solidFill>
                <a:latin typeface="Courier New" pitchFamily="34" charset="0"/>
                <a:ea typeface="Courier New" pitchFamily="34" charset="-122"/>
                <a:cs typeface="Courier New" pitchFamily="34" charset="-120"/>
              </a:rPr>
              <a:t>THE IDEA UNDERNEATH</a:t>
            </a:r>
            <a:endParaRPr lang="en-US" sz="1100" dirty="0"/>
          </a:p>
        </p:txBody>
      </p:sp>
      <p:pic>
        <p:nvPicPr>
          <p:cNvPr id="3" name="Image 0" descr="/tmp/claude-0/-home-claude/e62a35b1-5075-553d-b086-acebfebc41ba/scratchpad/brand/meshpro-emblem-white.png">    </p:cNvPr>
          <p:cNvPicPr>
            <a:picLocks noChangeAspect="1"/>
          </p:cNvPicPr>
          <p:nvPr/>
        </p:nvPicPr>
        <p:blipFill>
          <a:blip r:embed="rId1"/>
          <a:stretch>
            <a:fillRect/>
          </a:stretch>
        </p:blipFill>
        <p:spPr>
          <a:xfrm>
            <a:off x="11140135" y="411480"/>
            <a:ext cx="384048" cy="374904"/>
          </a:xfrm>
          <a:prstGeom prst="rect">
            <a:avLst/>
          </a:prstGeom>
        </p:spPr>
      </p:pic>
      <p:sp>
        <p:nvSpPr>
          <p:cNvPr id="4" name="Text 1"/>
          <p:cNvSpPr txBox="1"/>
          <p:nvPr/>
        </p:nvSpPr>
        <p:spPr>
          <a:xfrm>
            <a:off x="777240" y="868680"/>
            <a:ext cx="9951415" cy="914400"/>
          </a:xfrm>
          <a:prstGeom prst="rect">
            <a:avLst/>
          </a:prstGeom>
          <a:noFill/>
          <a:ln/>
        </p:spPr>
        <p:txBody>
          <a:bodyPr wrap="square" lIns="0" tIns="0" rIns="0" bIns="0" rtlCol="0" anchor="ctr"/>
          <a:lstStyle/>
          <a:p>
            <a:pPr indent="0" marL="0">
              <a:lnSpc>
                <a:spcPts val="3944"/>
              </a:lnSpc>
              <a:buNone/>
            </a:pPr>
            <a:r>
              <a:rPr lang="en-US" sz="3400" b="1" dirty="0">
                <a:solidFill>
                  <a:srgbClr val="15171F"/>
                </a:solidFill>
                <a:latin typeface="Public Sans" pitchFamily="34" charset="0"/>
                <a:ea typeface="Public Sans" pitchFamily="34" charset="-122"/>
                <a:cs typeface="Public Sans" pitchFamily="34" charset="-120"/>
              </a:rPr>
              <a:t>Four rules. Everything else follows.</a:t>
            </a:r>
            <a:endParaRPr lang="en-US" sz="3400" dirty="0"/>
          </a:p>
        </p:txBody>
      </p:sp>
      <p:sp>
        <p:nvSpPr>
          <p:cNvPr id="5" name="Shape 2"/>
          <p:cNvSpPr/>
          <p:nvPr/>
        </p:nvSpPr>
        <p:spPr>
          <a:xfrm>
            <a:off x="777240" y="2240280"/>
            <a:ext cx="5029200" cy="1874520"/>
          </a:xfrm>
          <a:prstGeom prst="roundRect">
            <a:avLst>
              <a:gd name="adj" fmla="val 2927"/>
            </a:avLst>
          </a:prstGeom>
          <a:solidFill>
            <a:srgbClr val="F4F5F8"/>
          </a:solidFill>
          <a:ln w="12700">
            <a:solidFill>
              <a:srgbClr val="E4E6EC"/>
            </a:solidFill>
            <a:prstDash val="solid"/>
          </a:ln>
        </p:spPr>
      </p:sp>
      <p:sp>
        <p:nvSpPr>
          <p:cNvPr id="6" name="Shape 3"/>
          <p:cNvSpPr/>
          <p:nvPr/>
        </p:nvSpPr>
        <p:spPr>
          <a:xfrm>
            <a:off x="1051560" y="2514600"/>
            <a:ext cx="420624" cy="420624"/>
          </a:xfrm>
          <a:prstGeom prst="ellipse">
            <a:avLst/>
          </a:prstGeom>
          <a:solidFill>
            <a:srgbClr val="7367F0"/>
          </a:solidFill>
          <a:ln/>
        </p:spPr>
      </p:sp>
      <p:sp>
        <p:nvSpPr>
          <p:cNvPr id="7" name="Text 4"/>
          <p:cNvSpPr txBox="1"/>
          <p:nvPr/>
        </p:nvSpPr>
        <p:spPr>
          <a:xfrm>
            <a:off x="1051560" y="251460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Public Sans" pitchFamily="34" charset="0"/>
                <a:ea typeface="Public Sans" pitchFamily="34" charset="-122"/>
                <a:cs typeface="Public Sans" pitchFamily="34" charset="-120"/>
              </a:rPr>
              <a:t>1</a:t>
            </a:r>
            <a:endParaRPr lang="en-US" sz="1500" dirty="0"/>
          </a:p>
        </p:txBody>
      </p:sp>
      <p:sp>
        <p:nvSpPr>
          <p:cNvPr id="8" name="Text 5"/>
          <p:cNvSpPr txBox="1"/>
          <p:nvPr/>
        </p:nvSpPr>
        <p:spPr>
          <a:xfrm>
            <a:off x="1051560" y="3136392"/>
            <a:ext cx="4480560" cy="384048"/>
          </a:xfrm>
          <a:prstGeom prst="rect">
            <a:avLst/>
          </a:prstGeom>
          <a:noFill/>
          <a:ln/>
        </p:spPr>
        <p:txBody>
          <a:bodyPr wrap="square" lIns="0" tIns="0" rIns="0" bIns="0" rtlCol="0" anchor="ctr"/>
          <a:lstStyle/>
          <a:p>
            <a:pPr indent="0" marL="0">
              <a:lnSpc>
                <a:spcPts val="2040"/>
              </a:lnSpc>
              <a:buNone/>
            </a:pPr>
            <a:r>
              <a:rPr lang="en-US" sz="1700" b="1" dirty="0">
                <a:solidFill>
                  <a:srgbClr val="15171F"/>
                </a:solidFill>
                <a:latin typeface="Public Sans" pitchFamily="34" charset="0"/>
                <a:ea typeface="Public Sans" pitchFamily="34" charset="-122"/>
                <a:cs typeface="Public Sans" pitchFamily="34" charset="-120"/>
              </a:rPr>
              <a:t>A fact has one home</a:t>
            </a:r>
            <a:endParaRPr lang="en-US" sz="1700" dirty="0"/>
          </a:p>
        </p:txBody>
      </p:sp>
      <p:sp>
        <p:nvSpPr>
          <p:cNvPr id="9" name="Text 6"/>
          <p:cNvSpPr txBox="1"/>
          <p:nvPr/>
        </p:nvSpPr>
        <p:spPr>
          <a:xfrm>
            <a:off x="1051560" y="3593592"/>
            <a:ext cx="4480560" cy="301752"/>
          </a:xfrm>
          <a:prstGeom prst="rect">
            <a:avLst/>
          </a:prstGeom>
          <a:noFill/>
          <a:ln/>
        </p:spPr>
        <p:txBody>
          <a:bodyPr wrap="square" lIns="0" tIns="0" rIns="0" bIns="0" rtlCol="0" anchor="t"/>
          <a:lstStyle/>
          <a:p>
            <a:pPr indent="0" marL="0">
              <a:lnSpc>
                <a:spcPts val="1775"/>
              </a:lnSpc>
              <a:buNone/>
            </a:pPr>
            <a:r>
              <a:rPr lang="en-US" sz="1250" dirty="0">
                <a:solidFill>
                  <a:srgbClr val="5B6270"/>
                </a:solidFill>
                <a:latin typeface="Public Sans" pitchFamily="34" charset="0"/>
                <a:ea typeface="Public Sans" pitchFamily="34" charset="-122"/>
                <a:cs typeface="Public Sans" pitchFamily="34" charset="-120"/>
              </a:rPr>
              <a:t>If the same fact is true in two places, one of them is lying and you cannot tell which.</a:t>
            </a:r>
            <a:endParaRPr lang="en-US" sz="1250" dirty="0"/>
          </a:p>
        </p:txBody>
      </p:sp>
      <p:sp>
        <p:nvSpPr>
          <p:cNvPr id="10" name="Shape 7"/>
          <p:cNvSpPr/>
          <p:nvPr/>
        </p:nvSpPr>
        <p:spPr>
          <a:xfrm>
            <a:off x="6172200" y="2240280"/>
            <a:ext cx="5029200" cy="1874520"/>
          </a:xfrm>
          <a:prstGeom prst="roundRect">
            <a:avLst>
              <a:gd name="adj" fmla="val 2927"/>
            </a:avLst>
          </a:prstGeom>
          <a:solidFill>
            <a:srgbClr val="F4F5F8"/>
          </a:solidFill>
          <a:ln w="12700">
            <a:solidFill>
              <a:srgbClr val="E4E6EC"/>
            </a:solidFill>
            <a:prstDash val="solid"/>
          </a:ln>
        </p:spPr>
      </p:sp>
      <p:sp>
        <p:nvSpPr>
          <p:cNvPr id="11" name="Shape 8"/>
          <p:cNvSpPr/>
          <p:nvPr/>
        </p:nvSpPr>
        <p:spPr>
          <a:xfrm>
            <a:off x="6446520" y="2514600"/>
            <a:ext cx="420624" cy="420624"/>
          </a:xfrm>
          <a:prstGeom prst="ellipse">
            <a:avLst/>
          </a:prstGeom>
          <a:solidFill>
            <a:srgbClr val="7367F0"/>
          </a:solidFill>
          <a:ln/>
        </p:spPr>
      </p:sp>
      <p:sp>
        <p:nvSpPr>
          <p:cNvPr id="12" name="Text 9"/>
          <p:cNvSpPr txBox="1"/>
          <p:nvPr/>
        </p:nvSpPr>
        <p:spPr>
          <a:xfrm>
            <a:off x="6446520" y="251460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Public Sans" pitchFamily="34" charset="0"/>
                <a:ea typeface="Public Sans" pitchFamily="34" charset="-122"/>
                <a:cs typeface="Public Sans" pitchFamily="34" charset="-120"/>
              </a:rPr>
              <a:t>2</a:t>
            </a:r>
            <a:endParaRPr lang="en-US" sz="1500" dirty="0"/>
          </a:p>
        </p:txBody>
      </p:sp>
      <p:sp>
        <p:nvSpPr>
          <p:cNvPr id="13" name="Text 10"/>
          <p:cNvSpPr txBox="1"/>
          <p:nvPr/>
        </p:nvSpPr>
        <p:spPr>
          <a:xfrm>
            <a:off x="6446520" y="3136392"/>
            <a:ext cx="4480560" cy="384048"/>
          </a:xfrm>
          <a:prstGeom prst="rect">
            <a:avLst/>
          </a:prstGeom>
          <a:noFill/>
          <a:ln/>
        </p:spPr>
        <p:txBody>
          <a:bodyPr wrap="square" lIns="0" tIns="0" rIns="0" bIns="0" rtlCol="0" anchor="ctr"/>
          <a:lstStyle/>
          <a:p>
            <a:pPr indent="0" marL="0">
              <a:lnSpc>
                <a:spcPts val="2040"/>
              </a:lnSpc>
              <a:buNone/>
            </a:pPr>
            <a:r>
              <a:rPr lang="en-US" sz="1700" b="1" dirty="0">
                <a:solidFill>
                  <a:srgbClr val="15171F"/>
                </a:solidFill>
                <a:latin typeface="Public Sans" pitchFamily="34" charset="0"/>
                <a:ea typeface="Public Sans" pitchFamily="34" charset="-122"/>
                <a:cs typeface="Public Sans" pitchFamily="34" charset="-120"/>
              </a:rPr>
              <a:t>Every surface is generated</a:t>
            </a:r>
            <a:endParaRPr lang="en-US" sz="1700" dirty="0"/>
          </a:p>
        </p:txBody>
      </p:sp>
      <p:sp>
        <p:nvSpPr>
          <p:cNvPr id="14" name="Text 11"/>
          <p:cNvSpPr txBox="1"/>
          <p:nvPr/>
        </p:nvSpPr>
        <p:spPr>
          <a:xfrm>
            <a:off x="6446520" y="3593592"/>
            <a:ext cx="4480560" cy="301752"/>
          </a:xfrm>
          <a:prstGeom prst="rect">
            <a:avLst/>
          </a:prstGeom>
          <a:noFill/>
          <a:ln/>
        </p:spPr>
        <p:txBody>
          <a:bodyPr wrap="square" lIns="0" tIns="0" rIns="0" bIns="0" rtlCol="0" anchor="t"/>
          <a:lstStyle/>
          <a:p>
            <a:pPr indent="0" marL="0">
              <a:lnSpc>
                <a:spcPts val="1775"/>
              </a:lnSpc>
              <a:buNone/>
            </a:pPr>
            <a:r>
              <a:rPr lang="en-US" sz="1250" dirty="0">
                <a:solidFill>
                  <a:srgbClr val="5B6270"/>
                </a:solidFill>
                <a:latin typeface="Public Sans" pitchFamily="34" charset="0"/>
                <a:ea typeface="Public Sans" pitchFamily="34" charset="-122"/>
                <a:cs typeface="Public Sans" pitchFamily="34" charset="-120"/>
              </a:rPr>
              <a:t>The page, the register, the agents. You never edit those — you edit the note that owns the fact.</a:t>
            </a:r>
            <a:endParaRPr lang="en-US" sz="1250" dirty="0"/>
          </a:p>
        </p:txBody>
      </p:sp>
      <p:sp>
        <p:nvSpPr>
          <p:cNvPr id="15" name="Shape 12"/>
          <p:cNvSpPr/>
          <p:nvPr/>
        </p:nvSpPr>
        <p:spPr>
          <a:xfrm>
            <a:off x="777240" y="4297680"/>
            <a:ext cx="5029200" cy="1874520"/>
          </a:xfrm>
          <a:prstGeom prst="roundRect">
            <a:avLst>
              <a:gd name="adj" fmla="val 2927"/>
            </a:avLst>
          </a:prstGeom>
          <a:solidFill>
            <a:srgbClr val="F4F5F8"/>
          </a:solidFill>
          <a:ln w="12700">
            <a:solidFill>
              <a:srgbClr val="E4E6EC"/>
            </a:solidFill>
            <a:prstDash val="solid"/>
          </a:ln>
        </p:spPr>
      </p:sp>
      <p:sp>
        <p:nvSpPr>
          <p:cNvPr id="16" name="Shape 13"/>
          <p:cNvSpPr/>
          <p:nvPr/>
        </p:nvSpPr>
        <p:spPr>
          <a:xfrm>
            <a:off x="1051560" y="4572000"/>
            <a:ext cx="420624" cy="420624"/>
          </a:xfrm>
          <a:prstGeom prst="ellipse">
            <a:avLst/>
          </a:prstGeom>
          <a:solidFill>
            <a:srgbClr val="7367F0"/>
          </a:solidFill>
          <a:ln/>
        </p:spPr>
      </p:sp>
      <p:sp>
        <p:nvSpPr>
          <p:cNvPr id="17" name="Text 14"/>
          <p:cNvSpPr txBox="1"/>
          <p:nvPr/>
        </p:nvSpPr>
        <p:spPr>
          <a:xfrm>
            <a:off x="1051560" y="457200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Public Sans" pitchFamily="34" charset="0"/>
                <a:ea typeface="Public Sans" pitchFamily="34" charset="-122"/>
                <a:cs typeface="Public Sans" pitchFamily="34" charset="-120"/>
              </a:rPr>
              <a:t>3</a:t>
            </a:r>
            <a:endParaRPr lang="en-US" sz="1500" dirty="0"/>
          </a:p>
        </p:txBody>
      </p:sp>
      <p:sp>
        <p:nvSpPr>
          <p:cNvPr id="18" name="Text 15"/>
          <p:cNvSpPr txBox="1"/>
          <p:nvPr/>
        </p:nvSpPr>
        <p:spPr>
          <a:xfrm>
            <a:off x="1051560" y="5193792"/>
            <a:ext cx="4480560" cy="384048"/>
          </a:xfrm>
          <a:prstGeom prst="rect">
            <a:avLst/>
          </a:prstGeom>
          <a:noFill/>
          <a:ln/>
        </p:spPr>
        <p:txBody>
          <a:bodyPr wrap="square" lIns="0" tIns="0" rIns="0" bIns="0" rtlCol="0" anchor="ctr"/>
          <a:lstStyle/>
          <a:p>
            <a:pPr indent="0" marL="0">
              <a:lnSpc>
                <a:spcPts val="2040"/>
              </a:lnSpc>
              <a:buNone/>
            </a:pPr>
            <a:r>
              <a:rPr lang="en-US" sz="1700" b="1" dirty="0">
                <a:solidFill>
                  <a:srgbClr val="15171F"/>
                </a:solidFill>
                <a:latin typeface="Public Sans" pitchFamily="34" charset="0"/>
                <a:ea typeface="Public Sans" pitchFamily="34" charset="-122"/>
                <a:cs typeface="Public Sans" pitchFamily="34" charset="-120"/>
              </a:rPr>
              <a:t>A check fails on a false claim</a:t>
            </a:r>
            <a:endParaRPr lang="en-US" sz="1700" dirty="0"/>
          </a:p>
        </p:txBody>
      </p:sp>
      <p:sp>
        <p:nvSpPr>
          <p:cNvPr id="19" name="Text 16"/>
          <p:cNvSpPr txBox="1"/>
          <p:nvPr/>
        </p:nvSpPr>
        <p:spPr>
          <a:xfrm>
            <a:off x="1051560" y="5650992"/>
            <a:ext cx="4480560" cy="301752"/>
          </a:xfrm>
          <a:prstGeom prst="rect">
            <a:avLst/>
          </a:prstGeom>
          <a:noFill/>
          <a:ln/>
        </p:spPr>
        <p:txBody>
          <a:bodyPr wrap="square" lIns="0" tIns="0" rIns="0" bIns="0" rtlCol="0" anchor="t"/>
          <a:lstStyle/>
          <a:p>
            <a:pPr indent="0" marL="0">
              <a:lnSpc>
                <a:spcPts val="1775"/>
              </a:lnSpc>
              <a:buNone/>
            </a:pPr>
            <a:r>
              <a:rPr lang="en-US" sz="1250" dirty="0">
                <a:solidFill>
                  <a:srgbClr val="5B6270"/>
                </a:solidFill>
                <a:latin typeface="Public Sans" pitchFamily="34" charset="0"/>
                <a:ea typeface="Public Sans" pitchFamily="34" charset="-122"/>
                <a:cs typeface="Public Sans" pitchFamily="34" charset="-120"/>
              </a:rPr>
              <a:t>Not a warning nobody reads. The build stops.</a:t>
            </a:r>
            <a:endParaRPr lang="en-US" sz="1250" dirty="0"/>
          </a:p>
        </p:txBody>
      </p:sp>
      <p:sp>
        <p:nvSpPr>
          <p:cNvPr id="20" name="Shape 17"/>
          <p:cNvSpPr/>
          <p:nvPr/>
        </p:nvSpPr>
        <p:spPr>
          <a:xfrm>
            <a:off x="6172200" y="4297680"/>
            <a:ext cx="5029200" cy="1874520"/>
          </a:xfrm>
          <a:prstGeom prst="roundRect">
            <a:avLst>
              <a:gd name="adj" fmla="val 2927"/>
            </a:avLst>
          </a:prstGeom>
          <a:solidFill>
            <a:srgbClr val="F4F5F8"/>
          </a:solidFill>
          <a:ln w="12700">
            <a:solidFill>
              <a:srgbClr val="E4E6EC"/>
            </a:solidFill>
            <a:prstDash val="solid"/>
          </a:ln>
        </p:spPr>
      </p:sp>
      <p:sp>
        <p:nvSpPr>
          <p:cNvPr id="21" name="Shape 18"/>
          <p:cNvSpPr/>
          <p:nvPr/>
        </p:nvSpPr>
        <p:spPr>
          <a:xfrm>
            <a:off x="6446520" y="4572000"/>
            <a:ext cx="420624" cy="420624"/>
          </a:xfrm>
          <a:prstGeom prst="ellipse">
            <a:avLst/>
          </a:prstGeom>
          <a:solidFill>
            <a:srgbClr val="7367F0"/>
          </a:solidFill>
          <a:ln/>
        </p:spPr>
      </p:sp>
      <p:sp>
        <p:nvSpPr>
          <p:cNvPr id="22" name="Text 19"/>
          <p:cNvSpPr txBox="1"/>
          <p:nvPr/>
        </p:nvSpPr>
        <p:spPr>
          <a:xfrm>
            <a:off x="6446520" y="457200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Public Sans" pitchFamily="34" charset="0"/>
                <a:ea typeface="Public Sans" pitchFamily="34" charset="-122"/>
                <a:cs typeface="Public Sans" pitchFamily="34" charset="-120"/>
              </a:rPr>
              <a:t>4</a:t>
            </a:r>
            <a:endParaRPr lang="en-US" sz="1500" dirty="0"/>
          </a:p>
        </p:txBody>
      </p:sp>
      <p:sp>
        <p:nvSpPr>
          <p:cNvPr id="23" name="Text 20"/>
          <p:cNvSpPr txBox="1"/>
          <p:nvPr/>
        </p:nvSpPr>
        <p:spPr>
          <a:xfrm>
            <a:off x="6446520" y="5193792"/>
            <a:ext cx="4480560" cy="384048"/>
          </a:xfrm>
          <a:prstGeom prst="rect">
            <a:avLst/>
          </a:prstGeom>
          <a:noFill/>
          <a:ln/>
        </p:spPr>
        <p:txBody>
          <a:bodyPr wrap="square" lIns="0" tIns="0" rIns="0" bIns="0" rtlCol="0" anchor="ctr"/>
          <a:lstStyle/>
          <a:p>
            <a:pPr indent="0" marL="0">
              <a:lnSpc>
                <a:spcPts val="2040"/>
              </a:lnSpc>
              <a:buNone/>
            </a:pPr>
            <a:r>
              <a:rPr lang="en-US" sz="1700" b="1" dirty="0">
                <a:solidFill>
                  <a:srgbClr val="15171F"/>
                </a:solidFill>
                <a:latin typeface="Public Sans" pitchFamily="34" charset="0"/>
                <a:ea typeface="Public Sans" pitchFamily="34" charset="-122"/>
                <a:cs typeface="Public Sans" pitchFamily="34" charset="-120"/>
              </a:rPr>
              <a:t>Only a person decides</a:t>
            </a:r>
            <a:endParaRPr lang="en-US" sz="1700" dirty="0"/>
          </a:p>
        </p:txBody>
      </p:sp>
      <p:sp>
        <p:nvSpPr>
          <p:cNvPr id="24" name="Text 21"/>
          <p:cNvSpPr txBox="1"/>
          <p:nvPr/>
        </p:nvSpPr>
        <p:spPr>
          <a:xfrm>
            <a:off x="6446520" y="5650992"/>
            <a:ext cx="4480560" cy="301752"/>
          </a:xfrm>
          <a:prstGeom prst="rect">
            <a:avLst/>
          </a:prstGeom>
          <a:noFill/>
          <a:ln/>
        </p:spPr>
        <p:txBody>
          <a:bodyPr wrap="square" lIns="0" tIns="0" rIns="0" bIns="0" rtlCol="0" anchor="t"/>
          <a:lstStyle/>
          <a:p>
            <a:pPr indent="0" marL="0">
              <a:lnSpc>
                <a:spcPts val="1775"/>
              </a:lnSpc>
              <a:buNone/>
            </a:pPr>
            <a:r>
              <a:rPr lang="en-US" sz="1250" dirty="0">
                <a:solidFill>
                  <a:srgbClr val="5B6270"/>
                </a:solidFill>
                <a:latin typeface="Public Sans" pitchFamily="34" charset="0"/>
                <a:ea typeface="Public Sans" pitchFamily="34" charset="-122"/>
                <a:cs typeface="Public Sans" pitchFamily="34" charset="-120"/>
              </a:rPr>
              <a:t>Publishing, sending, spending, deleting. The machine prepares it all and stops.</a:t>
            </a:r>
            <a:endParaRPr lang="en-US" sz="1250" dirty="0"/>
          </a:p>
        </p:txBody>
      </p:sp>
      <p:sp>
        <p:nvSpPr>
          <p:cNvPr id="25" name="Text 22"/>
          <p:cNvSpPr txBox="1"/>
          <p:nvPr/>
        </p:nvSpPr>
        <p:spPr>
          <a:xfrm>
            <a:off x="777240" y="6291072"/>
            <a:ext cx="10637215" cy="274320"/>
          </a:xfrm>
          <a:prstGeom prst="rect">
            <a:avLst/>
          </a:prstGeom>
          <a:noFill/>
          <a:ln/>
        </p:spPr>
        <p:txBody>
          <a:bodyPr wrap="square" lIns="0" tIns="0" rIns="0" bIns="0" rtlCol="0" anchor="ctr"/>
          <a:lstStyle/>
          <a:p>
            <a:pPr indent="0" marL="0">
              <a:buNone/>
            </a:pPr>
            <a:r>
              <a:rPr lang="en-US" sz="950" spc="100" kern="0" dirty="0">
                <a:solidFill>
                  <a:srgbClr val="9198A6"/>
                </a:solidFill>
                <a:latin typeface="Courier New" pitchFamily="34" charset="0"/>
                <a:ea typeface="Courier New" pitchFamily="34" charset="-122"/>
                <a:cs typeface="Courier New" pitchFamily="34" charset="-120"/>
              </a:rPr>
              <a:t>04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420624"/>
            <a:ext cx="7315200" cy="274320"/>
          </a:xfrm>
          <a:prstGeom prst="rect">
            <a:avLst/>
          </a:prstGeom>
          <a:noFill/>
          <a:ln/>
        </p:spPr>
        <p:txBody>
          <a:bodyPr wrap="square" lIns="0" tIns="0" rIns="0" bIns="0" rtlCol="0" anchor="ctr"/>
          <a:lstStyle/>
          <a:p>
            <a:pPr indent="0" marL="0">
              <a:buNone/>
            </a:pPr>
            <a:r>
              <a:rPr lang="en-US" sz="1100" spc="200" kern="0" dirty="0">
                <a:solidFill>
                  <a:srgbClr val="7367F0"/>
                </a:solidFill>
                <a:latin typeface="Courier New" pitchFamily="34" charset="0"/>
                <a:ea typeface="Courier New" pitchFamily="34" charset="-122"/>
                <a:cs typeface="Courier New" pitchFamily="34" charset="-120"/>
              </a:rPr>
              <a:t>WHAT IT ACTUALLY IS</a:t>
            </a:r>
            <a:endParaRPr lang="en-US" sz="1100" dirty="0"/>
          </a:p>
        </p:txBody>
      </p:sp>
      <p:pic>
        <p:nvPicPr>
          <p:cNvPr id="3" name="Image 0" descr="/tmp/claude-0/-home-claude/e62a35b1-5075-553d-b086-acebfebc41ba/scratchpad/brand/meshpro-emblem-white.png">    </p:cNvPr>
          <p:cNvPicPr>
            <a:picLocks noChangeAspect="1"/>
          </p:cNvPicPr>
          <p:nvPr/>
        </p:nvPicPr>
        <p:blipFill>
          <a:blip r:embed="rId1"/>
          <a:stretch>
            <a:fillRect/>
          </a:stretch>
        </p:blipFill>
        <p:spPr>
          <a:xfrm>
            <a:off x="11140135" y="411480"/>
            <a:ext cx="384048" cy="374904"/>
          </a:xfrm>
          <a:prstGeom prst="rect">
            <a:avLst/>
          </a:prstGeom>
        </p:spPr>
      </p:pic>
      <p:sp>
        <p:nvSpPr>
          <p:cNvPr id="4" name="Text 1"/>
          <p:cNvSpPr txBox="1"/>
          <p:nvPr/>
        </p:nvSpPr>
        <p:spPr>
          <a:xfrm>
            <a:off x="777240" y="868680"/>
            <a:ext cx="9951415" cy="914400"/>
          </a:xfrm>
          <a:prstGeom prst="rect">
            <a:avLst/>
          </a:prstGeom>
          <a:noFill/>
          <a:ln/>
        </p:spPr>
        <p:txBody>
          <a:bodyPr wrap="square" lIns="0" tIns="0" rIns="0" bIns="0" rtlCol="0" anchor="ctr"/>
          <a:lstStyle/>
          <a:p>
            <a:pPr indent="0" marL="0">
              <a:lnSpc>
                <a:spcPts val="3944"/>
              </a:lnSpc>
              <a:buNone/>
            </a:pPr>
            <a:r>
              <a:rPr lang="en-US" sz="3400" b="1" dirty="0">
                <a:solidFill>
                  <a:srgbClr val="15171F"/>
                </a:solidFill>
                <a:latin typeface="Public Sans" pitchFamily="34" charset="0"/>
                <a:ea typeface="Public Sans" pitchFamily="34" charset="-122"/>
                <a:cs typeface="Public Sans" pitchFamily="34" charset="-120"/>
              </a:rPr>
              <a:t>A folder of text files. That is the whole trick.</a:t>
            </a:r>
            <a:endParaRPr lang="en-US" sz="3400" dirty="0"/>
          </a:p>
        </p:txBody>
      </p:sp>
      <p:sp>
        <p:nvSpPr>
          <p:cNvPr id="5" name="Text 2"/>
          <p:cNvSpPr txBox="1"/>
          <p:nvPr/>
        </p:nvSpPr>
        <p:spPr>
          <a:xfrm>
            <a:off x="777240" y="1783080"/>
            <a:ext cx="10637215" cy="566928"/>
          </a:xfrm>
          <a:prstGeom prst="rect">
            <a:avLst/>
          </a:prstGeom>
          <a:noFill/>
          <a:ln/>
        </p:spPr>
        <p:txBody>
          <a:bodyPr wrap="square" lIns="0" tIns="0" rIns="0" bIns="0" rtlCol="0" anchor="ctr"/>
          <a:lstStyle/>
          <a:p>
            <a:pPr indent="0" marL="0">
              <a:lnSpc>
                <a:spcPts val="2100"/>
              </a:lnSpc>
              <a:buNone/>
            </a:pPr>
            <a:r>
              <a:rPr lang="en-US" sz="1500" dirty="0">
                <a:solidFill>
                  <a:srgbClr val="5B6270"/>
                </a:solidFill>
                <a:latin typeface="Public Sans" pitchFamily="34" charset="0"/>
                <a:ea typeface="Public Sans" pitchFamily="34" charset="-122"/>
                <a:cs typeface="Public Sans" pitchFamily="34" charset="-120"/>
              </a:rPr>
              <a:t>No database, no platform, no account to create. It sits on your own computer and you can read every file of it in Notepad.</a:t>
            </a:r>
            <a:endParaRPr lang="en-US" sz="1500" dirty="0"/>
          </a:p>
        </p:txBody>
      </p:sp>
      <p:sp>
        <p:nvSpPr>
          <p:cNvPr id="6" name="Shape 3"/>
          <p:cNvSpPr/>
          <p:nvPr/>
        </p:nvSpPr>
        <p:spPr>
          <a:xfrm>
            <a:off x="777240" y="2788920"/>
            <a:ext cx="3291840" cy="2103120"/>
          </a:xfrm>
          <a:prstGeom prst="roundRect">
            <a:avLst>
              <a:gd name="adj" fmla="val 2609"/>
            </a:avLst>
          </a:prstGeom>
          <a:solidFill>
            <a:srgbClr val="F4F5F8"/>
          </a:solidFill>
          <a:ln w="12700">
            <a:solidFill>
              <a:srgbClr val="E4E6EC"/>
            </a:solidFill>
            <a:prstDash val="solid"/>
          </a:ln>
        </p:spPr>
      </p:sp>
      <p:sp>
        <p:nvSpPr>
          <p:cNvPr id="7" name="Text 4"/>
          <p:cNvSpPr txBox="1"/>
          <p:nvPr/>
        </p:nvSpPr>
        <p:spPr>
          <a:xfrm>
            <a:off x="1051560" y="3063240"/>
            <a:ext cx="2743200" cy="219456"/>
          </a:xfrm>
          <a:prstGeom prst="rect">
            <a:avLst/>
          </a:prstGeom>
          <a:noFill/>
          <a:ln/>
        </p:spPr>
        <p:txBody>
          <a:bodyPr wrap="square" lIns="0" tIns="0" rIns="0" bIns="0" rtlCol="0" anchor="ctr"/>
          <a:lstStyle/>
          <a:p>
            <a:pPr indent="0" marL="0">
              <a:buNone/>
            </a:pPr>
            <a:r>
              <a:rPr lang="en-US" sz="950" spc="140" kern="0" dirty="0">
                <a:solidFill>
                  <a:srgbClr val="7367F0"/>
                </a:solidFill>
                <a:latin typeface="Courier New" pitchFamily="34" charset="0"/>
                <a:ea typeface="Courier New" pitchFamily="34" charset="-122"/>
                <a:cs typeface="Courier New" pitchFamily="34" charset="-120"/>
              </a:rPr>
              <a:t>THE VAULT</a:t>
            </a:r>
            <a:endParaRPr lang="en-US" sz="950" dirty="0"/>
          </a:p>
        </p:txBody>
      </p:sp>
      <p:sp>
        <p:nvSpPr>
          <p:cNvPr id="8" name="Text 5"/>
          <p:cNvSpPr txBox="1"/>
          <p:nvPr/>
        </p:nvSpPr>
        <p:spPr>
          <a:xfrm>
            <a:off x="1051560" y="3337560"/>
            <a:ext cx="2743200" cy="384048"/>
          </a:xfrm>
          <a:prstGeom prst="rect">
            <a:avLst/>
          </a:prstGeom>
          <a:noFill/>
          <a:ln/>
        </p:spPr>
        <p:txBody>
          <a:bodyPr wrap="square" lIns="0" tIns="0" rIns="0" bIns="0" rtlCol="0" anchor="ctr"/>
          <a:lstStyle/>
          <a:p>
            <a:pPr indent="0" marL="0">
              <a:lnSpc>
                <a:spcPts val="2040"/>
              </a:lnSpc>
              <a:buNone/>
            </a:pPr>
            <a:r>
              <a:rPr lang="en-US" sz="1700" b="1" dirty="0">
                <a:solidFill>
                  <a:srgbClr val="15171F"/>
                </a:solidFill>
                <a:latin typeface="Public Sans" pitchFamily="34" charset="0"/>
                <a:ea typeface="Public Sans" pitchFamily="34" charset="-122"/>
                <a:cs typeface="Public Sans" pitchFamily="34" charset="-120"/>
              </a:rPr>
              <a:t>A folder</a:t>
            </a:r>
            <a:endParaRPr lang="en-US" sz="1700" dirty="0"/>
          </a:p>
        </p:txBody>
      </p:sp>
      <p:sp>
        <p:nvSpPr>
          <p:cNvPr id="9" name="Text 6"/>
          <p:cNvSpPr txBox="1"/>
          <p:nvPr/>
        </p:nvSpPr>
        <p:spPr>
          <a:xfrm>
            <a:off x="1051560" y="3794760"/>
            <a:ext cx="2743200" cy="877824"/>
          </a:xfrm>
          <a:prstGeom prst="rect">
            <a:avLst/>
          </a:prstGeom>
          <a:noFill/>
          <a:ln/>
        </p:spPr>
        <p:txBody>
          <a:bodyPr wrap="square" lIns="0" tIns="0" rIns="0" bIns="0" rtlCol="0" anchor="t"/>
          <a:lstStyle/>
          <a:p>
            <a:pPr indent="0" marL="0">
              <a:lnSpc>
                <a:spcPts val="1846"/>
              </a:lnSpc>
              <a:buNone/>
            </a:pPr>
            <a:r>
              <a:rPr lang="en-US" sz="1300" dirty="0">
                <a:solidFill>
                  <a:srgbClr val="5B6270"/>
                </a:solidFill>
                <a:latin typeface="Public Sans" pitchFamily="34" charset="0"/>
                <a:ea typeface="Public Sans" pitchFamily="34" charset="-122"/>
                <a:cs typeface="Public Sans" pitchFamily="34" charset="-120"/>
              </a:rPr>
              <a:t>Plain text notes, one fact each. Yours, on your machine. It still works if we never speak again.</a:t>
            </a:r>
            <a:endParaRPr lang="en-US" sz="1300" dirty="0"/>
          </a:p>
        </p:txBody>
      </p:sp>
      <p:sp>
        <p:nvSpPr>
          <p:cNvPr id="10" name="Shape 7"/>
          <p:cNvSpPr/>
          <p:nvPr/>
        </p:nvSpPr>
        <p:spPr>
          <a:xfrm>
            <a:off x="4434840" y="2788920"/>
            <a:ext cx="3291840" cy="2103120"/>
          </a:xfrm>
          <a:prstGeom prst="roundRect">
            <a:avLst>
              <a:gd name="adj" fmla="val 2609"/>
            </a:avLst>
          </a:prstGeom>
          <a:solidFill>
            <a:srgbClr val="F4F5F8"/>
          </a:solidFill>
          <a:ln w="12700">
            <a:solidFill>
              <a:srgbClr val="E4E6EC"/>
            </a:solidFill>
            <a:prstDash val="solid"/>
          </a:ln>
        </p:spPr>
      </p:sp>
      <p:sp>
        <p:nvSpPr>
          <p:cNvPr id="11" name="Text 8"/>
          <p:cNvSpPr txBox="1"/>
          <p:nvPr/>
        </p:nvSpPr>
        <p:spPr>
          <a:xfrm>
            <a:off x="4709160" y="3063240"/>
            <a:ext cx="2743200" cy="219456"/>
          </a:xfrm>
          <a:prstGeom prst="rect">
            <a:avLst/>
          </a:prstGeom>
          <a:noFill/>
          <a:ln/>
        </p:spPr>
        <p:txBody>
          <a:bodyPr wrap="square" lIns="0" tIns="0" rIns="0" bIns="0" rtlCol="0" anchor="ctr"/>
          <a:lstStyle/>
          <a:p>
            <a:pPr indent="0" marL="0">
              <a:buNone/>
            </a:pPr>
            <a:r>
              <a:rPr lang="en-US" sz="950" spc="140" kern="0" dirty="0">
                <a:solidFill>
                  <a:srgbClr val="7367F0"/>
                </a:solidFill>
                <a:latin typeface="Courier New" pitchFamily="34" charset="0"/>
                <a:ea typeface="Courier New" pitchFamily="34" charset="-122"/>
                <a:cs typeface="Courier New" pitchFamily="34" charset="-120"/>
              </a:rPr>
              <a:t>TO READ AND WRITE IT</a:t>
            </a:r>
            <a:endParaRPr lang="en-US" sz="950" dirty="0"/>
          </a:p>
        </p:txBody>
      </p:sp>
      <p:sp>
        <p:nvSpPr>
          <p:cNvPr id="12" name="Text 9"/>
          <p:cNvSpPr txBox="1"/>
          <p:nvPr/>
        </p:nvSpPr>
        <p:spPr>
          <a:xfrm>
            <a:off x="4709160" y="3337560"/>
            <a:ext cx="2743200" cy="384048"/>
          </a:xfrm>
          <a:prstGeom prst="rect">
            <a:avLst/>
          </a:prstGeom>
          <a:noFill/>
          <a:ln/>
        </p:spPr>
        <p:txBody>
          <a:bodyPr wrap="square" lIns="0" tIns="0" rIns="0" bIns="0" rtlCol="0" anchor="ctr"/>
          <a:lstStyle/>
          <a:p>
            <a:pPr indent="0" marL="0">
              <a:lnSpc>
                <a:spcPts val="2040"/>
              </a:lnSpc>
              <a:buNone/>
            </a:pPr>
            <a:r>
              <a:rPr lang="en-US" sz="1700" b="1" dirty="0">
                <a:solidFill>
                  <a:srgbClr val="15171F"/>
                </a:solidFill>
                <a:latin typeface="Public Sans" pitchFamily="34" charset="0"/>
                <a:ea typeface="Public Sans" pitchFamily="34" charset="-122"/>
                <a:cs typeface="Public Sans" pitchFamily="34" charset="-120"/>
              </a:rPr>
              <a:t>Obsidian</a:t>
            </a:r>
            <a:endParaRPr lang="en-US" sz="1700" dirty="0"/>
          </a:p>
        </p:txBody>
      </p:sp>
      <p:sp>
        <p:nvSpPr>
          <p:cNvPr id="13" name="Text 10"/>
          <p:cNvSpPr txBox="1"/>
          <p:nvPr/>
        </p:nvSpPr>
        <p:spPr>
          <a:xfrm>
            <a:off x="4709160" y="3794760"/>
            <a:ext cx="2743200" cy="877824"/>
          </a:xfrm>
          <a:prstGeom prst="rect">
            <a:avLst/>
          </a:prstGeom>
          <a:noFill/>
          <a:ln/>
        </p:spPr>
        <p:txBody>
          <a:bodyPr wrap="square" lIns="0" tIns="0" rIns="0" bIns="0" rtlCol="0" anchor="t"/>
          <a:lstStyle/>
          <a:p>
            <a:pPr indent="0" marL="0">
              <a:lnSpc>
                <a:spcPts val="1846"/>
              </a:lnSpc>
              <a:buNone/>
            </a:pPr>
            <a:r>
              <a:rPr lang="en-US" sz="1300" dirty="0">
                <a:solidFill>
                  <a:srgbClr val="5B6270"/>
                </a:solidFill>
                <a:latin typeface="Public Sans" pitchFamily="34" charset="0"/>
                <a:ea typeface="Public Sans" pitchFamily="34" charset="-122"/>
                <a:cs typeface="Public Sans" pitchFamily="34" charset="-120"/>
              </a:rPr>
              <a:t>Free, optional, and much nicer than Notepad. It is a reader for the folder — nothing lives inside it.</a:t>
            </a:r>
            <a:endParaRPr lang="en-US" sz="1300" dirty="0"/>
          </a:p>
        </p:txBody>
      </p:sp>
      <p:sp>
        <p:nvSpPr>
          <p:cNvPr id="14" name="Shape 11"/>
          <p:cNvSpPr/>
          <p:nvPr/>
        </p:nvSpPr>
        <p:spPr>
          <a:xfrm>
            <a:off x="8092440" y="2788920"/>
            <a:ext cx="3291840" cy="2103120"/>
          </a:xfrm>
          <a:prstGeom prst="roundRect">
            <a:avLst>
              <a:gd name="adj" fmla="val 2609"/>
            </a:avLst>
          </a:prstGeom>
          <a:solidFill>
            <a:srgbClr val="F4F5F8"/>
          </a:solidFill>
          <a:ln w="12700">
            <a:solidFill>
              <a:srgbClr val="E4E6EC"/>
            </a:solidFill>
            <a:prstDash val="solid"/>
          </a:ln>
        </p:spPr>
      </p:sp>
      <p:sp>
        <p:nvSpPr>
          <p:cNvPr id="15" name="Text 12"/>
          <p:cNvSpPr txBox="1"/>
          <p:nvPr/>
        </p:nvSpPr>
        <p:spPr>
          <a:xfrm>
            <a:off x="8366760" y="3063240"/>
            <a:ext cx="2743200" cy="219456"/>
          </a:xfrm>
          <a:prstGeom prst="rect">
            <a:avLst/>
          </a:prstGeom>
          <a:noFill/>
          <a:ln/>
        </p:spPr>
        <p:txBody>
          <a:bodyPr wrap="square" lIns="0" tIns="0" rIns="0" bIns="0" rtlCol="0" anchor="ctr"/>
          <a:lstStyle/>
          <a:p>
            <a:pPr indent="0" marL="0">
              <a:buNone/>
            </a:pPr>
            <a:r>
              <a:rPr lang="en-US" sz="950" spc="140" kern="0" dirty="0">
                <a:solidFill>
                  <a:srgbClr val="7367F0"/>
                </a:solidFill>
                <a:latin typeface="Courier New" pitchFamily="34" charset="0"/>
                <a:ea typeface="Courier New" pitchFamily="34" charset="-122"/>
                <a:cs typeface="Courier New" pitchFamily="34" charset="-120"/>
              </a:rPr>
              <a:t>TO DO THE WORK</a:t>
            </a:r>
            <a:endParaRPr lang="en-US" sz="950" dirty="0"/>
          </a:p>
        </p:txBody>
      </p:sp>
      <p:sp>
        <p:nvSpPr>
          <p:cNvPr id="16" name="Text 13"/>
          <p:cNvSpPr txBox="1"/>
          <p:nvPr/>
        </p:nvSpPr>
        <p:spPr>
          <a:xfrm>
            <a:off x="8366760" y="3337560"/>
            <a:ext cx="2743200" cy="384048"/>
          </a:xfrm>
          <a:prstGeom prst="rect">
            <a:avLst/>
          </a:prstGeom>
          <a:noFill/>
          <a:ln/>
        </p:spPr>
        <p:txBody>
          <a:bodyPr wrap="square" lIns="0" tIns="0" rIns="0" bIns="0" rtlCol="0" anchor="ctr"/>
          <a:lstStyle/>
          <a:p>
            <a:pPr indent="0" marL="0">
              <a:lnSpc>
                <a:spcPts val="2040"/>
              </a:lnSpc>
              <a:buNone/>
            </a:pPr>
            <a:r>
              <a:rPr lang="en-US" sz="1700" b="1" dirty="0">
                <a:solidFill>
                  <a:srgbClr val="15171F"/>
                </a:solidFill>
                <a:latin typeface="Public Sans" pitchFamily="34" charset="0"/>
                <a:ea typeface="Public Sans" pitchFamily="34" charset="-122"/>
                <a:cs typeface="Public Sans" pitchFamily="34" charset="-120"/>
              </a:rPr>
              <a:t>Claude</a:t>
            </a:r>
            <a:endParaRPr lang="en-US" sz="1700" dirty="0"/>
          </a:p>
        </p:txBody>
      </p:sp>
      <p:sp>
        <p:nvSpPr>
          <p:cNvPr id="17" name="Text 14"/>
          <p:cNvSpPr txBox="1"/>
          <p:nvPr/>
        </p:nvSpPr>
        <p:spPr>
          <a:xfrm>
            <a:off x="8366760" y="3794760"/>
            <a:ext cx="2743200" cy="877824"/>
          </a:xfrm>
          <a:prstGeom prst="rect">
            <a:avLst/>
          </a:prstGeom>
          <a:noFill/>
          <a:ln/>
        </p:spPr>
        <p:txBody>
          <a:bodyPr wrap="square" lIns="0" tIns="0" rIns="0" bIns="0" rtlCol="0" anchor="t"/>
          <a:lstStyle/>
          <a:p>
            <a:pPr indent="0" marL="0">
              <a:lnSpc>
                <a:spcPts val="1846"/>
              </a:lnSpc>
              <a:buNone/>
            </a:pPr>
            <a:r>
              <a:rPr lang="en-US" sz="1300" dirty="0">
                <a:solidFill>
                  <a:srgbClr val="5B6270"/>
                </a:solidFill>
                <a:latin typeface="Public Sans" pitchFamily="34" charset="0"/>
                <a:ea typeface="Public Sans" pitchFamily="34" charset="-122"/>
                <a:cs typeface="Public Sans" pitchFamily="34" charset="-120"/>
              </a:rPr>
              <a:t>Connect the folder to a project. It reads the notes, writes the notes, and runs the checks.</a:t>
            </a:r>
            <a:endParaRPr lang="en-US" sz="1300" dirty="0"/>
          </a:p>
        </p:txBody>
      </p:sp>
      <p:sp>
        <p:nvSpPr>
          <p:cNvPr id="18" name="Shape 15"/>
          <p:cNvSpPr/>
          <p:nvPr/>
        </p:nvSpPr>
        <p:spPr>
          <a:xfrm>
            <a:off x="777240" y="5212080"/>
            <a:ext cx="10607040" cy="658368"/>
          </a:xfrm>
          <a:prstGeom prst="roundRect">
            <a:avLst>
              <a:gd name="adj" fmla="val 8333"/>
            </a:avLst>
          </a:prstGeom>
          <a:solidFill>
            <a:srgbClr val="F0EEFC"/>
          </a:solidFill>
          <a:ln w="12700">
            <a:solidFill>
              <a:srgbClr val="C4BDFF"/>
            </a:solidFill>
            <a:prstDash val="solid"/>
          </a:ln>
        </p:spPr>
      </p:sp>
      <p:sp>
        <p:nvSpPr>
          <p:cNvPr id="19" name="Text 16"/>
          <p:cNvSpPr txBox="1"/>
          <p:nvPr/>
        </p:nvSpPr>
        <p:spPr>
          <a:xfrm>
            <a:off x="1051560" y="5212080"/>
            <a:ext cx="10058400" cy="658368"/>
          </a:xfrm>
          <a:prstGeom prst="rect">
            <a:avLst/>
          </a:prstGeom>
          <a:noFill/>
          <a:ln/>
        </p:spPr>
        <p:txBody>
          <a:bodyPr wrap="square" lIns="0" tIns="0" rIns="0" bIns="0" rtlCol="0" anchor="ctr"/>
          <a:lstStyle/>
          <a:p>
            <a:pPr indent="0" marL="0">
              <a:buNone/>
            </a:pPr>
            <a:r>
              <a:rPr lang="en-US" sz="1450" b="1" dirty="0">
                <a:solidFill>
                  <a:srgbClr val="15171F"/>
                </a:solidFill>
                <a:latin typeface="Public Sans" pitchFamily="34" charset="0"/>
                <a:ea typeface="Public Sans" pitchFamily="34" charset="-122"/>
                <a:cs typeface="Public Sans" pitchFamily="34" charset="-120"/>
              </a:rPr>
              <a:t>You do not install Python, git, or anything else. </a:t>
            </a:r>
            <a:pPr indent="0" marL="0">
              <a:buNone/>
            </a:pPr>
            <a:r>
              <a:rPr lang="en-US" sz="1450" dirty="0">
                <a:solidFill>
                  <a:srgbClr val="15171F"/>
                </a:solidFill>
                <a:latin typeface="Public Sans" pitchFamily="34" charset="0"/>
                <a:ea typeface="Public Sans" pitchFamily="34" charset="-122"/>
                <a:cs typeface="Public Sans" pitchFamily="34" charset="-120"/>
              </a:rPr>
              <a:t>You make a folder and you write sentences.</a:t>
            </a:r>
            <a:endParaRPr lang="en-US" sz="1450" dirty="0"/>
          </a:p>
        </p:txBody>
      </p:sp>
      <p:sp>
        <p:nvSpPr>
          <p:cNvPr id="20" name="Text 17"/>
          <p:cNvSpPr txBox="1"/>
          <p:nvPr/>
        </p:nvSpPr>
        <p:spPr>
          <a:xfrm>
            <a:off x="777240" y="6291072"/>
            <a:ext cx="10637215" cy="274320"/>
          </a:xfrm>
          <a:prstGeom prst="rect">
            <a:avLst/>
          </a:prstGeom>
          <a:noFill/>
          <a:ln/>
        </p:spPr>
        <p:txBody>
          <a:bodyPr wrap="square" lIns="0" tIns="0" rIns="0" bIns="0" rtlCol="0" anchor="ctr"/>
          <a:lstStyle/>
          <a:p>
            <a:pPr indent="0" marL="0">
              <a:buNone/>
            </a:pPr>
            <a:r>
              <a:rPr lang="en-US" sz="950" spc="100" kern="0" dirty="0">
                <a:solidFill>
                  <a:srgbClr val="9198A6"/>
                </a:solidFill>
                <a:latin typeface="Courier New" pitchFamily="34" charset="0"/>
                <a:ea typeface="Courier New" pitchFamily="34" charset="-122"/>
                <a:cs typeface="Courier New" pitchFamily="34" charset="-120"/>
              </a:rPr>
              <a:t>05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5171F"/>
        </a:solidFill>
      </p:bgPr>
    </p:bg>
    <p:spTree>
      <p:nvGrpSpPr>
        <p:cNvPr id="1" name=""/>
        <p:cNvGrpSpPr/>
        <p:nvPr/>
      </p:nvGrpSpPr>
      <p:grpSpPr>
        <a:xfrm>
          <a:off x="0" y="0"/>
          <a:ext cx="0" cy="0"/>
          <a:chOff x="0" y="0"/>
          <a:chExt cx="0" cy="0"/>
        </a:xfrm>
      </p:grpSpPr>
      <p:sp>
        <p:nvSpPr>
          <p:cNvPr id="2" name="Text 0"/>
          <p:cNvSpPr txBox="1"/>
          <p:nvPr/>
        </p:nvSpPr>
        <p:spPr>
          <a:xfrm>
            <a:off x="777240" y="420624"/>
            <a:ext cx="7315200" cy="274320"/>
          </a:xfrm>
          <a:prstGeom prst="rect">
            <a:avLst/>
          </a:prstGeom>
          <a:noFill/>
          <a:ln/>
        </p:spPr>
        <p:txBody>
          <a:bodyPr wrap="square" lIns="0" tIns="0" rIns="0" bIns="0" rtlCol="0" anchor="ctr"/>
          <a:lstStyle/>
          <a:p>
            <a:pPr indent="0" marL="0">
              <a:buNone/>
            </a:pPr>
            <a:r>
              <a:rPr lang="en-US" sz="1100" spc="200" kern="0" dirty="0">
                <a:solidFill>
                  <a:srgbClr val="A59CFF"/>
                </a:solidFill>
                <a:latin typeface="Courier New" pitchFamily="34" charset="0"/>
                <a:ea typeface="Courier New" pitchFamily="34" charset="-122"/>
                <a:cs typeface="Courier New" pitchFamily="34" charset="-120"/>
              </a:rPr>
              <a:t>THE SETUP</a:t>
            </a:r>
            <a:endParaRPr lang="en-US" sz="1100" dirty="0"/>
          </a:p>
        </p:txBody>
      </p:sp>
      <p:pic>
        <p:nvPicPr>
          <p:cNvPr id="3" name="Image 0" descr="/tmp/claude-0/-home-claude/e62a35b1-5075-553d-b086-acebfebc41ba/scratchpad/brand/meshpro-emblem-navy.png">    </p:cNvPr>
          <p:cNvPicPr>
            <a:picLocks noChangeAspect="1"/>
          </p:cNvPicPr>
          <p:nvPr/>
        </p:nvPicPr>
        <p:blipFill>
          <a:blip r:embed="rId1"/>
          <a:stretch>
            <a:fillRect/>
          </a:stretch>
        </p:blipFill>
        <p:spPr>
          <a:xfrm>
            <a:off x="11140135" y="411480"/>
            <a:ext cx="384048" cy="374904"/>
          </a:xfrm>
          <a:prstGeom prst="rect">
            <a:avLst/>
          </a:prstGeom>
        </p:spPr>
      </p:pic>
      <p:sp>
        <p:nvSpPr>
          <p:cNvPr id="4" name="Text 1"/>
          <p:cNvSpPr txBox="1"/>
          <p:nvPr/>
        </p:nvSpPr>
        <p:spPr>
          <a:xfrm>
            <a:off x="777240" y="868680"/>
            <a:ext cx="9951415" cy="914400"/>
          </a:xfrm>
          <a:prstGeom prst="rect">
            <a:avLst/>
          </a:prstGeom>
          <a:noFill/>
          <a:ln/>
        </p:spPr>
        <p:txBody>
          <a:bodyPr wrap="square" lIns="0" tIns="0" rIns="0" bIns="0" rtlCol="0" anchor="ctr"/>
          <a:lstStyle/>
          <a:p>
            <a:pPr indent="0" marL="0">
              <a:lnSpc>
                <a:spcPts val="3944"/>
              </a:lnSpc>
              <a:buNone/>
            </a:pPr>
            <a:r>
              <a:rPr lang="en-US" sz="3400" b="1" dirty="0">
                <a:solidFill>
                  <a:srgbClr val="FFFFFF"/>
                </a:solidFill>
                <a:latin typeface="Public Sans" pitchFamily="34" charset="0"/>
                <a:ea typeface="Public Sans" pitchFamily="34" charset="-122"/>
                <a:cs typeface="Public Sans" pitchFamily="34" charset="-120"/>
              </a:rPr>
              <a:t>Twenty minutes, four steps</a:t>
            </a:r>
            <a:endParaRPr lang="en-US" sz="3400" dirty="0"/>
          </a:p>
        </p:txBody>
      </p:sp>
      <p:sp>
        <p:nvSpPr>
          <p:cNvPr id="5" name="Text 2"/>
          <p:cNvSpPr txBox="1"/>
          <p:nvPr/>
        </p:nvSpPr>
        <p:spPr>
          <a:xfrm>
            <a:off x="777240" y="1783080"/>
            <a:ext cx="10637215" cy="566928"/>
          </a:xfrm>
          <a:prstGeom prst="rect">
            <a:avLst/>
          </a:prstGeom>
          <a:noFill/>
          <a:ln/>
        </p:spPr>
        <p:txBody>
          <a:bodyPr wrap="square" lIns="0" tIns="0" rIns="0" bIns="0" rtlCol="0" anchor="ctr"/>
          <a:lstStyle/>
          <a:p>
            <a:pPr indent="0" marL="0">
              <a:lnSpc>
                <a:spcPts val="2100"/>
              </a:lnSpc>
              <a:buNone/>
            </a:pPr>
            <a:r>
              <a:rPr lang="en-US" sz="1500" dirty="0">
                <a:solidFill>
                  <a:srgbClr val="A8ADBA"/>
                </a:solidFill>
                <a:latin typeface="Public Sans" pitchFamily="34" charset="0"/>
                <a:ea typeface="Public Sans" pitchFamily="34" charset="-122"/>
                <a:cs typeface="Public Sans" pitchFamily="34" charset="-120"/>
              </a:rPr>
              <a:t>None of these is a command. All four are things you say or click.</a:t>
            </a:r>
            <a:endParaRPr lang="en-US" sz="1500" dirty="0"/>
          </a:p>
        </p:txBody>
      </p:sp>
      <p:sp>
        <p:nvSpPr>
          <p:cNvPr id="6" name="Shape 3"/>
          <p:cNvSpPr/>
          <p:nvPr/>
        </p:nvSpPr>
        <p:spPr>
          <a:xfrm>
            <a:off x="777240" y="2697480"/>
            <a:ext cx="457200" cy="457200"/>
          </a:xfrm>
          <a:prstGeom prst="ellipse">
            <a:avLst/>
          </a:prstGeom>
          <a:solidFill>
            <a:srgbClr val="7367F0"/>
          </a:solidFill>
          <a:ln/>
        </p:spPr>
      </p:sp>
      <p:sp>
        <p:nvSpPr>
          <p:cNvPr id="7" name="Text 4"/>
          <p:cNvSpPr txBox="1"/>
          <p:nvPr/>
        </p:nvSpPr>
        <p:spPr>
          <a:xfrm>
            <a:off x="777240" y="2697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Public Sans" pitchFamily="34" charset="0"/>
                <a:ea typeface="Public Sans" pitchFamily="34" charset="-122"/>
                <a:cs typeface="Public Sans" pitchFamily="34" charset="-120"/>
              </a:rPr>
              <a:t>1</a:t>
            </a:r>
            <a:endParaRPr lang="en-US" sz="1600" dirty="0"/>
          </a:p>
        </p:txBody>
      </p:sp>
      <p:sp>
        <p:nvSpPr>
          <p:cNvPr id="8" name="Text 5"/>
          <p:cNvSpPr txBox="1"/>
          <p:nvPr/>
        </p:nvSpPr>
        <p:spPr>
          <a:xfrm>
            <a:off x="1508760" y="2587752"/>
            <a:ext cx="4572000" cy="676656"/>
          </a:xfrm>
          <a:prstGeom prst="rect">
            <a:avLst/>
          </a:prstGeom>
          <a:noFill/>
          <a:ln/>
        </p:spPr>
        <p:txBody>
          <a:bodyPr wrap="square" lIns="0" tIns="0" rIns="0" bIns="0" rtlCol="0" anchor="ctr"/>
          <a:lstStyle/>
          <a:p>
            <a:pPr indent="0" marL="0">
              <a:lnSpc>
                <a:spcPts val="2100"/>
              </a:lnSpc>
              <a:buNone/>
            </a:pPr>
            <a:r>
              <a:rPr lang="en-US" sz="1600" b="1" dirty="0">
                <a:solidFill>
                  <a:srgbClr val="FFFFFF"/>
                </a:solidFill>
                <a:latin typeface="Public Sans" pitchFamily="34" charset="0"/>
                <a:ea typeface="Public Sans" pitchFamily="34" charset="-122"/>
                <a:cs typeface="Public Sans" pitchFamily="34" charset="-120"/>
              </a:rPr>
              <a:t>Make a folder</a:t>
            </a:r>
            <a:endParaRPr lang="en-US" sz="1600" dirty="0"/>
          </a:p>
        </p:txBody>
      </p:sp>
      <p:sp>
        <p:nvSpPr>
          <p:cNvPr id="9" name="Text 6"/>
          <p:cNvSpPr txBox="1"/>
          <p:nvPr/>
        </p:nvSpPr>
        <p:spPr>
          <a:xfrm>
            <a:off x="6263640" y="2587752"/>
            <a:ext cx="5120640" cy="676656"/>
          </a:xfrm>
          <a:prstGeom prst="rect">
            <a:avLst/>
          </a:prstGeom>
          <a:noFill/>
          <a:ln/>
        </p:spPr>
        <p:txBody>
          <a:bodyPr wrap="square" lIns="0" tIns="0" rIns="0" bIns="0" rtlCol="0" anchor="ctr"/>
          <a:lstStyle/>
          <a:p>
            <a:pPr indent="0" marL="0">
              <a:lnSpc>
                <a:spcPts val="1800"/>
              </a:lnSpc>
              <a:buNone/>
            </a:pPr>
            <a:r>
              <a:rPr lang="en-US" sz="1300" dirty="0">
                <a:solidFill>
                  <a:srgbClr val="A8ADBA"/>
                </a:solidFill>
                <a:latin typeface="Public Sans" pitchFamily="34" charset="0"/>
                <a:ea typeface="Public Sans" pitchFamily="34" charset="-122"/>
                <a:cs typeface="Public Sans" pitchFamily="34" charset="-120"/>
              </a:rPr>
              <a:t>Anywhere. Name it after your company. Empty is correct.</a:t>
            </a:r>
            <a:endParaRPr lang="en-US" sz="1300" dirty="0"/>
          </a:p>
        </p:txBody>
      </p:sp>
      <p:sp>
        <p:nvSpPr>
          <p:cNvPr id="10" name="Shape 7"/>
          <p:cNvSpPr/>
          <p:nvPr/>
        </p:nvSpPr>
        <p:spPr>
          <a:xfrm>
            <a:off x="777240" y="3630168"/>
            <a:ext cx="457200" cy="457200"/>
          </a:xfrm>
          <a:prstGeom prst="ellipse">
            <a:avLst/>
          </a:prstGeom>
          <a:solidFill>
            <a:srgbClr val="7367F0"/>
          </a:solidFill>
          <a:ln/>
        </p:spPr>
      </p:sp>
      <p:sp>
        <p:nvSpPr>
          <p:cNvPr id="11" name="Text 8"/>
          <p:cNvSpPr txBox="1"/>
          <p:nvPr/>
        </p:nvSpPr>
        <p:spPr>
          <a:xfrm>
            <a:off x="777240" y="363016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Public Sans" pitchFamily="34" charset="0"/>
                <a:ea typeface="Public Sans" pitchFamily="34" charset="-122"/>
                <a:cs typeface="Public Sans" pitchFamily="34" charset="-120"/>
              </a:rPr>
              <a:t>2</a:t>
            </a:r>
            <a:endParaRPr lang="en-US" sz="1600" dirty="0"/>
          </a:p>
        </p:txBody>
      </p:sp>
      <p:sp>
        <p:nvSpPr>
          <p:cNvPr id="12" name="Text 9"/>
          <p:cNvSpPr txBox="1"/>
          <p:nvPr/>
        </p:nvSpPr>
        <p:spPr>
          <a:xfrm>
            <a:off x="1508760" y="3520440"/>
            <a:ext cx="4572000" cy="676656"/>
          </a:xfrm>
          <a:prstGeom prst="rect">
            <a:avLst/>
          </a:prstGeom>
          <a:noFill/>
          <a:ln/>
        </p:spPr>
        <p:txBody>
          <a:bodyPr wrap="square" lIns="0" tIns="0" rIns="0" bIns="0" rtlCol="0" anchor="ctr"/>
          <a:lstStyle/>
          <a:p>
            <a:pPr indent="0" marL="0">
              <a:lnSpc>
                <a:spcPts val="2100"/>
              </a:lnSpc>
              <a:buNone/>
            </a:pPr>
            <a:r>
              <a:rPr lang="en-US" sz="1600" b="1" dirty="0">
                <a:solidFill>
                  <a:srgbClr val="FFFFFF"/>
                </a:solidFill>
                <a:latin typeface="Public Sans" pitchFamily="34" charset="0"/>
                <a:ea typeface="Public Sans" pitchFamily="34" charset="-122"/>
                <a:cs typeface="Public Sans" pitchFamily="34" charset="-120"/>
              </a:rPr>
              <a:t>Make a project in Claude, and connect the folder</a:t>
            </a:r>
            <a:endParaRPr lang="en-US" sz="1600" dirty="0"/>
          </a:p>
        </p:txBody>
      </p:sp>
      <p:sp>
        <p:nvSpPr>
          <p:cNvPr id="13" name="Text 10"/>
          <p:cNvSpPr txBox="1"/>
          <p:nvPr/>
        </p:nvSpPr>
        <p:spPr>
          <a:xfrm>
            <a:off x="6263640" y="3520440"/>
            <a:ext cx="5120640" cy="676656"/>
          </a:xfrm>
          <a:prstGeom prst="rect">
            <a:avLst/>
          </a:prstGeom>
          <a:noFill/>
          <a:ln/>
        </p:spPr>
        <p:txBody>
          <a:bodyPr wrap="square" lIns="0" tIns="0" rIns="0" bIns="0" rtlCol="0" anchor="ctr"/>
          <a:lstStyle/>
          <a:p>
            <a:pPr indent="0" marL="0">
              <a:lnSpc>
                <a:spcPts val="1800"/>
              </a:lnSpc>
              <a:buNone/>
            </a:pPr>
            <a:r>
              <a:rPr lang="en-US" sz="1300" dirty="0">
                <a:solidFill>
                  <a:srgbClr val="A8ADBA"/>
                </a:solidFill>
                <a:latin typeface="Public Sans" pitchFamily="34" charset="0"/>
                <a:ea typeface="Public Sans" pitchFamily="34" charset="-122"/>
                <a:cs typeface="Public Sans" pitchFamily="34" charset="-120"/>
              </a:rPr>
              <a:t>A project remembers. Next week starts where today ended instead of starting from nothing.</a:t>
            </a:r>
            <a:endParaRPr lang="en-US" sz="1300" dirty="0"/>
          </a:p>
        </p:txBody>
      </p:sp>
      <p:sp>
        <p:nvSpPr>
          <p:cNvPr id="14" name="Shape 11"/>
          <p:cNvSpPr/>
          <p:nvPr/>
        </p:nvSpPr>
        <p:spPr>
          <a:xfrm>
            <a:off x="777240" y="4562856"/>
            <a:ext cx="457200" cy="457200"/>
          </a:xfrm>
          <a:prstGeom prst="ellipse">
            <a:avLst/>
          </a:prstGeom>
          <a:solidFill>
            <a:srgbClr val="7367F0"/>
          </a:solidFill>
          <a:ln/>
        </p:spPr>
      </p:sp>
      <p:sp>
        <p:nvSpPr>
          <p:cNvPr id="15" name="Text 12"/>
          <p:cNvSpPr txBox="1"/>
          <p:nvPr/>
        </p:nvSpPr>
        <p:spPr>
          <a:xfrm>
            <a:off x="777240" y="456285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Public Sans" pitchFamily="34" charset="0"/>
                <a:ea typeface="Public Sans" pitchFamily="34" charset="-122"/>
                <a:cs typeface="Public Sans" pitchFamily="34" charset="-120"/>
              </a:rPr>
              <a:t>3</a:t>
            </a:r>
            <a:endParaRPr lang="en-US" sz="1600" dirty="0"/>
          </a:p>
        </p:txBody>
      </p:sp>
      <p:sp>
        <p:nvSpPr>
          <p:cNvPr id="16" name="Text 13"/>
          <p:cNvSpPr txBox="1"/>
          <p:nvPr/>
        </p:nvSpPr>
        <p:spPr>
          <a:xfrm>
            <a:off x="1508760" y="4453128"/>
            <a:ext cx="4572000" cy="676656"/>
          </a:xfrm>
          <a:prstGeom prst="rect">
            <a:avLst/>
          </a:prstGeom>
          <a:noFill/>
          <a:ln/>
        </p:spPr>
        <p:txBody>
          <a:bodyPr wrap="square" lIns="0" tIns="0" rIns="0" bIns="0" rtlCol="0" anchor="ctr"/>
          <a:lstStyle/>
          <a:p>
            <a:pPr indent="0" marL="0">
              <a:lnSpc>
                <a:spcPts val="2100"/>
              </a:lnSpc>
              <a:buNone/>
            </a:pPr>
            <a:r>
              <a:rPr lang="en-US" sz="1600" b="1" dirty="0">
                <a:solidFill>
                  <a:srgbClr val="FFFFFF"/>
                </a:solidFill>
                <a:latin typeface="Public Sans" pitchFamily="34" charset="0"/>
                <a:ea typeface="Public Sans" pitchFamily="34" charset="-122"/>
                <a:cs typeface="Public Sans" pitchFamily="34" charset="-120"/>
              </a:rPr>
              <a:t>Ask for the setup, in one sentence</a:t>
            </a:r>
            <a:endParaRPr lang="en-US" sz="1600" dirty="0"/>
          </a:p>
        </p:txBody>
      </p:sp>
      <p:sp>
        <p:nvSpPr>
          <p:cNvPr id="17" name="Text 14"/>
          <p:cNvSpPr txBox="1"/>
          <p:nvPr/>
        </p:nvSpPr>
        <p:spPr>
          <a:xfrm>
            <a:off x="6263640" y="4453128"/>
            <a:ext cx="5120640" cy="676656"/>
          </a:xfrm>
          <a:prstGeom prst="rect">
            <a:avLst/>
          </a:prstGeom>
          <a:noFill/>
          <a:ln/>
        </p:spPr>
        <p:txBody>
          <a:bodyPr wrap="square" lIns="0" tIns="0" rIns="0" bIns="0" rtlCol="0" anchor="ctr"/>
          <a:lstStyle/>
          <a:p>
            <a:pPr indent="0" marL="0">
              <a:lnSpc>
                <a:spcPts val="1800"/>
              </a:lnSpc>
              <a:buNone/>
            </a:pPr>
            <a:r>
              <a:rPr lang="en-US" sz="1300" dirty="0">
                <a:solidFill>
                  <a:srgbClr val="A8ADBA"/>
                </a:solidFill>
                <a:latin typeface="Public Sans" pitchFamily="34" charset="0"/>
                <a:ea typeface="Public Sans" pitchFamily="34" charset="-122"/>
                <a:cs typeface="Public Sans" pitchFamily="34" charset="-120"/>
              </a:rPr>
              <a:t>It pulls the framework, installs it and runs the check. About a minute.</a:t>
            </a:r>
            <a:endParaRPr lang="en-US" sz="1300" dirty="0"/>
          </a:p>
        </p:txBody>
      </p:sp>
      <p:sp>
        <p:nvSpPr>
          <p:cNvPr id="18" name="Shape 15"/>
          <p:cNvSpPr/>
          <p:nvPr/>
        </p:nvSpPr>
        <p:spPr>
          <a:xfrm>
            <a:off x="777240" y="5495544"/>
            <a:ext cx="457200" cy="457200"/>
          </a:xfrm>
          <a:prstGeom prst="ellipse">
            <a:avLst/>
          </a:prstGeom>
          <a:solidFill>
            <a:srgbClr val="7367F0"/>
          </a:solidFill>
          <a:ln/>
        </p:spPr>
      </p:sp>
      <p:sp>
        <p:nvSpPr>
          <p:cNvPr id="19" name="Text 16"/>
          <p:cNvSpPr txBox="1"/>
          <p:nvPr/>
        </p:nvSpPr>
        <p:spPr>
          <a:xfrm>
            <a:off x="777240" y="549554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Public Sans" pitchFamily="34" charset="0"/>
                <a:ea typeface="Public Sans" pitchFamily="34" charset="-122"/>
                <a:cs typeface="Public Sans" pitchFamily="34" charset="-120"/>
              </a:rPr>
              <a:t>4</a:t>
            </a:r>
            <a:endParaRPr lang="en-US" sz="1600" dirty="0"/>
          </a:p>
        </p:txBody>
      </p:sp>
      <p:sp>
        <p:nvSpPr>
          <p:cNvPr id="20" name="Text 17"/>
          <p:cNvSpPr txBox="1"/>
          <p:nvPr/>
        </p:nvSpPr>
        <p:spPr>
          <a:xfrm>
            <a:off x="1508760" y="5385816"/>
            <a:ext cx="4572000" cy="676656"/>
          </a:xfrm>
          <a:prstGeom prst="rect">
            <a:avLst/>
          </a:prstGeom>
          <a:noFill/>
          <a:ln/>
        </p:spPr>
        <p:txBody>
          <a:bodyPr wrap="square" lIns="0" tIns="0" rIns="0" bIns="0" rtlCol="0" anchor="ctr"/>
          <a:lstStyle/>
          <a:p>
            <a:pPr indent="0" marL="0">
              <a:lnSpc>
                <a:spcPts val="2100"/>
              </a:lnSpc>
              <a:buNone/>
            </a:pPr>
            <a:r>
              <a:rPr lang="en-US" sz="1600" b="1" dirty="0">
                <a:solidFill>
                  <a:srgbClr val="FFFFFF"/>
                </a:solidFill>
                <a:latin typeface="Public Sans" pitchFamily="34" charset="0"/>
                <a:ea typeface="Public Sans" pitchFamily="34" charset="-122"/>
                <a:cs typeface="Public Sans" pitchFamily="34" charset="-120"/>
              </a:rPr>
              <a:t>Open the page it made</a:t>
            </a:r>
            <a:endParaRPr lang="en-US" sz="1600" dirty="0"/>
          </a:p>
        </p:txBody>
      </p:sp>
      <p:sp>
        <p:nvSpPr>
          <p:cNvPr id="21" name="Text 18"/>
          <p:cNvSpPr txBox="1"/>
          <p:nvPr/>
        </p:nvSpPr>
        <p:spPr>
          <a:xfrm>
            <a:off x="6263640" y="5385816"/>
            <a:ext cx="5120640" cy="676656"/>
          </a:xfrm>
          <a:prstGeom prst="rect">
            <a:avLst/>
          </a:prstGeom>
          <a:noFill/>
          <a:ln/>
        </p:spPr>
        <p:txBody>
          <a:bodyPr wrap="square" lIns="0" tIns="0" rIns="0" bIns="0" rtlCol="0" anchor="ctr"/>
          <a:lstStyle/>
          <a:p>
            <a:pPr indent="0" marL="0">
              <a:lnSpc>
                <a:spcPts val="1800"/>
              </a:lnSpc>
              <a:buNone/>
            </a:pPr>
            <a:r>
              <a:rPr lang="en-US" sz="1300" dirty="0">
                <a:solidFill>
                  <a:srgbClr val="A8ADBA"/>
                </a:solidFill>
                <a:latin typeface="Public Sans" pitchFamily="34" charset="0"/>
                <a:ea typeface="Public Sans" pitchFamily="34" charset="-122"/>
                <a:cs typeface="Public Sans" pitchFamily="34" charset="-120"/>
              </a:rPr>
              <a:t>Thirteen folders, three working agents, eight workflows, one page — and an honest report of what is missing.</a:t>
            </a:r>
            <a:endParaRPr lang="en-US" sz="1300" dirty="0"/>
          </a:p>
        </p:txBody>
      </p:sp>
      <p:sp>
        <p:nvSpPr>
          <p:cNvPr id="22" name="Text 19"/>
          <p:cNvSpPr txBox="1"/>
          <p:nvPr/>
        </p:nvSpPr>
        <p:spPr>
          <a:xfrm>
            <a:off x="777240" y="6291072"/>
            <a:ext cx="10637215" cy="274320"/>
          </a:xfrm>
          <a:prstGeom prst="rect">
            <a:avLst/>
          </a:prstGeom>
          <a:noFill/>
          <a:ln/>
        </p:spPr>
        <p:txBody>
          <a:bodyPr wrap="square" lIns="0" tIns="0" rIns="0" bIns="0" rtlCol="0" anchor="ctr"/>
          <a:lstStyle/>
          <a:p>
            <a:pPr indent="0" marL="0">
              <a:buNone/>
            </a:pPr>
            <a:r>
              <a:rPr lang="en-US" sz="950" spc="100" kern="0" dirty="0">
                <a:solidFill>
                  <a:srgbClr val="6E7482"/>
                </a:solidFill>
                <a:latin typeface="Courier New" pitchFamily="34" charset="0"/>
                <a:ea typeface="Courier New" pitchFamily="34" charset="-122"/>
                <a:cs typeface="Courier New" pitchFamily="34" charset="-120"/>
              </a:rPr>
              <a:t>06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5171F"/>
        </a:solidFill>
      </p:bgPr>
    </p:bg>
    <p:spTree>
      <p:nvGrpSpPr>
        <p:cNvPr id="1" name=""/>
        <p:cNvGrpSpPr/>
        <p:nvPr/>
      </p:nvGrpSpPr>
      <p:grpSpPr>
        <a:xfrm>
          <a:off x="0" y="0"/>
          <a:ext cx="0" cy="0"/>
          <a:chOff x="0" y="0"/>
          <a:chExt cx="0" cy="0"/>
        </a:xfrm>
      </p:grpSpPr>
      <p:sp>
        <p:nvSpPr>
          <p:cNvPr id="2" name="Text 0"/>
          <p:cNvSpPr txBox="1"/>
          <p:nvPr/>
        </p:nvSpPr>
        <p:spPr>
          <a:xfrm>
            <a:off x="777240" y="420624"/>
            <a:ext cx="7315200" cy="274320"/>
          </a:xfrm>
          <a:prstGeom prst="rect">
            <a:avLst/>
          </a:prstGeom>
          <a:noFill/>
          <a:ln/>
        </p:spPr>
        <p:txBody>
          <a:bodyPr wrap="square" lIns="0" tIns="0" rIns="0" bIns="0" rtlCol="0" anchor="ctr"/>
          <a:lstStyle/>
          <a:p>
            <a:pPr indent="0" marL="0">
              <a:buNone/>
            </a:pPr>
            <a:r>
              <a:rPr lang="en-US" sz="1100" spc="200" kern="0" dirty="0">
                <a:solidFill>
                  <a:srgbClr val="A59CFF"/>
                </a:solidFill>
                <a:latin typeface="Courier New" pitchFamily="34" charset="0"/>
                <a:ea typeface="Courier New" pitchFamily="34" charset="-122"/>
                <a:cs typeface="Courier New" pitchFamily="34" charset="-120"/>
              </a:rPr>
              <a:t>STEP THREE, IN FULL</a:t>
            </a:r>
            <a:endParaRPr lang="en-US" sz="1100" dirty="0"/>
          </a:p>
        </p:txBody>
      </p:sp>
      <p:pic>
        <p:nvPicPr>
          <p:cNvPr id="3" name="Image 0" descr="/tmp/claude-0/-home-claude/e62a35b1-5075-553d-b086-acebfebc41ba/scratchpad/brand/meshpro-emblem-navy.png">    </p:cNvPr>
          <p:cNvPicPr>
            <a:picLocks noChangeAspect="1"/>
          </p:cNvPicPr>
          <p:nvPr/>
        </p:nvPicPr>
        <p:blipFill>
          <a:blip r:embed="rId1"/>
          <a:stretch>
            <a:fillRect/>
          </a:stretch>
        </p:blipFill>
        <p:spPr>
          <a:xfrm>
            <a:off x="11140135" y="411480"/>
            <a:ext cx="384048" cy="374904"/>
          </a:xfrm>
          <a:prstGeom prst="rect">
            <a:avLst/>
          </a:prstGeom>
        </p:spPr>
      </p:pic>
      <p:sp>
        <p:nvSpPr>
          <p:cNvPr id="4" name="Text 1"/>
          <p:cNvSpPr txBox="1"/>
          <p:nvPr/>
        </p:nvSpPr>
        <p:spPr>
          <a:xfrm>
            <a:off x="777240" y="1051560"/>
            <a:ext cx="9144000" cy="365760"/>
          </a:xfrm>
          <a:prstGeom prst="rect">
            <a:avLst/>
          </a:prstGeom>
          <a:noFill/>
          <a:ln/>
        </p:spPr>
        <p:txBody>
          <a:bodyPr wrap="square" lIns="0" tIns="0" rIns="0" bIns="0" rtlCol="0" anchor="ctr"/>
          <a:lstStyle/>
          <a:p>
            <a:pPr indent="0" marL="0">
              <a:buNone/>
            </a:pPr>
            <a:r>
              <a:rPr lang="en-US" sz="1700" dirty="0">
                <a:solidFill>
                  <a:srgbClr val="A8ADBA"/>
                </a:solidFill>
                <a:latin typeface="Public Sans" pitchFamily="34" charset="0"/>
                <a:ea typeface="Public Sans" pitchFamily="34" charset="-122"/>
                <a:cs typeface="Public Sans" pitchFamily="34" charset="-120"/>
              </a:rPr>
              <a:t>This is the whole of the technical part:</a:t>
            </a:r>
            <a:endParaRPr lang="en-US" sz="1700" dirty="0"/>
          </a:p>
        </p:txBody>
      </p:sp>
      <p:sp>
        <p:nvSpPr>
          <p:cNvPr id="5" name="Shape 2"/>
          <p:cNvSpPr/>
          <p:nvPr/>
        </p:nvSpPr>
        <p:spPr>
          <a:xfrm>
            <a:off x="777240" y="1783080"/>
            <a:ext cx="10607040" cy="2286000"/>
          </a:xfrm>
          <a:prstGeom prst="roundRect">
            <a:avLst>
              <a:gd name="adj" fmla="val 2400"/>
            </a:avLst>
          </a:prstGeom>
          <a:solidFill>
            <a:srgbClr val="1B1D29"/>
          </a:solidFill>
          <a:ln w="19050">
            <a:solidFill>
              <a:srgbClr val="7367F0"/>
            </a:solidFill>
            <a:prstDash val="solid"/>
          </a:ln>
        </p:spPr>
      </p:sp>
      <p:sp>
        <p:nvSpPr>
          <p:cNvPr id="6" name="Text 3"/>
          <p:cNvSpPr txBox="1"/>
          <p:nvPr/>
        </p:nvSpPr>
        <p:spPr>
          <a:xfrm>
            <a:off x="1280160" y="2057400"/>
            <a:ext cx="9692640" cy="1737360"/>
          </a:xfrm>
          <a:prstGeom prst="rect">
            <a:avLst/>
          </a:prstGeom>
          <a:noFill/>
          <a:ln/>
        </p:spPr>
        <p:txBody>
          <a:bodyPr wrap="square" lIns="0" tIns="0" rIns="0" bIns="0" rtlCol="0" anchor="ctr"/>
          <a:lstStyle/>
          <a:p>
            <a:pPr indent="0" marL="0">
              <a:lnSpc>
                <a:spcPts val="3800"/>
              </a:lnSpc>
              <a:buNone/>
            </a:pPr>
            <a:r>
              <a:rPr lang="en-US" sz="2300" b="1" dirty="0">
                <a:solidFill>
                  <a:srgbClr val="FFFFFF"/>
                </a:solidFill>
                <a:latin typeface="Public Sans" pitchFamily="34" charset="0"/>
                <a:ea typeface="Public Sans" pitchFamily="34" charset="-122"/>
                <a:cs typeface="Public Sans" pitchFamily="34" charset="-120"/>
              </a:rPr>
              <a:t>Set up the AI Operations Framework in my connected folder.</a:t>
            </a:r>
            <a:endParaRPr lang="en-US" sz="2300" dirty="0"/>
          </a:p>
          <a:p>
            <a:pPr indent="0" marL="0">
              <a:lnSpc>
                <a:spcPts val="3800"/>
              </a:lnSpc>
              <a:buNone/>
            </a:pPr>
            <a:r>
              <a:rPr lang="en-US" sz="2300" b="1" dirty="0">
                <a:solidFill>
                  <a:srgbClr val="FFFFFF"/>
                </a:solidFill>
                <a:latin typeface="Public Sans" pitchFamily="34" charset="0"/>
                <a:ea typeface="Public Sans" pitchFamily="34" charset="-122"/>
                <a:cs typeface="Public Sans" pitchFamily="34" charset="-120"/>
              </a:rPr>
              <a:t>Pull it from the repository and run the install, then tell me</a:t>
            </a:r>
            <a:endParaRPr lang="en-US" sz="2300" dirty="0"/>
          </a:p>
          <a:p>
            <a:pPr indent="0" marL="0">
              <a:lnSpc>
                <a:spcPts val="3800"/>
              </a:lnSpc>
              <a:buNone/>
            </a:pPr>
            <a:r>
              <a:rPr lang="en-US" sz="2300" b="1" dirty="0">
                <a:solidFill>
                  <a:srgbClr val="FFFFFF"/>
                </a:solidFill>
                <a:latin typeface="Public Sans" pitchFamily="34" charset="0"/>
                <a:ea typeface="Public Sans" pitchFamily="34" charset="-122"/>
                <a:cs typeface="Public Sans" pitchFamily="34" charset="-120"/>
              </a:rPr>
              <a:t>what it made.</a:t>
            </a:r>
            <a:endParaRPr lang="en-US" sz="2300" dirty="0"/>
          </a:p>
        </p:txBody>
      </p:sp>
      <p:sp>
        <p:nvSpPr>
          <p:cNvPr id="7" name="Text 4"/>
          <p:cNvSpPr txBox="1"/>
          <p:nvPr/>
        </p:nvSpPr>
        <p:spPr>
          <a:xfrm>
            <a:off x="777240" y="4434840"/>
            <a:ext cx="10058400" cy="731520"/>
          </a:xfrm>
          <a:prstGeom prst="rect">
            <a:avLst/>
          </a:prstGeom>
          <a:noFill/>
          <a:ln/>
        </p:spPr>
        <p:txBody>
          <a:bodyPr wrap="square" lIns="0" tIns="0" rIns="0" bIns="0" rtlCol="0" anchor="ctr"/>
          <a:lstStyle/>
          <a:p>
            <a:pPr indent="0" marL="0">
              <a:lnSpc>
                <a:spcPts val="2200"/>
              </a:lnSpc>
              <a:buNone/>
            </a:pPr>
            <a:r>
              <a:rPr lang="en-US" sz="1500" dirty="0">
                <a:solidFill>
                  <a:srgbClr val="A8ADBA"/>
                </a:solidFill>
                <a:latin typeface="Public Sans" pitchFamily="34" charset="0"/>
                <a:ea typeface="Public Sans" pitchFamily="34" charset="-122"/>
                <a:cs typeface="Public Sans" pitchFamily="34" charset="-120"/>
              </a:rPr>
              <a:t>Or your own words. It is read for intent, not matched against a format — if a session ever answers you with syntax to type, that session is wrong.</a:t>
            </a:r>
            <a:endParaRPr lang="en-US" sz="1500" dirty="0"/>
          </a:p>
        </p:txBody>
      </p:sp>
      <p:sp>
        <p:nvSpPr>
          <p:cNvPr id="8" name="Text 5"/>
          <p:cNvSpPr txBox="1"/>
          <p:nvPr/>
        </p:nvSpPr>
        <p:spPr>
          <a:xfrm>
            <a:off x="777240" y="6291072"/>
            <a:ext cx="10637215" cy="274320"/>
          </a:xfrm>
          <a:prstGeom prst="rect">
            <a:avLst/>
          </a:prstGeom>
          <a:noFill/>
          <a:ln/>
        </p:spPr>
        <p:txBody>
          <a:bodyPr wrap="square" lIns="0" tIns="0" rIns="0" bIns="0" rtlCol="0" anchor="ctr"/>
          <a:lstStyle/>
          <a:p>
            <a:pPr indent="0" marL="0">
              <a:buNone/>
            </a:pPr>
            <a:r>
              <a:rPr lang="en-US" sz="950" spc="100" kern="0" dirty="0">
                <a:solidFill>
                  <a:srgbClr val="6E7482"/>
                </a:solidFill>
                <a:latin typeface="Courier New" pitchFamily="34" charset="0"/>
                <a:ea typeface="Courier New" pitchFamily="34" charset="-122"/>
                <a:cs typeface="Courier New" pitchFamily="34" charset="-120"/>
              </a:rPr>
              <a:t>07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420624"/>
            <a:ext cx="7315200" cy="274320"/>
          </a:xfrm>
          <a:prstGeom prst="rect">
            <a:avLst/>
          </a:prstGeom>
          <a:noFill/>
          <a:ln/>
        </p:spPr>
        <p:txBody>
          <a:bodyPr wrap="square" lIns="0" tIns="0" rIns="0" bIns="0" rtlCol="0" anchor="ctr"/>
          <a:lstStyle/>
          <a:p>
            <a:pPr indent="0" marL="0">
              <a:buNone/>
            </a:pPr>
            <a:r>
              <a:rPr lang="en-US" sz="1100" spc="200" kern="0" dirty="0">
                <a:solidFill>
                  <a:srgbClr val="7367F0"/>
                </a:solidFill>
                <a:latin typeface="Courier New" pitchFamily="34" charset="0"/>
                <a:ea typeface="Courier New" pitchFamily="34" charset="-122"/>
                <a:cs typeface="Courier New" pitchFamily="34" charset="-120"/>
              </a:rPr>
              <a:t>THE FIRST REAL STEP</a:t>
            </a:r>
            <a:endParaRPr lang="en-US" sz="1100" dirty="0"/>
          </a:p>
        </p:txBody>
      </p:sp>
      <p:pic>
        <p:nvPicPr>
          <p:cNvPr id="3" name="Image 0" descr="/tmp/claude-0/-home-claude/e62a35b1-5075-553d-b086-acebfebc41ba/scratchpad/brand/meshpro-emblem-white.png">    </p:cNvPr>
          <p:cNvPicPr>
            <a:picLocks noChangeAspect="1"/>
          </p:cNvPicPr>
          <p:nvPr/>
        </p:nvPicPr>
        <p:blipFill>
          <a:blip r:embed="rId1"/>
          <a:stretch>
            <a:fillRect/>
          </a:stretch>
        </p:blipFill>
        <p:spPr>
          <a:xfrm>
            <a:off x="11140135" y="411480"/>
            <a:ext cx="384048" cy="374904"/>
          </a:xfrm>
          <a:prstGeom prst="rect">
            <a:avLst/>
          </a:prstGeom>
        </p:spPr>
      </p:pic>
      <p:sp>
        <p:nvSpPr>
          <p:cNvPr id="4" name="Text 1"/>
          <p:cNvSpPr txBox="1"/>
          <p:nvPr/>
        </p:nvSpPr>
        <p:spPr>
          <a:xfrm>
            <a:off x="777240" y="868680"/>
            <a:ext cx="9951415" cy="914400"/>
          </a:xfrm>
          <a:prstGeom prst="rect">
            <a:avLst/>
          </a:prstGeom>
          <a:noFill/>
          <a:ln/>
        </p:spPr>
        <p:txBody>
          <a:bodyPr wrap="square" lIns="0" tIns="0" rIns="0" bIns="0" rtlCol="0" anchor="ctr"/>
          <a:lstStyle/>
          <a:p>
            <a:pPr indent="0" marL="0">
              <a:lnSpc>
                <a:spcPts val="3944"/>
              </a:lnSpc>
              <a:buNone/>
            </a:pPr>
            <a:r>
              <a:rPr lang="en-US" sz="3400" b="1" dirty="0">
                <a:solidFill>
                  <a:srgbClr val="15171F"/>
                </a:solidFill>
                <a:latin typeface="Public Sans" pitchFamily="34" charset="0"/>
                <a:ea typeface="Public Sans" pitchFamily="34" charset="-122"/>
                <a:cs typeface="Public Sans" pitchFamily="34" charset="-120"/>
              </a:rPr>
              <a:t>Name your departments before anything else</a:t>
            </a:r>
            <a:endParaRPr lang="en-US" sz="3400" dirty="0"/>
          </a:p>
        </p:txBody>
      </p:sp>
      <p:sp>
        <p:nvSpPr>
          <p:cNvPr id="5" name="Text 2"/>
          <p:cNvSpPr txBox="1"/>
          <p:nvPr/>
        </p:nvSpPr>
        <p:spPr>
          <a:xfrm>
            <a:off x="777240" y="1783080"/>
            <a:ext cx="10637215" cy="566928"/>
          </a:xfrm>
          <a:prstGeom prst="rect">
            <a:avLst/>
          </a:prstGeom>
          <a:noFill/>
          <a:ln/>
        </p:spPr>
        <p:txBody>
          <a:bodyPr wrap="square" lIns="0" tIns="0" rIns="0" bIns="0" rtlCol="0" anchor="ctr"/>
          <a:lstStyle/>
          <a:p>
            <a:pPr indent="0" marL="0">
              <a:lnSpc>
                <a:spcPts val="2100"/>
              </a:lnSpc>
              <a:buNone/>
            </a:pPr>
            <a:r>
              <a:rPr lang="en-US" sz="1500" dirty="0">
                <a:solidFill>
                  <a:srgbClr val="5B6270"/>
                </a:solidFill>
                <a:latin typeface="Public Sans" pitchFamily="34" charset="0"/>
                <a:ea typeface="Public Sans" pitchFamily="34" charset="-122"/>
                <a:cs typeface="Public Sans" pitchFamily="34" charset="-120"/>
              </a:rPr>
              <a:t>Not because it is tidy. Because everything else needs an owner, and a department is where owners come from.</a:t>
            </a:r>
            <a:endParaRPr lang="en-US" sz="1500" dirty="0"/>
          </a:p>
        </p:txBody>
      </p:sp>
      <p:sp>
        <p:nvSpPr>
          <p:cNvPr id="6" name="Shape 3"/>
          <p:cNvSpPr/>
          <p:nvPr/>
        </p:nvSpPr>
        <p:spPr>
          <a:xfrm>
            <a:off x="777240" y="2743200"/>
            <a:ext cx="5029200" cy="2514600"/>
          </a:xfrm>
          <a:prstGeom prst="roundRect">
            <a:avLst>
              <a:gd name="adj" fmla="val 2182"/>
            </a:avLst>
          </a:prstGeom>
          <a:solidFill>
            <a:srgbClr val="F4F5F8"/>
          </a:solidFill>
          <a:ln w="12700">
            <a:solidFill>
              <a:srgbClr val="E4E6EC"/>
            </a:solidFill>
            <a:prstDash val="solid"/>
          </a:ln>
        </p:spPr>
      </p:sp>
      <p:sp>
        <p:nvSpPr>
          <p:cNvPr id="7" name="Text 4"/>
          <p:cNvSpPr txBox="1"/>
          <p:nvPr/>
        </p:nvSpPr>
        <p:spPr>
          <a:xfrm>
            <a:off x="1051560" y="3017520"/>
            <a:ext cx="4480560" cy="384048"/>
          </a:xfrm>
          <a:prstGeom prst="rect">
            <a:avLst/>
          </a:prstGeom>
          <a:noFill/>
          <a:ln/>
        </p:spPr>
        <p:txBody>
          <a:bodyPr wrap="square" lIns="0" tIns="0" rIns="0" bIns="0" rtlCol="0" anchor="ctr"/>
          <a:lstStyle/>
          <a:p>
            <a:pPr indent="0" marL="0">
              <a:lnSpc>
                <a:spcPts val="2040"/>
              </a:lnSpc>
              <a:buNone/>
            </a:pPr>
            <a:r>
              <a:rPr lang="en-US" sz="1700" b="1" dirty="0">
                <a:solidFill>
                  <a:srgbClr val="15171F"/>
                </a:solidFill>
                <a:latin typeface="Public Sans" pitchFamily="34" charset="0"/>
                <a:ea typeface="Public Sans" pitchFamily="34" charset="-122"/>
                <a:cs typeface="Public Sans" pitchFamily="34" charset="-120"/>
              </a:rPr>
              <a:t>Three to six. Not twelve.</a:t>
            </a:r>
            <a:endParaRPr lang="en-US" sz="1700" dirty="0"/>
          </a:p>
        </p:txBody>
      </p:sp>
      <p:sp>
        <p:nvSpPr>
          <p:cNvPr id="8" name="Text 5"/>
          <p:cNvSpPr txBox="1"/>
          <p:nvPr/>
        </p:nvSpPr>
        <p:spPr>
          <a:xfrm>
            <a:off x="1051560" y="3474720"/>
            <a:ext cx="4480560" cy="1563624"/>
          </a:xfrm>
          <a:prstGeom prst="rect">
            <a:avLst/>
          </a:prstGeom>
          <a:noFill/>
          <a:ln/>
        </p:spPr>
        <p:txBody>
          <a:bodyPr wrap="square" lIns="0" tIns="0" rIns="0" bIns="0" rtlCol="0" anchor="t"/>
          <a:lstStyle/>
          <a:p>
            <a:pPr indent="0" marL="0">
              <a:lnSpc>
                <a:spcPts val="1846"/>
              </a:lnSpc>
              <a:buNone/>
            </a:pPr>
            <a:r>
              <a:rPr lang="en-US" sz="1300" dirty="0">
                <a:solidFill>
                  <a:srgbClr val="5B6270"/>
                </a:solidFill>
                <a:latin typeface="Public Sans" pitchFamily="34" charset="0"/>
                <a:ea typeface="Public Sans" pitchFamily="34" charset="-122"/>
                <a:cs typeface="Public Sans" pitchFamily="34" charset="-120"/>
              </a:rPr>
              <a:t>Say them out loud, in your own words — sales, delivery, the money stuff, the client stuff. If two of them would never disagree about anything, they are one department.</a:t>
            </a:r>
            <a:endParaRPr lang="en-US" sz="1300" dirty="0"/>
          </a:p>
          <a:p>
            <a:pPr indent="0" marL="0">
              <a:lnSpc>
                <a:spcPts val="1846"/>
              </a:lnSpc>
              <a:buNone/>
            </a:pPr>
            <a:endParaRPr lang="en-US" sz="1300" dirty="0"/>
          </a:p>
          <a:p>
            <a:pPr indent="0" marL="0">
              <a:lnSpc>
                <a:spcPts val="1846"/>
              </a:lnSpc>
              <a:buNone/>
            </a:pPr>
            <a:r>
              <a:rPr lang="en-US" sz="1300" dirty="0">
                <a:solidFill>
                  <a:srgbClr val="5B6270"/>
                </a:solidFill>
                <a:latin typeface="Public Sans" pitchFamily="34" charset="0"/>
                <a:ea typeface="Public Sans" pitchFamily="34" charset="-122"/>
                <a:cs typeface="Public Sans" pitchFamily="34" charset="-120"/>
              </a:rPr>
              <a:t>The same person can be behind several. The department is the unit of accountability, not of headcount.</a:t>
            </a:r>
            <a:endParaRPr lang="en-US" sz="1300" dirty="0"/>
          </a:p>
        </p:txBody>
      </p:sp>
      <p:sp>
        <p:nvSpPr>
          <p:cNvPr id="9" name="Shape 6"/>
          <p:cNvSpPr/>
          <p:nvPr/>
        </p:nvSpPr>
        <p:spPr>
          <a:xfrm>
            <a:off x="6172200" y="2743200"/>
            <a:ext cx="5029200" cy="2514600"/>
          </a:xfrm>
          <a:prstGeom prst="roundRect">
            <a:avLst>
              <a:gd name="adj" fmla="val 2182"/>
            </a:avLst>
          </a:prstGeom>
          <a:solidFill>
            <a:srgbClr val="F4F5F8"/>
          </a:solidFill>
          <a:ln w="12700">
            <a:solidFill>
              <a:srgbClr val="E4E6EC"/>
            </a:solidFill>
            <a:prstDash val="solid"/>
          </a:ln>
        </p:spPr>
      </p:sp>
      <p:sp>
        <p:nvSpPr>
          <p:cNvPr id="10" name="Text 7"/>
          <p:cNvSpPr txBox="1"/>
          <p:nvPr/>
        </p:nvSpPr>
        <p:spPr>
          <a:xfrm>
            <a:off x="6446520" y="3017520"/>
            <a:ext cx="4480560" cy="384048"/>
          </a:xfrm>
          <a:prstGeom prst="rect">
            <a:avLst/>
          </a:prstGeom>
          <a:noFill/>
          <a:ln/>
        </p:spPr>
        <p:txBody>
          <a:bodyPr wrap="square" lIns="0" tIns="0" rIns="0" bIns="0" rtlCol="0" anchor="ctr"/>
          <a:lstStyle/>
          <a:p>
            <a:pPr indent="0" marL="0">
              <a:lnSpc>
                <a:spcPts val="2040"/>
              </a:lnSpc>
              <a:buNone/>
            </a:pPr>
            <a:r>
              <a:rPr lang="en-US" sz="1700" b="1" dirty="0">
                <a:solidFill>
                  <a:srgbClr val="15171F"/>
                </a:solidFill>
                <a:latin typeface="Public Sans" pitchFamily="34" charset="0"/>
                <a:ea typeface="Public Sans" pitchFamily="34" charset="-122"/>
                <a:cs typeface="Public Sans" pitchFamily="34" charset="-120"/>
              </a:rPr>
              <a:t>Write down what each one does not own</a:t>
            </a:r>
            <a:endParaRPr lang="en-US" sz="1700" dirty="0"/>
          </a:p>
        </p:txBody>
      </p:sp>
      <p:sp>
        <p:nvSpPr>
          <p:cNvPr id="11" name="Text 8"/>
          <p:cNvSpPr txBox="1"/>
          <p:nvPr/>
        </p:nvSpPr>
        <p:spPr>
          <a:xfrm>
            <a:off x="6446520" y="3474720"/>
            <a:ext cx="4480560" cy="1563624"/>
          </a:xfrm>
          <a:prstGeom prst="rect">
            <a:avLst/>
          </a:prstGeom>
          <a:noFill/>
          <a:ln/>
        </p:spPr>
        <p:txBody>
          <a:bodyPr wrap="square" lIns="0" tIns="0" rIns="0" bIns="0" rtlCol="0" anchor="t"/>
          <a:lstStyle/>
          <a:p>
            <a:pPr indent="0" marL="0">
              <a:lnSpc>
                <a:spcPts val="1846"/>
              </a:lnSpc>
              <a:buNone/>
            </a:pPr>
            <a:r>
              <a:rPr lang="en-US" sz="1300" dirty="0">
                <a:solidFill>
                  <a:srgbClr val="5B6270"/>
                </a:solidFill>
                <a:latin typeface="Public Sans" pitchFamily="34" charset="0"/>
                <a:ea typeface="Public Sans" pitchFamily="34" charset="-122"/>
                <a:cs typeface="Public Sans" pitchFamily="34" charset="-120"/>
              </a:rPr>
              <a:t>The argument about where something belongs is cheaper now than in six months. Each department names the work people will assume is its and is not.</a:t>
            </a:r>
            <a:endParaRPr lang="en-US" sz="1300" dirty="0"/>
          </a:p>
          <a:p>
            <a:pPr indent="0" marL="0">
              <a:lnSpc>
                <a:spcPts val="1846"/>
              </a:lnSpc>
              <a:buNone/>
            </a:pPr>
            <a:endParaRPr lang="en-US" sz="1300" dirty="0"/>
          </a:p>
          <a:p>
            <a:pPr indent="0" marL="0">
              <a:lnSpc>
                <a:spcPts val="1846"/>
              </a:lnSpc>
              <a:buNone/>
            </a:pPr>
            <a:r>
              <a:rPr lang="en-US" sz="1300" dirty="0">
                <a:solidFill>
                  <a:srgbClr val="5B6270"/>
                </a:solidFill>
                <a:latin typeface="Public Sans" pitchFamily="34" charset="0"/>
                <a:ea typeface="Public Sans" pitchFamily="34" charset="-122"/>
                <a:cs typeface="Public Sans" pitchFamily="34" charset="-120"/>
              </a:rPr>
              <a:t>One department, one executive. With two, each assumes the other answered.</a:t>
            </a:r>
            <a:endParaRPr lang="en-US" sz="1300" dirty="0"/>
          </a:p>
        </p:txBody>
      </p:sp>
      <p:sp>
        <p:nvSpPr>
          <p:cNvPr id="12" name="Text 9"/>
          <p:cNvSpPr txBox="1"/>
          <p:nvPr/>
        </p:nvSpPr>
        <p:spPr>
          <a:xfrm>
            <a:off x="777240" y="6291072"/>
            <a:ext cx="10637215" cy="274320"/>
          </a:xfrm>
          <a:prstGeom prst="rect">
            <a:avLst/>
          </a:prstGeom>
          <a:noFill/>
          <a:ln/>
        </p:spPr>
        <p:txBody>
          <a:bodyPr wrap="square" lIns="0" tIns="0" rIns="0" bIns="0" rtlCol="0" anchor="ctr"/>
          <a:lstStyle/>
          <a:p>
            <a:pPr indent="0" marL="0">
              <a:buNone/>
            </a:pPr>
            <a:r>
              <a:rPr lang="en-US" sz="950" spc="100" kern="0" dirty="0">
                <a:solidFill>
                  <a:srgbClr val="9198A6"/>
                </a:solidFill>
                <a:latin typeface="Courier New" pitchFamily="34" charset="0"/>
                <a:ea typeface="Courier New" pitchFamily="34" charset="-122"/>
                <a:cs typeface="Courier New" pitchFamily="34" charset="-120"/>
              </a:rPr>
              <a:t>08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420624"/>
            <a:ext cx="7315200" cy="274320"/>
          </a:xfrm>
          <a:prstGeom prst="rect">
            <a:avLst/>
          </a:prstGeom>
          <a:noFill/>
          <a:ln/>
        </p:spPr>
        <p:txBody>
          <a:bodyPr wrap="square" lIns="0" tIns="0" rIns="0" bIns="0" rtlCol="0" anchor="ctr"/>
          <a:lstStyle/>
          <a:p>
            <a:pPr indent="0" marL="0">
              <a:buNone/>
            </a:pPr>
            <a:r>
              <a:rPr lang="en-US" sz="1100" spc="200" kern="0" dirty="0">
                <a:solidFill>
                  <a:srgbClr val="7367F0"/>
                </a:solidFill>
                <a:latin typeface="Courier New" pitchFamily="34" charset="0"/>
                <a:ea typeface="Courier New" pitchFamily="34" charset="-122"/>
                <a:cs typeface="Courier New" pitchFamily="34" charset="-120"/>
              </a:rPr>
              <a:t>WHAT THAT GIVES YOU</a:t>
            </a:r>
            <a:endParaRPr lang="en-US" sz="1100" dirty="0"/>
          </a:p>
        </p:txBody>
      </p:sp>
      <p:pic>
        <p:nvPicPr>
          <p:cNvPr id="3" name="Image 0" descr="/tmp/claude-0/-home-claude/e62a35b1-5075-553d-b086-acebfebc41ba/scratchpad/brand/meshpro-emblem-white.png">    </p:cNvPr>
          <p:cNvPicPr>
            <a:picLocks noChangeAspect="1"/>
          </p:cNvPicPr>
          <p:nvPr/>
        </p:nvPicPr>
        <p:blipFill>
          <a:blip r:embed="rId1"/>
          <a:stretch>
            <a:fillRect/>
          </a:stretch>
        </p:blipFill>
        <p:spPr>
          <a:xfrm>
            <a:off x="11140135" y="411480"/>
            <a:ext cx="384048" cy="374904"/>
          </a:xfrm>
          <a:prstGeom prst="rect">
            <a:avLst/>
          </a:prstGeom>
        </p:spPr>
      </p:pic>
      <p:sp>
        <p:nvSpPr>
          <p:cNvPr id="4" name="Text 1"/>
          <p:cNvSpPr txBox="1"/>
          <p:nvPr/>
        </p:nvSpPr>
        <p:spPr>
          <a:xfrm>
            <a:off x="777240" y="868680"/>
            <a:ext cx="9951415" cy="914400"/>
          </a:xfrm>
          <a:prstGeom prst="rect">
            <a:avLst/>
          </a:prstGeom>
          <a:noFill/>
          <a:ln/>
        </p:spPr>
        <p:txBody>
          <a:bodyPr wrap="square" lIns="0" tIns="0" rIns="0" bIns="0" rtlCol="0" anchor="ctr"/>
          <a:lstStyle/>
          <a:p>
            <a:pPr indent="0" marL="0">
              <a:lnSpc>
                <a:spcPts val="3944"/>
              </a:lnSpc>
              <a:buNone/>
            </a:pPr>
            <a:r>
              <a:rPr lang="en-US" sz="3400" b="1" dirty="0">
                <a:solidFill>
                  <a:srgbClr val="15171F"/>
                </a:solidFill>
                <a:latin typeface="Public Sans" pitchFamily="34" charset="0"/>
                <a:ea typeface="Public Sans" pitchFamily="34" charset="-122"/>
                <a:cs typeface="Public Sans" pitchFamily="34" charset="-120"/>
              </a:rPr>
              <a:t>An executive layer that can do work</a:t>
            </a:r>
            <a:endParaRPr lang="en-US" sz="3400" dirty="0"/>
          </a:p>
        </p:txBody>
      </p:sp>
      <p:sp>
        <p:nvSpPr>
          <p:cNvPr id="5" name="Text 2"/>
          <p:cNvSpPr txBox="1"/>
          <p:nvPr/>
        </p:nvSpPr>
        <p:spPr>
          <a:xfrm>
            <a:off x="777240" y="1783080"/>
            <a:ext cx="10637215" cy="566928"/>
          </a:xfrm>
          <a:prstGeom prst="rect">
            <a:avLst/>
          </a:prstGeom>
          <a:noFill/>
          <a:ln/>
        </p:spPr>
        <p:txBody>
          <a:bodyPr wrap="square" lIns="0" tIns="0" rIns="0" bIns="0" rtlCol="0" anchor="ctr"/>
          <a:lstStyle/>
          <a:p>
            <a:pPr indent="0" marL="0">
              <a:lnSpc>
                <a:spcPts val="2100"/>
              </a:lnSpc>
              <a:buNone/>
            </a:pPr>
            <a:r>
              <a:rPr lang="en-US" sz="1500" dirty="0">
                <a:solidFill>
                  <a:srgbClr val="5B6270"/>
                </a:solidFill>
                <a:latin typeface="Public Sans" pitchFamily="34" charset="0"/>
                <a:ea typeface="Public Sans" pitchFamily="34" charset="-122"/>
                <a:cs typeface="Public Sans" pitchFamily="34" charset="-120"/>
              </a:rPr>
              <a:t>Each department note compiles into an agent that answers for that department and nothing else. Adding one later is the same sentence again.</a:t>
            </a:r>
            <a:endParaRPr lang="en-US" sz="1500" dirty="0"/>
          </a:p>
        </p:txBody>
      </p:sp>
      <p:sp>
        <p:nvSpPr>
          <p:cNvPr id="6" name="Shape 3"/>
          <p:cNvSpPr/>
          <p:nvPr/>
        </p:nvSpPr>
        <p:spPr>
          <a:xfrm>
            <a:off x="4678528" y="2514600"/>
            <a:ext cx="2834640" cy="603504"/>
          </a:xfrm>
          <a:prstGeom prst="roundRect">
            <a:avLst>
              <a:gd name="adj" fmla="val 12121"/>
            </a:avLst>
          </a:prstGeom>
          <a:solidFill>
            <a:srgbClr val="15171F"/>
          </a:solidFill>
          <a:ln/>
        </p:spPr>
      </p:sp>
      <p:sp>
        <p:nvSpPr>
          <p:cNvPr id="7" name="Text 4"/>
          <p:cNvSpPr txBox="1"/>
          <p:nvPr/>
        </p:nvSpPr>
        <p:spPr>
          <a:xfrm>
            <a:off x="4678528" y="2514600"/>
            <a:ext cx="2834640" cy="603504"/>
          </a:xfrm>
          <a:prstGeom prst="rect">
            <a:avLst/>
          </a:prstGeom>
          <a:noFill/>
          <a:ln/>
        </p:spPr>
        <p:txBody>
          <a:bodyPr wrap="square" lIns="0" tIns="0" rIns="0" bIns="0" rtlCol="0" anchor="ctr"/>
          <a:lstStyle/>
          <a:p>
            <a:pPr algn="ctr" indent="0" marL="0">
              <a:buNone/>
            </a:pPr>
            <a:r>
              <a:rPr lang="en-US" sz="1500" b="1" dirty="0">
                <a:solidFill>
                  <a:srgbClr val="FFFFFF"/>
                </a:solidFill>
                <a:latin typeface="Public Sans" pitchFamily="34" charset="0"/>
                <a:ea typeface="Public Sans" pitchFamily="34" charset="-122"/>
                <a:cs typeface="Public Sans" pitchFamily="34" charset="-120"/>
              </a:rPr>
              <a:t>You</a:t>
            </a:r>
            <a:endParaRPr lang="en-US" sz="1500" dirty="0"/>
          </a:p>
        </p:txBody>
      </p:sp>
      <p:sp>
        <p:nvSpPr>
          <p:cNvPr id="8" name="Shape 5"/>
          <p:cNvSpPr/>
          <p:nvPr/>
        </p:nvSpPr>
        <p:spPr>
          <a:xfrm>
            <a:off x="4678528" y="3401568"/>
            <a:ext cx="2834640" cy="603504"/>
          </a:xfrm>
          <a:prstGeom prst="roundRect">
            <a:avLst>
              <a:gd name="adj" fmla="val 12121"/>
            </a:avLst>
          </a:prstGeom>
          <a:solidFill>
            <a:srgbClr val="7367F0"/>
          </a:solidFill>
          <a:ln/>
        </p:spPr>
      </p:sp>
      <p:sp>
        <p:nvSpPr>
          <p:cNvPr id="9" name="Text 6"/>
          <p:cNvSpPr txBox="1"/>
          <p:nvPr/>
        </p:nvSpPr>
        <p:spPr>
          <a:xfrm>
            <a:off x="4678528" y="3401568"/>
            <a:ext cx="2834640" cy="603504"/>
          </a:xfrm>
          <a:prstGeom prst="rect">
            <a:avLst/>
          </a:prstGeom>
          <a:noFill/>
          <a:ln/>
        </p:spPr>
        <p:txBody>
          <a:bodyPr wrap="square" lIns="0" tIns="0" rIns="0" bIns="0" rtlCol="0" anchor="ctr"/>
          <a:lstStyle/>
          <a:p>
            <a:pPr algn="ctr" indent="0" marL="0">
              <a:buNone/>
            </a:pPr>
            <a:r>
              <a:rPr lang="en-US" sz="1500" b="1" dirty="0">
                <a:solidFill>
                  <a:srgbClr val="FFFFFF"/>
                </a:solidFill>
                <a:latin typeface="Public Sans" pitchFamily="34" charset="0"/>
                <a:ea typeface="Public Sans" pitchFamily="34" charset="-122"/>
                <a:cs typeface="Public Sans" pitchFamily="34" charset="-120"/>
              </a:rPr>
              <a:t>Chief of Staff</a:t>
            </a:r>
            <a:endParaRPr lang="en-US" sz="1500" dirty="0"/>
          </a:p>
        </p:txBody>
      </p:sp>
      <p:sp>
        <p:nvSpPr>
          <p:cNvPr id="10" name="Shape 7"/>
          <p:cNvSpPr/>
          <p:nvPr/>
        </p:nvSpPr>
        <p:spPr>
          <a:xfrm>
            <a:off x="6084418" y="3118104"/>
            <a:ext cx="22860" cy="283464"/>
          </a:xfrm>
          <a:prstGeom prst="rect">
            <a:avLst/>
          </a:prstGeom>
          <a:solidFill>
            <a:srgbClr val="C9CDD6"/>
          </a:solidFill>
          <a:ln/>
        </p:spPr>
      </p:sp>
      <p:sp>
        <p:nvSpPr>
          <p:cNvPr id="11" name="Shape 8"/>
          <p:cNvSpPr/>
          <p:nvPr/>
        </p:nvSpPr>
        <p:spPr>
          <a:xfrm>
            <a:off x="6084418" y="4005072"/>
            <a:ext cx="22860" cy="310896"/>
          </a:xfrm>
          <a:prstGeom prst="rect">
            <a:avLst/>
          </a:prstGeom>
          <a:solidFill>
            <a:srgbClr val="C9CDD6"/>
          </a:solidFill>
          <a:ln/>
        </p:spPr>
      </p:sp>
      <p:sp>
        <p:nvSpPr>
          <p:cNvPr id="12" name="Shape 9"/>
          <p:cNvSpPr/>
          <p:nvPr/>
        </p:nvSpPr>
        <p:spPr>
          <a:xfrm>
            <a:off x="1798168" y="4306824"/>
            <a:ext cx="8595360" cy="22860"/>
          </a:xfrm>
          <a:prstGeom prst="rect">
            <a:avLst/>
          </a:prstGeom>
          <a:solidFill>
            <a:srgbClr val="C9CDD6"/>
          </a:solidFill>
          <a:ln/>
        </p:spPr>
      </p:sp>
      <p:sp>
        <p:nvSpPr>
          <p:cNvPr id="13" name="Shape 10"/>
          <p:cNvSpPr/>
          <p:nvPr/>
        </p:nvSpPr>
        <p:spPr>
          <a:xfrm>
            <a:off x="1786738" y="4306824"/>
            <a:ext cx="22860" cy="283464"/>
          </a:xfrm>
          <a:prstGeom prst="rect">
            <a:avLst/>
          </a:prstGeom>
          <a:solidFill>
            <a:srgbClr val="C9CDD6"/>
          </a:solidFill>
          <a:ln/>
        </p:spPr>
      </p:sp>
      <p:sp>
        <p:nvSpPr>
          <p:cNvPr id="14" name="Shape 11"/>
          <p:cNvSpPr/>
          <p:nvPr/>
        </p:nvSpPr>
        <p:spPr>
          <a:xfrm>
            <a:off x="860908" y="4590288"/>
            <a:ext cx="1874520" cy="822960"/>
          </a:xfrm>
          <a:prstGeom prst="roundRect">
            <a:avLst>
              <a:gd name="adj" fmla="val 8889"/>
            </a:avLst>
          </a:prstGeom>
          <a:solidFill>
            <a:srgbClr val="F4F5F8"/>
          </a:solidFill>
          <a:ln w="17780">
            <a:solidFill>
              <a:srgbClr val="C4BDFF"/>
            </a:solidFill>
            <a:prstDash val="solid"/>
          </a:ln>
        </p:spPr>
      </p:sp>
      <p:sp>
        <p:nvSpPr>
          <p:cNvPr id="15" name="Text 12"/>
          <p:cNvSpPr txBox="1"/>
          <p:nvPr/>
        </p:nvSpPr>
        <p:spPr>
          <a:xfrm>
            <a:off x="860908" y="4590288"/>
            <a:ext cx="1874520" cy="822960"/>
          </a:xfrm>
          <a:prstGeom prst="rect">
            <a:avLst/>
          </a:prstGeom>
          <a:noFill/>
          <a:ln/>
        </p:spPr>
        <p:txBody>
          <a:bodyPr wrap="square" lIns="0" tIns="0" rIns="0" bIns="0" rtlCol="0" anchor="ctr"/>
          <a:lstStyle/>
          <a:p>
            <a:pPr algn="ctr" indent="0" marL="0">
              <a:lnSpc>
                <a:spcPts val="1700"/>
              </a:lnSpc>
              <a:buNone/>
            </a:pPr>
            <a:r>
              <a:rPr lang="en-US" sz="1350" b="1" dirty="0">
                <a:solidFill>
                  <a:srgbClr val="15171F"/>
                </a:solidFill>
                <a:latin typeface="Public Sans" pitchFamily="34" charset="0"/>
                <a:ea typeface="Public Sans" pitchFamily="34" charset="-122"/>
                <a:cs typeface="Public Sans" pitchFamily="34" charset="-120"/>
              </a:rPr>
              <a:t>Sales</a:t>
            </a:r>
            <a:endParaRPr lang="en-US" sz="1350" dirty="0"/>
          </a:p>
        </p:txBody>
      </p:sp>
      <p:sp>
        <p:nvSpPr>
          <p:cNvPr id="16" name="Shape 13"/>
          <p:cNvSpPr/>
          <p:nvPr/>
        </p:nvSpPr>
        <p:spPr>
          <a:xfrm>
            <a:off x="3935578" y="4306824"/>
            <a:ext cx="22860" cy="283464"/>
          </a:xfrm>
          <a:prstGeom prst="rect">
            <a:avLst/>
          </a:prstGeom>
          <a:solidFill>
            <a:srgbClr val="C9CDD6"/>
          </a:solidFill>
          <a:ln/>
        </p:spPr>
      </p:sp>
      <p:sp>
        <p:nvSpPr>
          <p:cNvPr id="17" name="Shape 14"/>
          <p:cNvSpPr/>
          <p:nvPr/>
        </p:nvSpPr>
        <p:spPr>
          <a:xfrm>
            <a:off x="3009748" y="4590288"/>
            <a:ext cx="1874520" cy="822960"/>
          </a:xfrm>
          <a:prstGeom prst="roundRect">
            <a:avLst>
              <a:gd name="adj" fmla="val 8889"/>
            </a:avLst>
          </a:prstGeom>
          <a:solidFill>
            <a:srgbClr val="F4F5F8"/>
          </a:solidFill>
          <a:ln w="17780">
            <a:solidFill>
              <a:srgbClr val="C4BDFF"/>
            </a:solidFill>
            <a:prstDash val="solid"/>
          </a:ln>
        </p:spPr>
      </p:sp>
      <p:sp>
        <p:nvSpPr>
          <p:cNvPr id="18" name="Text 15"/>
          <p:cNvSpPr txBox="1"/>
          <p:nvPr/>
        </p:nvSpPr>
        <p:spPr>
          <a:xfrm>
            <a:off x="3009748" y="4590288"/>
            <a:ext cx="1874520" cy="822960"/>
          </a:xfrm>
          <a:prstGeom prst="rect">
            <a:avLst/>
          </a:prstGeom>
          <a:noFill/>
          <a:ln/>
        </p:spPr>
        <p:txBody>
          <a:bodyPr wrap="square" lIns="0" tIns="0" rIns="0" bIns="0" rtlCol="0" anchor="ctr"/>
          <a:lstStyle/>
          <a:p>
            <a:pPr algn="ctr" indent="0" marL="0">
              <a:lnSpc>
                <a:spcPts val="1700"/>
              </a:lnSpc>
              <a:buNone/>
            </a:pPr>
            <a:r>
              <a:rPr lang="en-US" sz="1350" b="1" dirty="0">
                <a:solidFill>
                  <a:srgbClr val="15171F"/>
                </a:solidFill>
                <a:latin typeface="Public Sans" pitchFamily="34" charset="0"/>
                <a:ea typeface="Public Sans" pitchFamily="34" charset="-122"/>
                <a:cs typeface="Public Sans" pitchFamily="34" charset="-120"/>
              </a:rPr>
              <a:t>Delivery</a:t>
            </a:r>
            <a:endParaRPr lang="en-US" sz="1350" dirty="0"/>
          </a:p>
        </p:txBody>
      </p:sp>
      <p:sp>
        <p:nvSpPr>
          <p:cNvPr id="19" name="Shape 16"/>
          <p:cNvSpPr/>
          <p:nvPr/>
        </p:nvSpPr>
        <p:spPr>
          <a:xfrm>
            <a:off x="6084418" y="4306824"/>
            <a:ext cx="22860" cy="283464"/>
          </a:xfrm>
          <a:prstGeom prst="rect">
            <a:avLst/>
          </a:prstGeom>
          <a:solidFill>
            <a:srgbClr val="C9CDD6"/>
          </a:solidFill>
          <a:ln/>
        </p:spPr>
      </p:sp>
      <p:sp>
        <p:nvSpPr>
          <p:cNvPr id="20" name="Shape 17"/>
          <p:cNvSpPr/>
          <p:nvPr/>
        </p:nvSpPr>
        <p:spPr>
          <a:xfrm>
            <a:off x="5158588" y="4590288"/>
            <a:ext cx="1874520" cy="822960"/>
          </a:xfrm>
          <a:prstGeom prst="roundRect">
            <a:avLst>
              <a:gd name="adj" fmla="val 8889"/>
            </a:avLst>
          </a:prstGeom>
          <a:solidFill>
            <a:srgbClr val="F4F5F8"/>
          </a:solidFill>
          <a:ln w="17780">
            <a:solidFill>
              <a:srgbClr val="C4BDFF"/>
            </a:solidFill>
            <a:prstDash val="solid"/>
          </a:ln>
        </p:spPr>
      </p:sp>
      <p:sp>
        <p:nvSpPr>
          <p:cNvPr id="21" name="Text 18"/>
          <p:cNvSpPr txBox="1"/>
          <p:nvPr/>
        </p:nvSpPr>
        <p:spPr>
          <a:xfrm>
            <a:off x="5158588" y="4590288"/>
            <a:ext cx="1874520" cy="822960"/>
          </a:xfrm>
          <a:prstGeom prst="rect">
            <a:avLst/>
          </a:prstGeom>
          <a:noFill/>
          <a:ln/>
        </p:spPr>
        <p:txBody>
          <a:bodyPr wrap="square" lIns="0" tIns="0" rIns="0" bIns="0" rtlCol="0" anchor="ctr"/>
          <a:lstStyle/>
          <a:p>
            <a:pPr algn="ctr" indent="0" marL="0">
              <a:lnSpc>
                <a:spcPts val="1700"/>
              </a:lnSpc>
              <a:buNone/>
            </a:pPr>
            <a:r>
              <a:rPr lang="en-US" sz="1350" b="1" dirty="0">
                <a:solidFill>
                  <a:srgbClr val="15171F"/>
                </a:solidFill>
                <a:latin typeface="Public Sans" pitchFamily="34" charset="0"/>
                <a:ea typeface="Public Sans" pitchFamily="34" charset="-122"/>
                <a:cs typeface="Public Sans" pitchFamily="34" charset="-120"/>
              </a:rPr>
              <a:t>Finance</a:t>
            </a:r>
            <a:endParaRPr lang="en-US" sz="1350" dirty="0"/>
          </a:p>
        </p:txBody>
      </p:sp>
      <p:sp>
        <p:nvSpPr>
          <p:cNvPr id="22" name="Shape 19"/>
          <p:cNvSpPr/>
          <p:nvPr/>
        </p:nvSpPr>
        <p:spPr>
          <a:xfrm>
            <a:off x="8233258" y="4306824"/>
            <a:ext cx="22860" cy="283464"/>
          </a:xfrm>
          <a:prstGeom prst="rect">
            <a:avLst/>
          </a:prstGeom>
          <a:solidFill>
            <a:srgbClr val="C9CDD6"/>
          </a:solidFill>
          <a:ln/>
        </p:spPr>
      </p:sp>
      <p:sp>
        <p:nvSpPr>
          <p:cNvPr id="23" name="Shape 20"/>
          <p:cNvSpPr/>
          <p:nvPr/>
        </p:nvSpPr>
        <p:spPr>
          <a:xfrm>
            <a:off x="7307428" y="4590288"/>
            <a:ext cx="1874520" cy="822960"/>
          </a:xfrm>
          <a:prstGeom prst="roundRect">
            <a:avLst>
              <a:gd name="adj" fmla="val 8889"/>
            </a:avLst>
          </a:prstGeom>
          <a:solidFill>
            <a:srgbClr val="F4F5F8"/>
          </a:solidFill>
          <a:ln w="17780">
            <a:solidFill>
              <a:srgbClr val="C4BDFF"/>
            </a:solidFill>
            <a:prstDash val="solid"/>
          </a:ln>
        </p:spPr>
      </p:sp>
      <p:sp>
        <p:nvSpPr>
          <p:cNvPr id="24" name="Text 21"/>
          <p:cNvSpPr txBox="1"/>
          <p:nvPr/>
        </p:nvSpPr>
        <p:spPr>
          <a:xfrm>
            <a:off x="7307428" y="4590288"/>
            <a:ext cx="1874520" cy="822960"/>
          </a:xfrm>
          <a:prstGeom prst="rect">
            <a:avLst/>
          </a:prstGeom>
          <a:noFill/>
          <a:ln/>
        </p:spPr>
        <p:txBody>
          <a:bodyPr wrap="square" lIns="0" tIns="0" rIns="0" bIns="0" rtlCol="0" anchor="ctr"/>
          <a:lstStyle/>
          <a:p>
            <a:pPr algn="ctr" indent="0" marL="0">
              <a:lnSpc>
                <a:spcPts val="1700"/>
              </a:lnSpc>
              <a:buNone/>
            </a:pPr>
            <a:r>
              <a:rPr lang="en-US" sz="1350" b="1" dirty="0">
                <a:solidFill>
                  <a:srgbClr val="15171F"/>
                </a:solidFill>
                <a:latin typeface="Public Sans" pitchFamily="34" charset="0"/>
                <a:ea typeface="Public Sans" pitchFamily="34" charset="-122"/>
                <a:cs typeface="Public Sans" pitchFamily="34" charset="-120"/>
              </a:rPr>
              <a:t>Operations</a:t>
            </a:r>
            <a:endParaRPr lang="en-US" sz="1350" dirty="0"/>
          </a:p>
        </p:txBody>
      </p:sp>
      <p:sp>
        <p:nvSpPr>
          <p:cNvPr id="25" name="Shape 22"/>
          <p:cNvSpPr/>
          <p:nvPr/>
        </p:nvSpPr>
        <p:spPr>
          <a:xfrm>
            <a:off x="10382098" y="4306824"/>
            <a:ext cx="22860" cy="283464"/>
          </a:xfrm>
          <a:prstGeom prst="rect">
            <a:avLst/>
          </a:prstGeom>
          <a:solidFill>
            <a:srgbClr val="C9CDD6"/>
          </a:solidFill>
          <a:ln/>
        </p:spPr>
      </p:sp>
      <p:sp>
        <p:nvSpPr>
          <p:cNvPr id="26" name="Shape 23"/>
          <p:cNvSpPr/>
          <p:nvPr/>
        </p:nvSpPr>
        <p:spPr>
          <a:xfrm>
            <a:off x="9456268" y="4590288"/>
            <a:ext cx="1874520" cy="822960"/>
          </a:xfrm>
          <a:prstGeom prst="roundRect">
            <a:avLst>
              <a:gd name="adj" fmla="val 8889"/>
            </a:avLst>
          </a:prstGeom>
          <a:solidFill>
            <a:srgbClr val="F4F5F8"/>
          </a:solidFill>
          <a:ln w="17780">
            <a:solidFill>
              <a:srgbClr val="C4BDFF"/>
            </a:solidFill>
            <a:prstDash val="solid"/>
          </a:ln>
        </p:spPr>
      </p:sp>
      <p:sp>
        <p:nvSpPr>
          <p:cNvPr id="27" name="Text 24"/>
          <p:cNvSpPr txBox="1"/>
          <p:nvPr/>
        </p:nvSpPr>
        <p:spPr>
          <a:xfrm>
            <a:off x="9456268" y="4590288"/>
            <a:ext cx="1874520" cy="822960"/>
          </a:xfrm>
          <a:prstGeom prst="rect">
            <a:avLst/>
          </a:prstGeom>
          <a:noFill/>
          <a:ln/>
        </p:spPr>
        <p:txBody>
          <a:bodyPr wrap="square" lIns="0" tIns="0" rIns="0" bIns="0" rtlCol="0" anchor="ctr"/>
          <a:lstStyle/>
          <a:p>
            <a:pPr algn="ctr" indent="0" marL="0">
              <a:lnSpc>
                <a:spcPts val="1700"/>
              </a:lnSpc>
              <a:buNone/>
            </a:pPr>
            <a:r>
              <a:rPr lang="en-US" sz="1350" b="1" dirty="0">
                <a:solidFill>
                  <a:srgbClr val="15171F"/>
                </a:solidFill>
                <a:latin typeface="Public Sans" pitchFamily="34" charset="0"/>
                <a:ea typeface="Public Sans" pitchFamily="34" charset="-122"/>
                <a:cs typeface="Public Sans" pitchFamily="34" charset="-120"/>
              </a:rPr>
              <a:t>Workflow</a:t>
            </a:r>
            <a:endParaRPr lang="en-US" sz="1350" dirty="0"/>
          </a:p>
          <a:p>
            <a:pPr algn="ctr" indent="0" marL="0">
              <a:lnSpc>
                <a:spcPts val="1700"/>
              </a:lnSpc>
              <a:buNone/>
            </a:pPr>
            <a:r>
              <a:rPr lang="en-US" sz="1350" b="1" dirty="0">
                <a:solidFill>
                  <a:srgbClr val="15171F"/>
                </a:solidFill>
                <a:latin typeface="Public Sans" pitchFamily="34" charset="0"/>
                <a:ea typeface="Public Sans" pitchFamily="34" charset="-122"/>
                <a:cs typeface="Public Sans" pitchFamily="34" charset="-120"/>
              </a:rPr>
              <a:t>Architect</a:t>
            </a:r>
            <a:endParaRPr lang="en-US" sz="1350" dirty="0"/>
          </a:p>
        </p:txBody>
      </p:sp>
      <p:sp>
        <p:nvSpPr>
          <p:cNvPr id="28" name="Text 25"/>
          <p:cNvSpPr txBox="1"/>
          <p:nvPr/>
        </p:nvSpPr>
        <p:spPr>
          <a:xfrm>
            <a:off x="777240" y="5623560"/>
            <a:ext cx="10607040" cy="320040"/>
          </a:xfrm>
          <a:prstGeom prst="rect">
            <a:avLst/>
          </a:prstGeom>
          <a:noFill/>
          <a:ln/>
        </p:spPr>
        <p:txBody>
          <a:bodyPr wrap="square" lIns="0" tIns="0" rIns="0" bIns="0" rtlCol="0" anchor="ctr"/>
          <a:lstStyle/>
          <a:p>
            <a:pPr algn="ctr" indent="0" marL="0">
              <a:buNone/>
            </a:pPr>
            <a:r>
              <a:rPr lang="en-US" sz="1000" spc="100" kern="0" dirty="0">
                <a:solidFill>
                  <a:srgbClr val="5B6270"/>
                </a:solidFill>
                <a:latin typeface="Courier New" pitchFamily="34" charset="0"/>
                <a:ea typeface="Courier New" pitchFamily="34" charset="-122"/>
                <a:cs typeface="Courier New" pitchFamily="34" charset="-120"/>
              </a:rPr>
              <a:t>One executive per department  ·  one architect across all of them</a:t>
            </a:r>
            <a:endParaRPr lang="en-US" sz="1000" dirty="0"/>
          </a:p>
        </p:txBody>
      </p:sp>
      <p:sp>
        <p:nvSpPr>
          <p:cNvPr id="29" name="Text 26"/>
          <p:cNvSpPr txBox="1"/>
          <p:nvPr/>
        </p:nvSpPr>
        <p:spPr>
          <a:xfrm>
            <a:off x="777240" y="6291072"/>
            <a:ext cx="10637215" cy="274320"/>
          </a:xfrm>
          <a:prstGeom prst="rect">
            <a:avLst/>
          </a:prstGeom>
          <a:noFill/>
          <a:ln/>
        </p:spPr>
        <p:txBody>
          <a:bodyPr wrap="square" lIns="0" tIns="0" rIns="0" bIns="0" rtlCol="0" anchor="ctr"/>
          <a:lstStyle/>
          <a:p>
            <a:pPr indent="0" marL="0">
              <a:buNone/>
            </a:pPr>
            <a:r>
              <a:rPr lang="en-US" sz="950" spc="100" kern="0" dirty="0">
                <a:solidFill>
                  <a:srgbClr val="9198A6"/>
                </a:solidFill>
                <a:latin typeface="Courier New" pitchFamily="34" charset="0"/>
                <a:ea typeface="Courier New" pitchFamily="34" charset="-122"/>
                <a:cs typeface="Courier New" pitchFamily="34" charset="-120"/>
              </a:rPr>
              <a:t>09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420624"/>
            <a:ext cx="7315200" cy="274320"/>
          </a:xfrm>
          <a:prstGeom prst="rect">
            <a:avLst/>
          </a:prstGeom>
          <a:noFill/>
          <a:ln/>
        </p:spPr>
        <p:txBody>
          <a:bodyPr wrap="square" lIns="0" tIns="0" rIns="0" bIns="0" rtlCol="0" anchor="ctr"/>
          <a:lstStyle/>
          <a:p>
            <a:pPr indent="0" marL="0">
              <a:buNone/>
            </a:pPr>
            <a:r>
              <a:rPr lang="en-US" sz="1100" spc="200" kern="0" dirty="0">
                <a:solidFill>
                  <a:srgbClr val="7367F0"/>
                </a:solidFill>
                <a:latin typeface="Courier New" pitchFamily="34" charset="0"/>
                <a:ea typeface="Courier New" pitchFamily="34" charset="-122"/>
                <a:cs typeface="Courier New" pitchFamily="34" charset="-120"/>
              </a:rPr>
              <a:t>THEN, ONE AT A TIME</a:t>
            </a:r>
            <a:endParaRPr lang="en-US" sz="1100" dirty="0"/>
          </a:p>
        </p:txBody>
      </p:sp>
      <p:pic>
        <p:nvPicPr>
          <p:cNvPr id="3" name="Image 0" descr="/tmp/claude-0/-home-claude/e62a35b1-5075-553d-b086-acebfebc41ba/scratchpad/brand/meshpro-emblem-white.png">    </p:cNvPr>
          <p:cNvPicPr>
            <a:picLocks noChangeAspect="1"/>
          </p:cNvPicPr>
          <p:nvPr/>
        </p:nvPicPr>
        <p:blipFill>
          <a:blip r:embed="rId1"/>
          <a:stretch>
            <a:fillRect/>
          </a:stretch>
        </p:blipFill>
        <p:spPr>
          <a:xfrm>
            <a:off x="11140135" y="411480"/>
            <a:ext cx="384048" cy="374904"/>
          </a:xfrm>
          <a:prstGeom prst="rect">
            <a:avLst/>
          </a:prstGeom>
        </p:spPr>
      </p:pic>
      <p:sp>
        <p:nvSpPr>
          <p:cNvPr id="4" name="Text 1"/>
          <p:cNvSpPr txBox="1"/>
          <p:nvPr/>
        </p:nvSpPr>
        <p:spPr>
          <a:xfrm>
            <a:off x="777240" y="868680"/>
            <a:ext cx="9951415" cy="914400"/>
          </a:xfrm>
          <a:prstGeom prst="rect">
            <a:avLst/>
          </a:prstGeom>
          <a:noFill/>
          <a:ln/>
        </p:spPr>
        <p:txBody>
          <a:bodyPr wrap="square" lIns="0" tIns="0" rIns="0" bIns="0" rtlCol="0" anchor="ctr"/>
          <a:lstStyle/>
          <a:p>
            <a:pPr indent="0" marL="0">
              <a:lnSpc>
                <a:spcPts val="3944"/>
              </a:lnSpc>
              <a:buNone/>
            </a:pPr>
            <a:r>
              <a:rPr lang="en-US" sz="3400" b="1" dirty="0">
                <a:solidFill>
                  <a:srgbClr val="15171F"/>
                </a:solidFill>
                <a:latin typeface="Public Sans" pitchFamily="34" charset="0"/>
                <a:ea typeface="Public Sans" pitchFamily="34" charset="-122"/>
                <a:cs typeface="Public Sans" pitchFamily="34" charset="-120"/>
              </a:rPr>
              <a:t>Write down the process that annoys you most</a:t>
            </a:r>
            <a:endParaRPr lang="en-US" sz="3400" dirty="0"/>
          </a:p>
        </p:txBody>
      </p:sp>
      <p:sp>
        <p:nvSpPr>
          <p:cNvPr id="5" name="Text 2"/>
          <p:cNvSpPr txBox="1"/>
          <p:nvPr/>
        </p:nvSpPr>
        <p:spPr>
          <a:xfrm>
            <a:off x="777240" y="1783080"/>
            <a:ext cx="10637215" cy="566928"/>
          </a:xfrm>
          <a:prstGeom prst="rect">
            <a:avLst/>
          </a:prstGeom>
          <a:noFill/>
          <a:ln/>
        </p:spPr>
        <p:txBody>
          <a:bodyPr wrap="square" lIns="0" tIns="0" rIns="0" bIns="0" rtlCol="0" anchor="ctr"/>
          <a:lstStyle/>
          <a:p>
            <a:pPr indent="0" marL="0">
              <a:lnSpc>
                <a:spcPts val="2100"/>
              </a:lnSpc>
              <a:buNone/>
            </a:pPr>
            <a:r>
              <a:rPr lang="en-US" sz="1500" dirty="0">
                <a:solidFill>
                  <a:srgbClr val="5B6270"/>
                </a:solidFill>
                <a:latin typeface="Public Sans" pitchFamily="34" charset="0"/>
                <a:ea typeface="Public Sans" pitchFamily="34" charset="-122"/>
                <a:cs typeface="Public Sans" pitchFamily="34" charset="-120"/>
              </a:rPr>
              <a:t>Not the most important one. The one that goes wrong most often — because that is the one people will check you on.</a:t>
            </a:r>
            <a:endParaRPr lang="en-US" sz="1500" dirty="0"/>
          </a:p>
        </p:txBody>
      </p:sp>
      <p:sp>
        <p:nvSpPr>
          <p:cNvPr id="6" name="Shape 3"/>
          <p:cNvSpPr/>
          <p:nvPr/>
        </p:nvSpPr>
        <p:spPr>
          <a:xfrm>
            <a:off x="777240" y="2743200"/>
            <a:ext cx="5029200" cy="2514600"/>
          </a:xfrm>
          <a:prstGeom prst="roundRect">
            <a:avLst>
              <a:gd name="adj" fmla="val 2182"/>
            </a:avLst>
          </a:prstGeom>
          <a:solidFill>
            <a:srgbClr val="F4F5F8"/>
          </a:solidFill>
          <a:ln w="12700">
            <a:solidFill>
              <a:srgbClr val="E4E6EC"/>
            </a:solidFill>
            <a:prstDash val="solid"/>
          </a:ln>
        </p:spPr>
      </p:sp>
      <p:sp>
        <p:nvSpPr>
          <p:cNvPr id="7" name="Text 4"/>
          <p:cNvSpPr txBox="1"/>
          <p:nvPr/>
        </p:nvSpPr>
        <p:spPr>
          <a:xfrm>
            <a:off x="1051560" y="3017520"/>
            <a:ext cx="4480560" cy="384048"/>
          </a:xfrm>
          <a:prstGeom prst="rect">
            <a:avLst/>
          </a:prstGeom>
          <a:noFill/>
          <a:ln/>
        </p:spPr>
        <p:txBody>
          <a:bodyPr wrap="square" lIns="0" tIns="0" rIns="0" bIns="0" rtlCol="0" anchor="ctr"/>
          <a:lstStyle/>
          <a:p>
            <a:pPr indent="0" marL="0">
              <a:lnSpc>
                <a:spcPts val="2040"/>
              </a:lnSpc>
              <a:buNone/>
            </a:pPr>
            <a:r>
              <a:rPr lang="en-US" sz="1700" b="1" dirty="0">
                <a:solidFill>
                  <a:srgbClr val="15171F"/>
                </a:solidFill>
                <a:latin typeface="Public Sans" pitchFamily="34" charset="0"/>
                <a:ea typeface="Public Sans" pitchFamily="34" charset="-122"/>
                <a:cs typeface="Public Sans" pitchFamily="34" charset="-120"/>
              </a:rPr>
              <a:t>It asks you the awkward questions</a:t>
            </a:r>
            <a:endParaRPr lang="en-US" sz="1700" dirty="0"/>
          </a:p>
        </p:txBody>
      </p:sp>
      <p:sp>
        <p:nvSpPr>
          <p:cNvPr id="8" name="Text 5"/>
          <p:cNvSpPr txBox="1"/>
          <p:nvPr/>
        </p:nvSpPr>
        <p:spPr>
          <a:xfrm>
            <a:off x="1051560" y="3474720"/>
            <a:ext cx="4480560" cy="1563624"/>
          </a:xfrm>
          <a:prstGeom prst="rect">
            <a:avLst/>
          </a:prstGeom>
          <a:noFill/>
          <a:ln/>
        </p:spPr>
        <p:txBody>
          <a:bodyPr wrap="square" lIns="0" tIns="0" rIns="0" bIns="0" rtlCol="0" anchor="t"/>
          <a:lstStyle/>
          <a:p>
            <a:pPr indent="0" marL="0">
              <a:lnSpc>
                <a:spcPts val="1846"/>
              </a:lnSpc>
              <a:buNone/>
            </a:pPr>
            <a:r>
              <a:rPr lang="en-US" sz="1300" dirty="0">
                <a:solidFill>
                  <a:srgbClr val="5B6270"/>
                </a:solidFill>
                <a:latin typeface="Public Sans" pitchFamily="34" charset="0"/>
                <a:ea typeface="Public Sans" pitchFamily="34" charset="-122"/>
                <a:cs typeface="Public Sans" pitchFamily="34" charset="-120"/>
              </a:rPr>
              <a:t>What starts it, what "done" actually means, who owns it, and — the part nobody writes down — where it breaks and how often.</a:t>
            </a:r>
            <a:endParaRPr lang="en-US" sz="1300" dirty="0"/>
          </a:p>
          <a:p>
            <a:pPr indent="0" marL="0">
              <a:lnSpc>
                <a:spcPts val="1846"/>
              </a:lnSpc>
              <a:buNone/>
            </a:pPr>
            <a:endParaRPr lang="en-US" sz="1300" dirty="0"/>
          </a:p>
          <a:p>
            <a:pPr indent="0" marL="0">
              <a:lnSpc>
                <a:spcPts val="1846"/>
              </a:lnSpc>
              <a:buNone/>
            </a:pPr>
            <a:r>
              <a:rPr lang="en-US" sz="1300" dirty="0">
                <a:solidFill>
                  <a:srgbClr val="5B6270"/>
                </a:solidFill>
                <a:latin typeface="Public Sans" pitchFamily="34" charset="0"/>
                <a:ea typeface="Public Sans" pitchFamily="34" charset="-122"/>
                <a:cs typeface="Public Sans" pitchFamily="34" charset="-120"/>
              </a:rPr>
              <a:t>It records the mess honestly, because a workflow note that describes the tidy version is worse than none.</a:t>
            </a:r>
            <a:endParaRPr lang="en-US" sz="1300" dirty="0"/>
          </a:p>
        </p:txBody>
      </p:sp>
      <p:sp>
        <p:nvSpPr>
          <p:cNvPr id="9" name="Shape 6"/>
          <p:cNvSpPr/>
          <p:nvPr/>
        </p:nvSpPr>
        <p:spPr>
          <a:xfrm>
            <a:off x="6172200" y="2743200"/>
            <a:ext cx="5029200" cy="2514600"/>
          </a:xfrm>
          <a:prstGeom prst="roundRect">
            <a:avLst>
              <a:gd name="adj" fmla="val 2182"/>
            </a:avLst>
          </a:prstGeom>
          <a:solidFill>
            <a:srgbClr val="F4F5F8"/>
          </a:solidFill>
          <a:ln w="12700">
            <a:solidFill>
              <a:srgbClr val="E4E6EC"/>
            </a:solidFill>
            <a:prstDash val="solid"/>
          </a:ln>
        </p:spPr>
      </p:sp>
      <p:sp>
        <p:nvSpPr>
          <p:cNvPr id="10" name="Text 7"/>
          <p:cNvSpPr txBox="1"/>
          <p:nvPr/>
        </p:nvSpPr>
        <p:spPr>
          <a:xfrm>
            <a:off x="6446520" y="3017520"/>
            <a:ext cx="4480560" cy="384048"/>
          </a:xfrm>
          <a:prstGeom prst="rect">
            <a:avLst/>
          </a:prstGeom>
          <a:noFill/>
          <a:ln/>
        </p:spPr>
        <p:txBody>
          <a:bodyPr wrap="square" lIns="0" tIns="0" rIns="0" bIns="0" rtlCol="0" anchor="ctr"/>
          <a:lstStyle/>
          <a:p>
            <a:pPr indent="0" marL="0">
              <a:lnSpc>
                <a:spcPts val="2040"/>
              </a:lnSpc>
              <a:buNone/>
            </a:pPr>
            <a:r>
              <a:rPr lang="en-US" sz="1700" b="1" dirty="0">
                <a:solidFill>
                  <a:srgbClr val="15171F"/>
                </a:solidFill>
                <a:latin typeface="Public Sans" pitchFamily="34" charset="0"/>
                <a:ea typeface="Public Sans" pitchFamily="34" charset="-122"/>
                <a:cs typeface="Public Sans" pitchFamily="34" charset="-120"/>
              </a:rPr>
              <a:t>Two marks, because they fail separately</a:t>
            </a:r>
            <a:endParaRPr lang="en-US" sz="1700" dirty="0"/>
          </a:p>
        </p:txBody>
      </p:sp>
      <p:sp>
        <p:nvSpPr>
          <p:cNvPr id="11" name="Text 8"/>
          <p:cNvSpPr txBox="1"/>
          <p:nvPr/>
        </p:nvSpPr>
        <p:spPr>
          <a:xfrm>
            <a:off x="6446520" y="3474720"/>
            <a:ext cx="4480560" cy="1563624"/>
          </a:xfrm>
          <a:prstGeom prst="rect">
            <a:avLst/>
          </a:prstGeom>
          <a:noFill/>
          <a:ln/>
        </p:spPr>
        <p:txBody>
          <a:bodyPr wrap="square" lIns="0" tIns="0" rIns="0" bIns="0" rtlCol="0" anchor="t"/>
          <a:lstStyle/>
          <a:p>
            <a:pPr indent="0" marL="0">
              <a:lnSpc>
                <a:spcPts val="1846"/>
              </a:lnSpc>
              <a:buNone/>
            </a:pPr>
            <a:r>
              <a:rPr lang="en-US" sz="1300" dirty="0">
                <a:solidFill>
                  <a:srgbClr val="5B6270"/>
                </a:solidFill>
                <a:latin typeface="Public Sans" pitchFamily="34" charset="0"/>
                <a:ea typeface="Public Sans" pitchFamily="34" charset="-122"/>
                <a:cs typeface="Public Sans" pitchFamily="34" charset="-120"/>
              </a:rPr>
              <a:t>Is the note true? Only a person who has walked a real case through it may say yes.</a:t>
            </a:r>
            <a:endParaRPr lang="en-US" sz="1300" dirty="0"/>
          </a:p>
          <a:p>
            <a:pPr indent="0" marL="0">
              <a:lnSpc>
                <a:spcPts val="1846"/>
              </a:lnSpc>
              <a:buNone/>
            </a:pPr>
            <a:endParaRPr lang="en-US" sz="1300" dirty="0"/>
          </a:p>
          <a:p>
            <a:pPr indent="0" marL="0">
              <a:lnSpc>
                <a:spcPts val="1846"/>
              </a:lnSpc>
              <a:buNone/>
            </a:pPr>
            <a:r>
              <a:rPr lang="en-US" sz="1300" dirty="0">
                <a:solidFill>
                  <a:srgbClr val="5B6270"/>
                </a:solidFill>
                <a:latin typeface="Public Sans" pitchFamily="34" charset="0"/>
                <a:ea typeface="Public Sans" pitchFamily="34" charset="-122"/>
                <a:cs typeface="Public Sans" pitchFamily="34" charset="-120"/>
              </a:rPr>
              <a:t>Does the workflow run end to end? That is a different question, and a documented organisation is not a working one.</a:t>
            </a:r>
            <a:endParaRPr lang="en-US" sz="1300" dirty="0"/>
          </a:p>
        </p:txBody>
      </p:sp>
      <p:sp>
        <p:nvSpPr>
          <p:cNvPr id="12" name="Text 9"/>
          <p:cNvSpPr txBox="1"/>
          <p:nvPr/>
        </p:nvSpPr>
        <p:spPr>
          <a:xfrm>
            <a:off x="777240" y="6291072"/>
            <a:ext cx="10637215" cy="274320"/>
          </a:xfrm>
          <a:prstGeom prst="rect">
            <a:avLst/>
          </a:prstGeom>
          <a:noFill/>
          <a:ln/>
        </p:spPr>
        <p:txBody>
          <a:bodyPr wrap="square" lIns="0" tIns="0" rIns="0" bIns="0" rtlCol="0" anchor="ctr"/>
          <a:lstStyle/>
          <a:p>
            <a:pPr indent="0" marL="0">
              <a:buNone/>
            </a:pPr>
            <a:r>
              <a:rPr lang="en-US" sz="950" spc="100" kern="0" dirty="0">
                <a:solidFill>
                  <a:srgbClr val="9198A6"/>
                </a:solidFill>
                <a:latin typeface="Courier New" pitchFamily="34" charset="0"/>
                <a:ea typeface="Courier New" pitchFamily="34" charset="-122"/>
                <a:cs typeface="Courier New"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420624"/>
            <a:ext cx="7315200" cy="274320"/>
          </a:xfrm>
          <a:prstGeom prst="rect">
            <a:avLst/>
          </a:prstGeom>
          <a:noFill/>
          <a:ln/>
        </p:spPr>
        <p:txBody>
          <a:bodyPr wrap="square" lIns="0" tIns="0" rIns="0" bIns="0" rtlCol="0" anchor="ctr"/>
          <a:lstStyle/>
          <a:p>
            <a:pPr indent="0" marL="0">
              <a:buNone/>
            </a:pPr>
            <a:r>
              <a:rPr lang="en-US" sz="1100" spc="200" kern="0" dirty="0">
                <a:solidFill>
                  <a:srgbClr val="7367F0"/>
                </a:solidFill>
                <a:latin typeface="Courier New" pitchFamily="34" charset="0"/>
                <a:ea typeface="Courier New" pitchFamily="34" charset="-122"/>
                <a:cs typeface="Courier New" pitchFamily="34" charset="-120"/>
              </a:rPr>
              <a:t>DAY ONE</a:t>
            </a:r>
            <a:endParaRPr lang="en-US" sz="1100" dirty="0"/>
          </a:p>
        </p:txBody>
      </p:sp>
      <p:pic>
        <p:nvPicPr>
          <p:cNvPr id="3" name="Image 0" descr="/tmp/claude-0/-home-claude/e62a35b1-5075-553d-b086-acebfebc41ba/scratchpad/brand/meshpro-emblem-white.png">    </p:cNvPr>
          <p:cNvPicPr>
            <a:picLocks noChangeAspect="1"/>
          </p:cNvPicPr>
          <p:nvPr/>
        </p:nvPicPr>
        <p:blipFill>
          <a:blip r:embed="rId1"/>
          <a:stretch>
            <a:fillRect/>
          </a:stretch>
        </p:blipFill>
        <p:spPr>
          <a:xfrm>
            <a:off x="11140135" y="411480"/>
            <a:ext cx="384048" cy="374904"/>
          </a:xfrm>
          <a:prstGeom prst="rect">
            <a:avLst/>
          </a:prstGeom>
        </p:spPr>
      </p:pic>
      <p:sp>
        <p:nvSpPr>
          <p:cNvPr id="4" name="Text 1"/>
          <p:cNvSpPr txBox="1"/>
          <p:nvPr/>
        </p:nvSpPr>
        <p:spPr>
          <a:xfrm>
            <a:off x="777240" y="868680"/>
            <a:ext cx="9951415" cy="914400"/>
          </a:xfrm>
          <a:prstGeom prst="rect">
            <a:avLst/>
          </a:prstGeom>
          <a:noFill/>
          <a:ln/>
        </p:spPr>
        <p:txBody>
          <a:bodyPr wrap="square" lIns="0" tIns="0" rIns="0" bIns="0" rtlCol="0" anchor="ctr"/>
          <a:lstStyle/>
          <a:p>
            <a:pPr indent="0" marL="0">
              <a:lnSpc>
                <a:spcPts val="3480"/>
              </a:lnSpc>
              <a:buNone/>
            </a:pPr>
            <a:r>
              <a:rPr lang="en-US" sz="3000" b="1" dirty="0">
                <a:solidFill>
                  <a:srgbClr val="15171F"/>
                </a:solidFill>
                <a:latin typeface="Public Sans" pitchFamily="34" charset="0"/>
                <a:ea typeface="Public Sans" pitchFamily="34" charset="-122"/>
                <a:cs typeface="Public Sans" pitchFamily="34" charset="-120"/>
              </a:rPr>
              <a:t>What it looks like an hour in</a:t>
            </a:r>
            <a:endParaRPr lang="en-US" sz="3000" dirty="0"/>
          </a:p>
        </p:txBody>
      </p:sp>
      <p:pic>
        <p:nvPicPr>
          <p:cNvPr id="5" name="Image 1" descr="/tmp/claude-0/-home-claude/e62a35b1-5075-553d-b086-acebfebc41ba/scratchpad/deck/c-dayone.png">    </p:cNvPr>
          <p:cNvPicPr>
            <a:picLocks noChangeAspect="1"/>
          </p:cNvPicPr>
          <p:nvPr/>
        </p:nvPicPr>
        <p:blipFill>
          <a:blip r:embed="rId2"/>
          <a:stretch>
            <a:fillRect/>
          </a:stretch>
        </p:blipFill>
        <p:spPr>
          <a:xfrm>
            <a:off x="777240" y="1874520"/>
            <a:ext cx="7589520" cy="4014216"/>
          </a:xfrm>
          <a:prstGeom prst="rect">
            <a:avLst/>
          </a:prstGeom>
        </p:spPr>
      </p:pic>
      <p:sp>
        <p:nvSpPr>
          <p:cNvPr id="6" name="Shape 2"/>
          <p:cNvSpPr/>
          <p:nvPr/>
        </p:nvSpPr>
        <p:spPr>
          <a:xfrm>
            <a:off x="8641080" y="1874520"/>
            <a:ext cx="2743200" cy="1874520"/>
          </a:xfrm>
          <a:prstGeom prst="roundRect">
            <a:avLst>
              <a:gd name="adj" fmla="val 2927"/>
            </a:avLst>
          </a:prstGeom>
          <a:solidFill>
            <a:srgbClr val="F4F5F8"/>
          </a:solidFill>
          <a:ln w="12700">
            <a:solidFill>
              <a:srgbClr val="E4E6EC"/>
            </a:solidFill>
            <a:prstDash val="solid"/>
          </a:ln>
        </p:spPr>
      </p:sp>
      <p:sp>
        <p:nvSpPr>
          <p:cNvPr id="7" name="Text 3"/>
          <p:cNvSpPr txBox="1"/>
          <p:nvPr/>
        </p:nvSpPr>
        <p:spPr>
          <a:xfrm>
            <a:off x="8915400" y="2148840"/>
            <a:ext cx="2194560" cy="329184"/>
          </a:xfrm>
          <a:prstGeom prst="rect">
            <a:avLst/>
          </a:prstGeom>
          <a:noFill/>
          <a:ln/>
        </p:spPr>
        <p:txBody>
          <a:bodyPr wrap="square" lIns="0" tIns="0" rIns="0" bIns="0" rtlCol="0" anchor="ctr"/>
          <a:lstStyle/>
          <a:p>
            <a:pPr indent="0" marL="0">
              <a:lnSpc>
                <a:spcPts val="1800"/>
              </a:lnSpc>
              <a:buNone/>
            </a:pPr>
            <a:r>
              <a:rPr lang="en-US" sz="1500" b="1" dirty="0">
                <a:solidFill>
                  <a:srgbClr val="15171F"/>
                </a:solidFill>
                <a:latin typeface="Public Sans" pitchFamily="34" charset="0"/>
                <a:ea typeface="Public Sans" pitchFamily="34" charset="-122"/>
                <a:cs typeface="Public Sans" pitchFamily="34" charset="-120"/>
              </a:rPr>
              <a:t>Honest on day one</a:t>
            </a:r>
            <a:endParaRPr lang="en-US" sz="1500" dirty="0"/>
          </a:p>
        </p:txBody>
      </p:sp>
      <p:sp>
        <p:nvSpPr>
          <p:cNvPr id="8" name="Text 4"/>
          <p:cNvSpPr txBox="1"/>
          <p:nvPr/>
        </p:nvSpPr>
        <p:spPr>
          <a:xfrm>
            <a:off x="8915400" y="2551176"/>
            <a:ext cx="2194560" cy="978408"/>
          </a:xfrm>
          <a:prstGeom prst="rect">
            <a:avLst/>
          </a:prstGeom>
          <a:noFill/>
          <a:ln/>
        </p:spPr>
        <p:txBody>
          <a:bodyPr wrap="square" lIns="0" tIns="0" rIns="0" bIns="0" rtlCol="0" anchor="t"/>
          <a:lstStyle/>
          <a:p>
            <a:pPr indent="0" marL="0">
              <a:lnSpc>
                <a:spcPts val="1775"/>
              </a:lnSpc>
              <a:buNone/>
            </a:pPr>
            <a:r>
              <a:rPr lang="en-US" sz="1250" dirty="0">
                <a:solidFill>
                  <a:srgbClr val="5B6270"/>
                </a:solidFill>
                <a:latin typeface="Public Sans" pitchFamily="34" charset="0"/>
                <a:ea typeface="Public Sans" pitchFamily="34" charset="-122"/>
                <a:cs typeface="Public Sans" pitchFamily="34" charset="-120"/>
              </a:rPr>
              <a:t>One department, three roles, and it says so. It does not pretend to be an organisation yet.</a:t>
            </a:r>
            <a:endParaRPr lang="en-US" sz="1250" dirty="0"/>
          </a:p>
        </p:txBody>
      </p:sp>
      <p:sp>
        <p:nvSpPr>
          <p:cNvPr id="9" name="Shape 5"/>
          <p:cNvSpPr/>
          <p:nvPr/>
        </p:nvSpPr>
        <p:spPr>
          <a:xfrm>
            <a:off x="8641080" y="3968496"/>
            <a:ext cx="2743200" cy="1920240"/>
          </a:xfrm>
          <a:prstGeom prst="roundRect">
            <a:avLst>
              <a:gd name="adj" fmla="val 2857"/>
            </a:avLst>
          </a:prstGeom>
          <a:solidFill>
            <a:srgbClr val="F4F5F8"/>
          </a:solidFill>
          <a:ln w="12700">
            <a:solidFill>
              <a:srgbClr val="E4E6EC"/>
            </a:solidFill>
            <a:prstDash val="solid"/>
          </a:ln>
        </p:spPr>
      </p:sp>
      <p:sp>
        <p:nvSpPr>
          <p:cNvPr id="10" name="Text 6"/>
          <p:cNvSpPr txBox="1"/>
          <p:nvPr/>
        </p:nvSpPr>
        <p:spPr>
          <a:xfrm>
            <a:off x="8915400" y="4242816"/>
            <a:ext cx="2194560" cy="329184"/>
          </a:xfrm>
          <a:prstGeom prst="rect">
            <a:avLst/>
          </a:prstGeom>
          <a:noFill/>
          <a:ln/>
        </p:spPr>
        <p:txBody>
          <a:bodyPr wrap="square" lIns="0" tIns="0" rIns="0" bIns="0" rtlCol="0" anchor="ctr"/>
          <a:lstStyle/>
          <a:p>
            <a:pPr indent="0" marL="0">
              <a:lnSpc>
                <a:spcPts val="1800"/>
              </a:lnSpc>
              <a:buNone/>
            </a:pPr>
            <a:r>
              <a:rPr lang="en-US" sz="1500" b="1" dirty="0">
                <a:solidFill>
                  <a:srgbClr val="15171F"/>
                </a:solidFill>
                <a:latin typeface="Public Sans" pitchFamily="34" charset="0"/>
                <a:ea typeface="Public Sans" pitchFamily="34" charset="-122"/>
                <a:cs typeface="Public Sans" pitchFamily="34" charset="-120"/>
              </a:rPr>
              <a:t>Green, and it means it</a:t>
            </a:r>
            <a:endParaRPr lang="en-US" sz="1500" dirty="0"/>
          </a:p>
        </p:txBody>
      </p:sp>
      <p:sp>
        <p:nvSpPr>
          <p:cNvPr id="11" name="Text 7"/>
          <p:cNvSpPr txBox="1"/>
          <p:nvPr/>
        </p:nvSpPr>
        <p:spPr>
          <a:xfrm>
            <a:off x="8915400" y="4645152"/>
            <a:ext cx="2194560" cy="1024128"/>
          </a:xfrm>
          <a:prstGeom prst="rect">
            <a:avLst/>
          </a:prstGeom>
          <a:noFill/>
          <a:ln/>
        </p:spPr>
        <p:txBody>
          <a:bodyPr wrap="square" lIns="0" tIns="0" rIns="0" bIns="0" rtlCol="0" anchor="t"/>
          <a:lstStyle/>
          <a:p>
            <a:pPr indent="0" marL="0">
              <a:lnSpc>
                <a:spcPts val="1775"/>
              </a:lnSpc>
              <a:buNone/>
            </a:pPr>
            <a:r>
              <a:rPr lang="en-US" sz="1250" dirty="0">
                <a:solidFill>
                  <a:srgbClr val="5B6270"/>
                </a:solidFill>
                <a:latin typeface="Public Sans" pitchFamily="34" charset="0"/>
                <a:ea typeface="Public Sans" pitchFamily="34" charset="-122"/>
                <a:cs typeface="Public Sans" pitchFamily="34" charset="-120"/>
              </a:rPr>
              <a:t>Thirteen checks ran against the notes. The number in the corner is measured, not typed.</a:t>
            </a:r>
            <a:endParaRPr lang="en-US" sz="1250" dirty="0"/>
          </a:p>
        </p:txBody>
      </p:sp>
      <p:sp>
        <p:nvSpPr>
          <p:cNvPr id="12" name="Text 8"/>
          <p:cNvSpPr txBox="1"/>
          <p:nvPr/>
        </p:nvSpPr>
        <p:spPr>
          <a:xfrm>
            <a:off x="777240" y="6291072"/>
            <a:ext cx="10637215" cy="274320"/>
          </a:xfrm>
          <a:prstGeom prst="rect">
            <a:avLst/>
          </a:prstGeom>
          <a:noFill/>
          <a:ln/>
        </p:spPr>
        <p:txBody>
          <a:bodyPr wrap="square" lIns="0" tIns="0" rIns="0" bIns="0" rtlCol="0" anchor="ctr"/>
          <a:lstStyle/>
          <a:p>
            <a:pPr indent="0" marL="0">
              <a:buNone/>
            </a:pPr>
            <a:r>
              <a:rPr lang="en-US" sz="950" spc="100" kern="0" dirty="0">
                <a:solidFill>
                  <a:srgbClr val="9198A6"/>
                </a:solidFill>
                <a:latin typeface="Courier New" pitchFamily="34" charset="0"/>
                <a:ea typeface="Courier New" pitchFamily="34" charset="-122"/>
                <a:cs typeface="Courier New" pitchFamily="34" charset="-120"/>
              </a:rPr>
              <a:t>11</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420624"/>
            <a:ext cx="7315200" cy="274320"/>
          </a:xfrm>
          <a:prstGeom prst="rect">
            <a:avLst/>
          </a:prstGeom>
          <a:noFill/>
          <a:ln/>
        </p:spPr>
        <p:txBody>
          <a:bodyPr wrap="square" lIns="0" tIns="0" rIns="0" bIns="0" rtlCol="0" anchor="ctr"/>
          <a:lstStyle/>
          <a:p>
            <a:pPr indent="0" marL="0">
              <a:buNone/>
            </a:pPr>
            <a:r>
              <a:rPr lang="en-US" sz="1100" spc="200" kern="0" dirty="0">
                <a:solidFill>
                  <a:srgbClr val="7367F0"/>
                </a:solidFill>
                <a:latin typeface="Courier New" pitchFamily="34" charset="0"/>
                <a:ea typeface="Courier New" pitchFamily="34" charset="-122"/>
                <a:cs typeface="Courier New" pitchFamily="34" charset="-120"/>
              </a:rPr>
              <a:t>A FORTNIGHT IN</a:t>
            </a:r>
            <a:endParaRPr lang="en-US" sz="1100" dirty="0"/>
          </a:p>
        </p:txBody>
      </p:sp>
      <p:pic>
        <p:nvPicPr>
          <p:cNvPr id="3" name="Image 0" descr="/tmp/claude-0/-home-claude/e62a35b1-5075-553d-b086-acebfebc41ba/scratchpad/brand/meshpro-emblem-white.png">    </p:cNvPr>
          <p:cNvPicPr>
            <a:picLocks noChangeAspect="1"/>
          </p:cNvPicPr>
          <p:nvPr/>
        </p:nvPicPr>
        <p:blipFill>
          <a:blip r:embed="rId1"/>
          <a:stretch>
            <a:fillRect/>
          </a:stretch>
        </p:blipFill>
        <p:spPr>
          <a:xfrm>
            <a:off x="11140135" y="411480"/>
            <a:ext cx="384048" cy="374904"/>
          </a:xfrm>
          <a:prstGeom prst="rect">
            <a:avLst/>
          </a:prstGeom>
        </p:spPr>
      </p:pic>
      <p:sp>
        <p:nvSpPr>
          <p:cNvPr id="4" name="Text 1"/>
          <p:cNvSpPr txBox="1"/>
          <p:nvPr/>
        </p:nvSpPr>
        <p:spPr>
          <a:xfrm>
            <a:off x="777240" y="868680"/>
            <a:ext cx="9951415" cy="914400"/>
          </a:xfrm>
          <a:prstGeom prst="rect">
            <a:avLst/>
          </a:prstGeom>
          <a:noFill/>
          <a:ln/>
        </p:spPr>
        <p:txBody>
          <a:bodyPr wrap="square" lIns="0" tIns="0" rIns="0" bIns="0" rtlCol="0" anchor="ctr"/>
          <a:lstStyle/>
          <a:p>
            <a:pPr indent="0" marL="0">
              <a:lnSpc>
                <a:spcPts val="3712"/>
              </a:lnSpc>
              <a:buNone/>
            </a:pPr>
            <a:r>
              <a:rPr lang="en-US" sz="3200" b="1" dirty="0">
                <a:solidFill>
                  <a:srgbClr val="15171F"/>
                </a:solidFill>
                <a:latin typeface="Public Sans" pitchFamily="34" charset="0"/>
                <a:ea typeface="Public Sans" pitchFamily="34" charset="-122"/>
                <a:cs typeface="Public Sans" pitchFamily="34" charset="-120"/>
              </a:rPr>
              <a:t>Two weeks later, it has found two things</a:t>
            </a:r>
            <a:endParaRPr lang="en-US" sz="3200" dirty="0"/>
          </a:p>
        </p:txBody>
      </p:sp>
      <p:sp>
        <p:nvSpPr>
          <p:cNvPr id="5" name="Text 2"/>
          <p:cNvSpPr txBox="1"/>
          <p:nvPr/>
        </p:nvSpPr>
        <p:spPr>
          <a:xfrm>
            <a:off x="777240" y="1572768"/>
            <a:ext cx="10637215" cy="566928"/>
          </a:xfrm>
          <a:prstGeom prst="rect">
            <a:avLst/>
          </a:prstGeom>
          <a:noFill/>
          <a:ln/>
        </p:spPr>
        <p:txBody>
          <a:bodyPr wrap="square" lIns="0" tIns="0" rIns="0" bIns="0" rtlCol="0" anchor="ctr"/>
          <a:lstStyle/>
          <a:p>
            <a:pPr indent="0" marL="0">
              <a:lnSpc>
                <a:spcPts val="2100"/>
              </a:lnSpc>
              <a:buNone/>
            </a:pPr>
            <a:r>
              <a:rPr lang="en-US" sz="1500" dirty="0">
                <a:solidFill>
                  <a:srgbClr val="5B6270"/>
                </a:solidFill>
                <a:latin typeface="Public Sans" pitchFamily="34" charset="0"/>
                <a:ea typeface="Public Sans" pitchFamily="34" charset="-122"/>
                <a:cs typeface="Public Sans" pitchFamily="34" charset="-120"/>
              </a:rPr>
              <a:t>Nobody reported either of them. The page counted them, off the notes, the way it does every time it is built.</a:t>
            </a:r>
            <a:endParaRPr lang="en-US" sz="1500" dirty="0"/>
          </a:p>
        </p:txBody>
      </p:sp>
      <p:pic>
        <p:nvPicPr>
          <p:cNvPr id="6" name="Image 1" descr="/tmp/claude-0/-home-claude/e62a35b1-5075-553d-b086-acebfebc41ba/scratchpad/deck/c-waiting.png">    </p:cNvPr>
          <p:cNvPicPr>
            <a:picLocks noChangeAspect="1"/>
          </p:cNvPicPr>
          <p:nvPr/>
        </p:nvPicPr>
        <p:blipFill>
          <a:blip r:embed="rId2"/>
          <a:stretch>
            <a:fillRect/>
          </a:stretch>
        </p:blipFill>
        <p:spPr>
          <a:xfrm>
            <a:off x="1069848" y="2148840"/>
            <a:ext cx="10058400" cy="2990088"/>
          </a:xfrm>
          <a:prstGeom prst="rect">
            <a:avLst/>
          </a:prstGeom>
        </p:spPr>
      </p:pic>
      <p:sp>
        <p:nvSpPr>
          <p:cNvPr id="7" name="Shape 3"/>
          <p:cNvSpPr/>
          <p:nvPr/>
        </p:nvSpPr>
        <p:spPr>
          <a:xfrm>
            <a:off x="777240" y="5440680"/>
            <a:ext cx="10607040" cy="713232"/>
          </a:xfrm>
          <a:prstGeom prst="roundRect">
            <a:avLst>
              <a:gd name="adj" fmla="val 7692"/>
            </a:avLst>
          </a:prstGeom>
          <a:solidFill>
            <a:srgbClr val="F4F5F8"/>
          </a:solidFill>
          <a:ln w="12700">
            <a:solidFill>
              <a:srgbClr val="E4E6EC"/>
            </a:solidFill>
            <a:prstDash val="solid"/>
          </a:ln>
        </p:spPr>
      </p:sp>
      <p:sp>
        <p:nvSpPr>
          <p:cNvPr id="8" name="Text 4"/>
          <p:cNvSpPr txBox="1"/>
          <p:nvPr/>
        </p:nvSpPr>
        <p:spPr>
          <a:xfrm>
            <a:off x="1097280" y="5440680"/>
            <a:ext cx="10058400" cy="713232"/>
          </a:xfrm>
          <a:prstGeom prst="rect">
            <a:avLst/>
          </a:prstGeom>
          <a:noFill/>
          <a:ln/>
        </p:spPr>
        <p:txBody>
          <a:bodyPr wrap="square" lIns="0" tIns="0" rIns="0" bIns="0" rtlCol="0" anchor="ctr"/>
          <a:lstStyle/>
          <a:p>
            <a:pPr indent="0" marL="0">
              <a:lnSpc>
                <a:spcPts val="2000"/>
              </a:lnSpc>
              <a:buNone/>
            </a:pPr>
            <a:r>
              <a:rPr lang="en-US" sz="1450" b="1" dirty="0">
                <a:solidFill>
                  <a:srgbClr val="15171F"/>
                </a:solidFill>
                <a:latin typeface="Public Sans" pitchFamily="34" charset="0"/>
                <a:ea typeface="Public Sans" pitchFamily="34" charset="-122"/>
                <a:cs typeface="Public Sans" pitchFamily="34" charset="-120"/>
              </a:rPr>
              <a:t>Named, never counted. </a:t>
            </a:r>
            <a:pPr indent="0" marL="0">
              <a:lnSpc>
                <a:spcPts val="2000"/>
              </a:lnSpc>
              <a:buNone/>
            </a:pPr>
            <a:r>
              <a:rPr lang="en-US" sz="1450" dirty="0">
                <a:solidFill>
                  <a:srgbClr val="5B6270"/>
                </a:solidFill>
                <a:latin typeface="Public Sans" pitchFamily="34" charset="0"/>
                <a:ea typeface="Public Sans" pitchFamily="34" charset="-122"/>
                <a:cs typeface="Public Sans" pitchFamily="34" charset="-120"/>
              </a:rPr>
              <a:t>Not “two items need attention” — which decision, how long it has been sitting there, and what it is costing you to leave it.</a:t>
            </a:r>
            <a:endParaRPr lang="en-US" sz="1450" dirty="0"/>
          </a:p>
        </p:txBody>
      </p:sp>
      <p:sp>
        <p:nvSpPr>
          <p:cNvPr id="9" name="Text 5"/>
          <p:cNvSpPr txBox="1"/>
          <p:nvPr/>
        </p:nvSpPr>
        <p:spPr>
          <a:xfrm>
            <a:off x="777240" y="6291072"/>
            <a:ext cx="10637215" cy="274320"/>
          </a:xfrm>
          <a:prstGeom prst="rect">
            <a:avLst/>
          </a:prstGeom>
          <a:noFill/>
          <a:ln/>
        </p:spPr>
        <p:txBody>
          <a:bodyPr wrap="square" lIns="0" tIns="0" rIns="0" bIns="0" rtlCol="0" anchor="ctr"/>
          <a:lstStyle/>
          <a:p>
            <a:pPr indent="0" marL="0">
              <a:buNone/>
            </a:pPr>
            <a:r>
              <a:rPr lang="en-US" sz="950" spc="100" kern="0" dirty="0">
                <a:solidFill>
                  <a:srgbClr val="9198A6"/>
                </a:solidFill>
                <a:latin typeface="Courier New" pitchFamily="34" charset="0"/>
                <a:ea typeface="Courier New" pitchFamily="34" charset="-122"/>
                <a:cs typeface="Courier New" pitchFamily="34" charset="-120"/>
              </a:rPr>
              <a:t>12</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5171F"/>
        </a:solidFill>
      </p:bgPr>
    </p:bg>
    <p:spTree>
      <p:nvGrpSpPr>
        <p:cNvPr id="1" name=""/>
        <p:cNvGrpSpPr/>
        <p:nvPr/>
      </p:nvGrpSpPr>
      <p:grpSpPr>
        <a:xfrm>
          <a:off x="0" y="0"/>
          <a:ext cx="0" cy="0"/>
          <a:chOff x="0" y="0"/>
          <a:chExt cx="0" cy="0"/>
        </a:xfrm>
      </p:grpSpPr>
      <p:sp>
        <p:nvSpPr>
          <p:cNvPr id="2" name="Text 0"/>
          <p:cNvSpPr txBox="1"/>
          <p:nvPr/>
        </p:nvSpPr>
        <p:spPr>
          <a:xfrm>
            <a:off x="777240" y="420624"/>
            <a:ext cx="7315200" cy="274320"/>
          </a:xfrm>
          <a:prstGeom prst="rect">
            <a:avLst/>
          </a:prstGeom>
          <a:noFill/>
          <a:ln/>
        </p:spPr>
        <p:txBody>
          <a:bodyPr wrap="square" lIns="0" tIns="0" rIns="0" bIns="0" rtlCol="0" anchor="ctr"/>
          <a:lstStyle/>
          <a:p>
            <a:pPr indent="0" marL="0">
              <a:buNone/>
            </a:pPr>
            <a:r>
              <a:rPr lang="en-US" sz="1100" spc="200" kern="0" dirty="0">
                <a:solidFill>
                  <a:srgbClr val="A59CFF"/>
                </a:solidFill>
                <a:latin typeface="Courier New" pitchFamily="34" charset="0"/>
                <a:ea typeface="Courier New" pitchFamily="34" charset="-122"/>
                <a:cs typeface="Courier New" pitchFamily="34" charset="-120"/>
              </a:rPr>
              <a:t>THE PART THAT MAKES IT TRUSTWORTHY</a:t>
            </a:r>
            <a:endParaRPr lang="en-US" sz="1100" dirty="0"/>
          </a:p>
        </p:txBody>
      </p:sp>
      <p:pic>
        <p:nvPicPr>
          <p:cNvPr id="3" name="Image 0" descr="/tmp/claude-0/-home-claude/e62a35b1-5075-553d-b086-acebfebc41ba/scratchpad/brand/meshpro-emblem-navy.png">    </p:cNvPr>
          <p:cNvPicPr>
            <a:picLocks noChangeAspect="1"/>
          </p:cNvPicPr>
          <p:nvPr/>
        </p:nvPicPr>
        <p:blipFill>
          <a:blip r:embed="rId1"/>
          <a:stretch>
            <a:fillRect/>
          </a:stretch>
        </p:blipFill>
        <p:spPr>
          <a:xfrm>
            <a:off x="11140135" y="411480"/>
            <a:ext cx="384048" cy="374904"/>
          </a:xfrm>
          <a:prstGeom prst="rect">
            <a:avLst/>
          </a:prstGeom>
        </p:spPr>
      </p:pic>
      <p:sp>
        <p:nvSpPr>
          <p:cNvPr id="4" name="Text 1"/>
          <p:cNvSpPr txBox="1"/>
          <p:nvPr/>
        </p:nvSpPr>
        <p:spPr>
          <a:xfrm>
            <a:off x="777240" y="868680"/>
            <a:ext cx="9951415" cy="914400"/>
          </a:xfrm>
          <a:prstGeom prst="rect">
            <a:avLst/>
          </a:prstGeom>
          <a:noFill/>
          <a:ln/>
        </p:spPr>
        <p:txBody>
          <a:bodyPr wrap="square" lIns="0" tIns="0" rIns="0" bIns="0" rtlCol="0" anchor="ctr"/>
          <a:lstStyle/>
          <a:p>
            <a:pPr indent="0" marL="0">
              <a:lnSpc>
                <a:spcPts val="3712"/>
              </a:lnSpc>
              <a:buNone/>
            </a:pPr>
            <a:r>
              <a:rPr lang="en-US" sz="3200" b="1" dirty="0">
                <a:solidFill>
                  <a:srgbClr val="FFFFFF"/>
                </a:solidFill>
                <a:latin typeface="Public Sans" pitchFamily="34" charset="0"/>
                <a:ea typeface="Public Sans" pitchFamily="34" charset="-122"/>
                <a:cs typeface="Public Sans" pitchFamily="34" charset="-120"/>
              </a:rPr>
              <a:t>It tells you when you are wrong</a:t>
            </a:r>
            <a:endParaRPr lang="en-US" sz="3200" dirty="0"/>
          </a:p>
        </p:txBody>
      </p:sp>
      <p:sp>
        <p:nvSpPr>
          <p:cNvPr id="5" name="Text 2"/>
          <p:cNvSpPr txBox="1"/>
          <p:nvPr/>
        </p:nvSpPr>
        <p:spPr>
          <a:xfrm>
            <a:off x="777240" y="2103120"/>
            <a:ext cx="10637215" cy="566928"/>
          </a:xfrm>
          <a:prstGeom prst="rect">
            <a:avLst/>
          </a:prstGeom>
          <a:noFill/>
          <a:ln/>
        </p:spPr>
        <p:txBody>
          <a:bodyPr wrap="square" lIns="0" tIns="0" rIns="0" bIns="0" rtlCol="0" anchor="ctr"/>
          <a:lstStyle/>
          <a:p>
            <a:pPr indent="0" marL="0">
              <a:lnSpc>
                <a:spcPts val="2100"/>
              </a:lnSpc>
              <a:buNone/>
            </a:pPr>
            <a:r>
              <a:rPr lang="en-US" sz="1500" dirty="0">
                <a:solidFill>
                  <a:srgbClr val="A8ADBA"/>
                </a:solidFill>
                <a:latin typeface="Public Sans" pitchFamily="34" charset="0"/>
                <a:ea typeface="Public Sans" pitchFamily="34" charset="-122"/>
                <a:cs typeface="Public Sans" pitchFamily="34" charset="-120"/>
              </a:rPr>
              <a:t>A department invented, and a workflow pointing at one that does not exist — a typo. Three seconds later:</a:t>
            </a:r>
            <a:endParaRPr lang="en-US" sz="1500" dirty="0"/>
          </a:p>
        </p:txBody>
      </p:sp>
      <p:sp>
        <p:nvSpPr>
          <p:cNvPr id="6" name="Shape 3"/>
          <p:cNvSpPr/>
          <p:nvPr/>
        </p:nvSpPr>
        <p:spPr>
          <a:xfrm>
            <a:off x="777240" y="2743200"/>
            <a:ext cx="10607040" cy="2148840"/>
          </a:xfrm>
          <a:prstGeom prst="roundRect">
            <a:avLst>
              <a:gd name="adj" fmla="val 2553"/>
            </a:avLst>
          </a:prstGeom>
          <a:solidFill>
            <a:srgbClr val="0E1016"/>
          </a:solidFill>
          <a:ln w="12700">
            <a:solidFill>
              <a:srgbClr val="2B2E3C"/>
            </a:solidFill>
            <a:prstDash val="solid"/>
          </a:ln>
        </p:spPr>
      </p:sp>
      <p:sp>
        <p:nvSpPr>
          <p:cNvPr id="7" name="Text 4"/>
          <p:cNvSpPr txBox="1"/>
          <p:nvPr/>
        </p:nvSpPr>
        <p:spPr>
          <a:xfrm>
            <a:off x="1188720" y="3017520"/>
            <a:ext cx="9875520" cy="1645920"/>
          </a:xfrm>
          <a:prstGeom prst="rect">
            <a:avLst/>
          </a:prstGeom>
          <a:noFill/>
          <a:ln/>
        </p:spPr>
        <p:txBody>
          <a:bodyPr wrap="square" lIns="0" tIns="0" rIns="0" bIns="0" rtlCol="0" anchor="ctr"/>
          <a:lstStyle/>
          <a:p>
            <a:pPr indent="0" marL="0">
              <a:lnSpc>
                <a:spcPts val="2000"/>
              </a:lnSpc>
              <a:buNone/>
            </a:pPr>
            <a:r>
              <a:rPr lang="en-US" sz="1250" b="1" dirty="0">
                <a:solidFill>
                  <a:srgbClr val="E8705A"/>
                </a:solidFill>
                <a:latin typeface="Courier New" pitchFamily="34" charset="0"/>
                <a:ea typeface="Courier New" pitchFamily="34" charset="-122"/>
                <a:cs typeface="Courier New" pitchFamily="34" charset="-120"/>
              </a:rPr>
              <a:t>FAILED: </a:t>
            </a:r>
            <a:pPr indent="0" marL="0">
              <a:lnSpc>
                <a:spcPts val="2000"/>
              </a:lnSpc>
              <a:buNone/>
            </a:pPr>
            <a:r>
              <a:rPr lang="en-US" sz="1250" dirty="0">
                <a:solidFill>
                  <a:srgbClr val="D8DCE4"/>
                </a:solidFill>
                <a:latin typeface="Courier New" pitchFamily="34" charset="0"/>
                <a:ea typeface="Courier New" pitchFamily="34" charset="-122"/>
                <a:cs typeface="Courier New" pitchFamily="34" charset="-120"/>
              </a:rPr>
              <a:t>every department has exactly one executive who answers for it —
</a:t>
            </a:r>
            <a:pPr indent="0" marL="0">
              <a:lnSpc>
                <a:spcPts val="2000"/>
              </a:lnSpc>
              <a:buNone/>
            </a:pPr>
            <a:r>
              <a:rPr lang="en-US" sz="1250" dirty="0">
                <a:solidFill>
                  <a:srgbClr val="B4BAC8"/>
                </a:solidFill>
                <a:latin typeface="Courier New" pitchFamily="34" charset="0"/>
                <a:ea typeface="Courier New" pitchFamily="34" charset="-122"/>
                <a:cs typeface="Courier New" pitchFamily="34" charset="-120"/>
              </a:rPr>
              <a:t>        'Sales' has no executive; every question about it lands back on you
</a:t>
            </a:r>
            <a:pPr indent="0" marL="0">
              <a:lnSpc>
                <a:spcPts val="2000"/>
              </a:lnSpc>
              <a:buNone/>
            </a:pPr>
            <a:r>
              <a:rPr lang="en-US" sz="1250" b="1" dirty="0">
                <a:solidFill>
                  <a:srgbClr val="E8705A"/>
                </a:solidFill>
                <a:latin typeface="Courier New" pitchFamily="34" charset="0"/>
                <a:ea typeface="Courier New" pitchFamily="34" charset="-122"/>
                <a:cs typeface="Courier New" pitchFamily="34" charset="-120"/>
              </a:rPr>
              <a:t>FAILED: </a:t>
            </a:r>
            <a:pPr indent="0" marL="0">
              <a:lnSpc>
                <a:spcPts val="2000"/>
              </a:lnSpc>
              <a:buNone/>
            </a:pPr>
            <a:r>
              <a:rPr lang="en-US" sz="1250" dirty="0">
                <a:solidFill>
                  <a:srgbClr val="D8DCE4"/>
                </a:solidFill>
                <a:latin typeface="Courier New" pitchFamily="34" charset="0"/>
                <a:ea typeface="Courier New" pitchFamily="34" charset="-122"/>
                <a:cs typeface="Courier New" pitchFamily="34" charset="-120"/>
              </a:rPr>
              <a:t>every workflow belongs somewhere — 'Running Your Week' belongs to
</a:t>
            </a:r>
            <a:pPr indent="0" marL="0">
              <a:lnSpc>
                <a:spcPts val="2000"/>
              </a:lnSpc>
              <a:buNone/>
            </a:pPr>
            <a:r>
              <a:rPr lang="en-US" sz="1250" dirty="0">
                <a:solidFill>
                  <a:srgbClr val="B4BAC8"/>
                </a:solidFill>
                <a:latin typeface="Courier New" pitchFamily="34" charset="0"/>
                <a:ea typeface="Courier New" pitchFamily="34" charset="-122"/>
                <a:cs typeface="Courier New" pitchFamily="34" charset="-120"/>
              </a:rPr>
              <a:t>        'Delivry', and there is no department note by that name</a:t>
            </a:r>
            <a:endParaRPr lang="en-US" sz="1250" dirty="0"/>
          </a:p>
        </p:txBody>
      </p:sp>
      <p:sp>
        <p:nvSpPr>
          <p:cNvPr id="8" name="Text 5"/>
          <p:cNvSpPr txBox="1"/>
          <p:nvPr/>
        </p:nvSpPr>
        <p:spPr>
          <a:xfrm>
            <a:off x="777240" y="5212080"/>
            <a:ext cx="10607040" cy="457200"/>
          </a:xfrm>
          <a:prstGeom prst="rect">
            <a:avLst/>
          </a:prstGeom>
          <a:noFill/>
          <a:ln/>
        </p:spPr>
        <p:txBody>
          <a:bodyPr wrap="square" lIns="0" tIns="0" rIns="0" bIns="0" rtlCol="0" anchor="ctr"/>
          <a:lstStyle/>
          <a:p>
            <a:pPr indent="0" marL="0">
              <a:buNone/>
            </a:pPr>
            <a:r>
              <a:rPr lang="en-US" sz="1500" dirty="0">
                <a:solidFill>
                  <a:srgbClr val="A8ADBA"/>
                </a:solidFill>
                <a:latin typeface="Public Sans" pitchFamily="34" charset="0"/>
                <a:ea typeface="Public Sans" pitchFamily="34" charset="-122"/>
                <a:cs typeface="Public Sans" pitchFamily="34" charset="-120"/>
              </a:rPr>
              <a:t>No jargon, no error code, no line number. It names the note and says what it costs you.</a:t>
            </a:r>
            <a:endParaRPr lang="en-US" sz="1500" dirty="0"/>
          </a:p>
        </p:txBody>
      </p:sp>
      <p:sp>
        <p:nvSpPr>
          <p:cNvPr id="9" name="Text 6"/>
          <p:cNvSpPr txBox="1"/>
          <p:nvPr/>
        </p:nvSpPr>
        <p:spPr>
          <a:xfrm>
            <a:off x="777240" y="6291072"/>
            <a:ext cx="10637215" cy="274320"/>
          </a:xfrm>
          <a:prstGeom prst="rect">
            <a:avLst/>
          </a:prstGeom>
          <a:noFill/>
          <a:ln/>
        </p:spPr>
        <p:txBody>
          <a:bodyPr wrap="square" lIns="0" tIns="0" rIns="0" bIns="0" rtlCol="0" anchor="ctr"/>
          <a:lstStyle/>
          <a:p>
            <a:pPr indent="0" marL="0">
              <a:buNone/>
            </a:pPr>
            <a:r>
              <a:rPr lang="en-US" sz="950" spc="100" kern="0" dirty="0">
                <a:solidFill>
                  <a:srgbClr val="6E7482"/>
                </a:solidFill>
                <a:latin typeface="Courier New" pitchFamily="34" charset="0"/>
                <a:ea typeface="Courier New" pitchFamily="34" charset="-122"/>
                <a:cs typeface="Courier New" pitchFamily="34" charset="-120"/>
              </a:rPr>
              <a:t>13</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5171F"/>
        </a:solidFill>
      </p:bgPr>
    </p:bg>
    <p:spTree>
      <p:nvGrpSpPr>
        <p:cNvPr id="1" name=""/>
        <p:cNvGrpSpPr/>
        <p:nvPr/>
      </p:nvGrpSpPr>
      <p:grpSpPr>
        <a:xfrm>
          <a:off x="0" y="0"/>
          <a:ext cx="0" cy="0"/>
          <a:chOff x="0" y="0"/>
          <a:chExt cx="0" cy="0"/>
        </a:xfrm>
      </p:grpSpPr>
      <p:pic>
        <p:nvPicPr>
          <p:cNvPr id="2" name="Image 0" descr="/tmp/claude-0/-home-claude/e62a35b1-5075-553d-b086-acebfebc41ba/scratchpad/brand/meshpro-emblem-navy.png">    </p:cNvPr>
          <p:cNvPicPr>
            <a:picLocks noChangeAspect="1"/>
          </p:cNvPicPr>
          <p:nvPr/>
        </p:nvPicPr>
        <p:blipFill>
          <a:blip r:embed="rId1"/>
          <a:stretch>
            <a:fillRect/>
          </a:stretch>
        </p:blipFill>
        <p:spPr>
          <a:xfrm>
            <a:off x="11140135" y="411480"/>
            <a:ext cx="384048" cy="374904"/>
          </a:xfrm>
          <a:prstGeom prst="rect">
            <a:avLst/>
          </a:prstGeom>
        </p:spPr>
      </p:pic>
      <p:sp>
        <p:nvSpPr>
          <p:cNvPr id="3" name="Text 0"/>
          <p:cNvSpPr txBox="1"/>
          <p:nvPr/>
        </p:nvSpPr>
        <p:spPr>
          <a:xfrm>
            <a:off x="777240" y="420624"/>
            <a:ext cx="7315200" cy="274320"/>
          </a:xfrm>
          <a:prstGeom prst="rect">
            <a:avLst/>
          </a:prstGeom>
          <a:noFill/>
          <a:ln/>
        </p:spPr>
        <p:txBody>
          <a:bodyPr wrap="square" lIns="0" tIns="0" rIns="0" bIns="0" rtlCol="0" anchor="ctr"/>
          <a:lstStyle/>
          <a:p>
            <a:pPr indent="0" marL="0">
              <a:buNone/>
            </a:pPr>
            <a:r>
              <a:rPr lang="en-US" sz="1100" spc="200" kern="0" dirty="0">
                <a:solidFill>
                  <a:srgbClr val="A59CFF"/>
                </a:solidFill>
                <a:latin typeface="Courier New" pitchFamily="34" charset="0"/>
                <a:ea typeface="Courier New" pitchFamily="34" charset="-122"/>
                <a:cs typeface="Courier New" pitchFamily="34" charset="-120"/>
              </a:rPr>
              <a:t>WHAT TO DO NEXT</a:t>
            </a:r>
            <a:endParaRPr lang="en-US" sz="1100" dirty="0"/>
          </a:p>
        </p:txBody>
      </p:sp>
      <p:sp>
        <p:nvSpPr>
          <p:cNvPr id="4" name="Text 1"/>
          <p:cNvSpPr txBox="1"/>
          <p:nvPr/>
        </p:nvSpPr>
        <p:spPr>
          <a:xfrm>
            <a:off x="777240" y="914400"/>
            <a:ext cx="9951415" cy="914400"/>
          </a:xfrm>
          <a:prstGeom prst="rect">
            <a:avLst/>
          </a:prstGeom>
          <a:noFill/>
          <a:ln/>
        </p:spPr>
        <p:txBody>
          <a:bodyPr wrap="square" lIns="0" tIns="0" rIns="0" bIns="0" rtlCol="0" anchor="ctr"/>
          <a:lstStyle/>
          <a:p>
            <a:pPr indent="0" marL="0">
              <a:lnSpc>
                <a:spcPts val="3944"/>
              </a:lnSpc>
              <a:buNone/>
            </a:pPr>
            <a:r>
              <a:rPr lang="en-US" sz="3400" b="1" dirty="0">
                <a:solidFill>
                  <a:srgbClr val="FFFFFF"/>
                </a:solidFill>
                <a:latin typeface="Public Sans" pitchFamily="34" charset="0"/>
                <a:ea typeface="Public Sans" pitchFamily="34" charset="-122"/>
                <a:cs typeface="Public Sans" pitchFamily="34" charset="-120"/>
              </a:rPr>
              <a:t>Your first hour</a:t>
            </a:r>
            <a:endParaRPr lang="en-US" sz="3400" dirty="0"/>
          </a:p>
        </p:txBody>
      </p:sp>
      <p:sp>
        <p:nvSpPr>
          <p:cNvPr id="5" name="Text 2"/>
          <p:cNvSpPr txBox="1"/>
          <p:nvPr/>
        </p:nvSpPr>
        <p:spPr>
          <a:xfrm>
            <a:off x="777240" y="2157984"/>
            <a:ext cx="365760" cy="658368"/>
          </a:xfrm>
          <a:prstGeom prst="rect">
            <a:avLst/>
          </a:prstGeom>
          <a:noFill/>
          <a:ln/>
        </p:spPr>
        <p:txBody>
          <a:bodyPr wrap="square" lIns="0" tIns="0" rIns="0" bIns="0" rtlCol="0" anchor="ctr"/>
          <a:lstStyle/>
          <a:p>
            <a:pPr indent="0" marL="0">
              <a:buNone/>
            </a:pPr>
            <a:r>
              <a:rPr lang="en-US" sz="1600" b="1" dirty="0">
                <a:solidFill>
                  <a:srgbClr val="7367F0"/>
                </a:solidFill>
                <a:latin typeface="Public Sans" pitchFamily="34" charset="0"/>
                <a:ea typeface="Public Sans" pitchFamily="34" charset="-122"/>
                <a:cs typeface="Public Sans" pitchFamily="34" charset="-120"/>
              </a:rPr>
              <a:t>—</a:t>
            </a:r>
            <a:endParaRPr lang="en-US" sz="1600" dirty="0"/>
          </a:p>
        </p:txBody>
      </p:sp>
      <p:sp>
        <p:nvSpPr>
          <p:cNvPr id="6" name="Text 3"/>
          <p:cNvSpPr txBox="1"/>
          <p:nvPr/>
        </p:nvSpPr>
        <p:spPr>
          <a:xfrm>
            <a:off x="1234440" y="2157984"/>
            <a:ext cx="5486400" cy="658368"/>
          </a:xfrm>
          <a:prstGeom prst="rect">
            <a:avLst/>
          </a:prstGeom>
          <a:noFill/>
          <a:ln/>
        </p:spPr>
        <p:txBody>
          <a:bodyPr wrap="square" lIns="0" tIns="0" rIns="0" bIns="0" rtlCol="0" anchor="ctr"/>
          <a:lstStyle/>
          <a:p>
            <a:pPr indent="0" marL="0">
              <a:lnSpc>
                <a:spcPts val="2100"/>
              </a:lnSpc>
              <a:buNone/>
            </a:pPr>
            <a:r>
              <a:rPr lang="en-US" sz="1600" b="1" dirty="0">
                <a:solidFill>
                  <a:srgbClr val="FFFFFF"/>
                </a:solidFill>
                <a:latin typeface="Public Sans" pitchFamily="34" charset="0"/>
                <a:ea typeface="Public Sans" pitchFamily="34" charset="-122"/>
                <a:cs typeface="Public Sans" pitchFamily="34" charset="-120"/>
              </a:rPr>
              <a:t>Make the folder and connect it</a:t>
            </a:r>
            <a:endParaRPr lang="en-US" sz="1600" dirty="0"/>
          </a:p>
        </p:txBody>
      </p:sp>
      <p:sp>
        <p:nvSpPr>
          <p:cNvPr id="7" name="Text 4"/>
          <p:cNvSpPr txBox="1"/>
          <p:nvPr/>
        </p:nvSpPr>
        <p:spPr>
          <a:xfrm>
            <a:off x="6903720" y="2157984"/>
            <a:ext cx="4480560" cy="658368"/>
          </a:xfrm>
          <a:prstGeom prst="rect">
            <a:avLst/>
          </a:prstGeom>
          <a:noFill/>
          <a:ln/>
        </p:spPr>
        <p:txBody>
          <a:bodyPr wrap="square" lIns="0" tIns="0" rIns="0" bIns="0" rtlCol="0" anchor="ctr"/>
          <a:lstStyle/>
          <a:p>
            <a:pPr indent="0" marL="0">
              <a:lnSpc>
                <a:spcPts val="1800"/>
              </a:lnSpc>
              <a:buNone/>
            </a:pPr>
            <a:r>
              <a:rPr lang="en-US" sz="1300" dirty="0">
                <a:solidFill>
                  <a:srgbClr val="A8ADBA"/>
                </a:solidFill>
                <a:latin typeface="Public Sans" pitchFamily="34" charset="0"/>
                <a:ea typeface="Public Sans" pitchFamily="34" charset="-122"/>
                <a:cs typeface="Public Sans" pitchFamily="34" charset="-120"/>
              </a:rPr>
              <a:t>Five minutes, and the only part that touches your computer.</a:t>
            </a:r>
            <a:endParaRPr lang="en-US" sz="1300" dirty="0"/>
          </a:p>
        </p:txBody>
      </p:sp>
      <p:sp>
        <p:nvSpPr>
          <p:cNvPr id="8" name="Text 5"/>
          <p:cNvSpPr txBox="1"/>
          <p:nvPr/>
        </p:nvSpPr>
        <p:spPr>
          <a:xfrm>
            <a:off x="777240" y="3026664"/>
            <a:ext cx="365760" cy="658368"/>
          </a:xfrm>
          <a:prstGeom prst="rect">
            <a:avLst/>
          </a:prstGeom>
          <a:noFill/>
          <a:ln/>
        </p:spPr>
        <p:txBody>
          <a:bodyPr wrap="square" lIns="0" tIns="0" rIns="0" bIns="0" rtlCol="0" anchor="ctr"/>
          <a:lstStyle/>
          <a:p>
            <a:pPr indent="0" marL="0">
              <a:buNone/>
            </a:pPr>
            <a:r>
              <a:rPr lang="en-US" sz="1600" b="1" dirty="0">
                <a:solidFill>
                  <a:srgbClr val="7367F0"/>
                </a:solidFill>
                <a:latin typeface="Public Sans" pitchFamily="34" charset="0"/>
                <a:ea typeface="Public Sans" pitchFamily="34" charset="-122"/>
                <a:cs typeface="Public Sans" pitchFamily="34" charset="-120"/>
              </a:rPr>
              <a:t>—</a:t>
            </a:r>
            <a:endParaRPr lang="en-US" sz="1600" dirty="0"/>
          </a:p>
        </p:txBody>
      </p:sp>
      <p:sp>
        <p:nvSpPr>
          <p:cNvPr id="9" name="Text 6"/>
          <p:cNvSpPr txBox="1"/>
          <p:nvPr/>
        </p:nvSpPr>
        <p:spPr>
          <a:xfrm>
            <a:off x="1234440" y="3026664"/>
            <a:ext cx="5486400" cy="658368"/>
          </a:xfrm>
          <a:prstGeom prst="rect">
            <a:avLst/>
          </a:prstGeom>
          <a:noFill/>
          <a:ln/>
        </p:spPr>
        <p:txBody>
          <a:bodyPr wrap="square" lIns="0" tIns="0" rIns="0" bIns="0" rtlCol="0" anchor="ctr"/>
          <a:lstStyle/>
          <a:p>
            <a:pPr indent="0" marL="0">
              <a:lnSpc>
                <a:spcPts val="2100"/>
              </a:lnSpc>
              <a:buNone/>
            </a:pPr>
            <a:r>
              <a:rPr lang="en-US" sz="1600" b="1" dirty="0">
                <a:solidFill>
                  <a:srgbClr val="FFFFFF"/>
                </a:solidFill>
                <a:latin typeface="Public Sans" pitchFamily="34" charset="0"/>
                <a:ea typeface="Public Sans" pitchFamily="34" charset="-122"/>
                <a:cs typeface="Public Sans" pitchFamily="34" charset="-120"/>
              </a:rPr>
              <a:t>Name your departments</a:t>
            </a:r>
            <a:endParaRPr lang="en-US" sz="1600" dirty="0"/>
          </a:p>
        </p:txBody>
      </p:sp>
      <p:sp>
        <p:nvSpPr>
          <p:cNvPr id="10" name="Text 7"/>
          <p:cNvSpPr txBox="1"/>
          <p:nvPr/>
        </p:nvSpPr>
        <p:spPr>
          <a:xfrm>
            <a:off x="6903720" y="3026664"/>
            <a:ext cx="4480560" cy="658368"/>
          </a:xfrm>
          <a:prstGeom prst="rect">
            <a:avLst/>
          </a:prstGeom>
          <a:noFill/>
          <a:ln/>
        </p:spPr>
        <p:txBody>
          <a:bodyPr wrap="square" lIns="0" tIns="0" rIns="0" bIns="0" rtlCol="0" anchor="ctr"/>
          <a:lstStyle/>
          <a:p>
            <a:pPr indent="0" marL="0">
              <a:lnSpc>
                <a:spcPts val="1800"/>
              </a:lnSpc>
              <a:buNone/>
            </a:pPr>
            <a:r>
              <a:rPr lang="en-US" sz="1300" dirty="0">
                <a:solidFill>
                  <a:srgbClr val="A8ADBA"/>
                </a:solidFill>
                <a:latin typeface="Public Sans" pitchFamily="34" charset="0"/>
                <a:ea typeface="Public Sans" pitchFamily="34" charset="-122"/>
                <a:cs typeface="Public Sans" pitchFamily="34" charset="-120"/>
              </a:rPr>
              <a:t>Three to six, out loud, in your own words. Each gets an executive.</a:t>
            </a:r>
            <a:endParaRPr lang="en-US" sz="1300" dirty="0"/>
          </a:p>
        </p:txBody>
      </p:sp>
      <p:sp>
        <p:nvSpPr>
          <p:cNvPr id="11" name="Text 8"/>
          <p:cNvSpPr txBox="1"/>
          <p:nvPr/>
        </p:nvSpPr>
        <p:spPr>
          <a:xfrm>
            <a:off x="777240" y="3895344"/>
            <a:ext cx="365760" cy="658368"/>
          </a:xfrm>
          <a:prstGeom prst="rect">
            <a:avLst/>
          </a:prstGeom>
          <a:noFill/>
          <a:ln/>
        </p:spPr>
        <p:txBody>
          <a:bodyPr wrap="square" lIns="0" tIns="0" rIns="0" bIns="0" rtlCol="0" anchor="ctr"/>
          <a:lstStyle/>
          <a:p>
            <a:pPr indent="0" marL="0">
              <a:buNone/>
            </a:pPr>
            <a:r>
              <a:rPr lang="en-US" sz="1600" b="1" dirty="0">
                <a:solidFill>
                  <a:srgbClr val="7367F0"/>
                </a:solidFill>
                <a:latin typeface="Public Sans" pitchFamily="34" charset="0"/>
                <a:ea typeface="Public Sans" pitchFamily="34" charset="-122"/>
                <a:cs typeface="Public Sans" pitchFamily="34" charset="-120"/>
              </a:rPr>
              <a:t>—</a:t>
            </a:r>
            <a:endParaRPr lang="en-US" sz="1600" dirty="0"/>
          </a:p>
        </p:txBody>
      </p:sp>
      <p:sp>
        <p:nvSpPr>
          <p:cNvPr id="12" name="Text 9"/>
          <p:cNvSpPr txBox="1"/>
          <p:nvPr/>
        </p:nvSpPr>
        <p:spPr>
          <a:xfrm>
            <a:off x="1234440" y="3895344"/>
            <a:ext cx="5486400" cy="658368"/>
          </a:xfrm>
          <a:prstGeom prst="rect">
            <a:avLst/>
          </a:prstGeom>
          <a:noFill/>
          <a:ln/>
        </p:spPr>
        <p:txBody>
          <a:bodyPr wrap="square" lIns="0" tIns="0" rIns="0" bIns="0" rtlCol="0" anchor="ctr"/>
          <a:lstStyle/>
          <a:p>
            <a:pPr indent="0" marL="0">
              <a:lnSpc>
                <a:spcPts val="2100"/>
              </a:lnSpc>
              <a:buNone/>
            </a:pPr>
            <a:r>
              <a:rPr lang="en-US" sz="1600" b="1" dirty="0">
                <a:solidFill>
                  <a:srgbClr val="FFFFFF"/>
                </a:solidFill>
                <a:latin typeface="Public Sans" pitchFamily="34" charset="0"/>
                <a:ea typeface="Public Sans" pitchFamily="34" charset="-122"/>
                <a:cs typeface="Public Sans" pitchFamily="34" charset="-120"/>
              </a:rPr>
              <a:t>Write down the process that annoys you most</a:t>
            </a:r>
            <a:endParaRPr lang="en-US" sz="1600" dirty="0"/>
          </a:p>
        </p:txBody>
      </p:sp>
      <p:sp>
        <p:nvSpPr>
          <p:cNvPr id="13" name="Text 10"/>
          <p:cNvSpPr txBox="1"/>
          <p:nvPr/>
        </p:nvSpPr>
        <p:spPr>
          <a:xfrm>
            <a:off x="6903720" y="3895344"/>
            <a:ext cx="4480560" cy="658368"/>
          </a:xfrm>
          <a:prstGeom prst="rect">
            <a:avLst/>
          </a:prstGeom>
          <a:noFill/>
          <a:ln/>
        </p:spPr>
        <p:txBody>
          <a:bodyPr wrap="square" lIns="0" tIns="0" rIns="0" bIns="0" rtlCol="0" anchor="ctr"/>
          <a:lstStyle/>
          <a:p>
            <a:pPr indent="0" marL="0">
              <a:lnSpc>
                <a:spcPts val="1800"/>
              </a:lnSpc>
              <a:buNone/>
            </a:pPr>
            <a:r>
              <a:rPr lang="en-US" sz="1300" dirty="0">
                <a:solidFill>
                  <a:srgbClr val="A8ADBA"/>
                </a:solidFill>
                <a:latin typeface="Public Sans" pitchFamily="34" charset="0"/>
                <a:ea typeface="Public Sans" pitchFamily="34" charset="-122"/>
                <a:cs typeface="Public Sans" pitchFamily="34" charset="-120"/>
              </a:rPr>
              <a:t>One. Including where it breaks.</a:t>
            </a:r>
            <a:endParaRPr lang="en-US" sz="1300" dirty="0"/>
          </a:p>
        </p:txBody>
      </p:sp>
      <p:sp>
        <p:nvSpPr>
          <p:cNvPr id="14" name="Text 11"/>
          <p:cNvSpPr txBox="1"/>
          <p:nvPr/>
        </p:nvSpPr>
        <p:spPr>
          <a:xfrm>
            <a:off x="777240" y="4764024"/>
            <a:ext cx="365760" cy="658368"/>
          </a:xfrm>
          <a:prstGeom prst="rect">
            <a:avLst/>
          </a:prstGeom>
          <a:noFill/>
          <a:ln/>
        </p:spPr>
        <p:txBody>
          <a:bodyPr wrap="square" lIns="0" tIns="0" rIns="0" bIns="0" rtlCol="0" anchor="ctr"/>
          <a:lstStyle/>
          <a:p>
            <a:pPr indent="0" marL="0">
              <a:buNone/>
            </a:pPr>
            <a:r>
              <a:rPr lang="en-US" sz="1600" b="1" dirty="0">
                <a:solidFill>
                  <a:srgbClr val="7367F0"/>
                </a:solidFill>
                <a:latin typeface="Public Sans" pitchFamily="34" charset="0"/>
                <a:ea typeface="Public Sans" pitchFamily="34" charset="-122"/>
                <a:cs typeface="Public Sans" pitchFamily="34" charset="-120"/>
              </a:rPr>
              <a:t>—</a:t>
            </a:r>
            <a:endParaRPr lang="en-US" sz="1600" dirty="0"/>
          </a:p>
        </p:txBody>
      </p:sp>
      <p:sp>
        <p:nvSpPr>
          <p:cNvPr id="15" name="Text 12"/>
          <p:cNvSpPr txBox="1"/>
          <p:nvPr/>
        </p:nvSpPr>
        <p:spPr>
          <a:xfrm>
            <a:off x="1234440" y="4764024"/>
            <a:ext cx="5486400" cy="658368"/>
          </a:xfrm>
          <a:prstGeom prst="rect">
            <a:avLst/>
          </a:prstGeom>
          <a:noFill/>
          <a:ln/>
        </p:spPr>
        <p:txBody>
          <a:bodyPr wrap="square" lIns="0" tIns="0" rIns="0" bIns="0" rtlCol="0" anchor="ctr"/>
          <a:lstStyle/>
          <a:p>
            <a:pPr indent="0" marL="0">
              <a:lnSpc>
                <a:spcPts val="2100"/>
              </a:lnSpc>
              <a:buNone/>
            </a:pPr>
            <a:r>
              <a:rPr lang="en-US" sz="1600" b="1" dirty="0">
                <a:solidFill>
                  <a:srgbClr val="FFFFFF"/>
                </a:solidFill>
                <a:latin typeface="Public Sans" pitchFamily="34" charset="0"/>
                <a:ea typeface="Public Sans" pitchFamily="34" charset="-122"/>
                <a:cs typeface="Public Sans" pitchFamily="34" charset="-120"/>
              </a:rPr>
              <a:t>Walk one real case through it</a:t>
            </a:r>
            <a:endParaRPr lang="en-US" sz="1600" dirty="0"/>
          </a:p>
        </p:txBody>
      </p:sp>
      <p:sp>
        <p:nvSpPr>
          <p:cNvPr id="16" name="Text 13"/>
          <p:cNvSpPr txBox="1"/>
          <p:nvPr/>
        </p:nvSpPr>
        <p:spPr>
          <a:xfrm>
            <a:off x="6903720" y="4764024"/>
            <a:ext cx="4480560" cy="658368"/>
          </a:xfrm>
          <a:prstGeom prst="rect">
            <a:avLst/>
          </a:prstGeom>
          <a:noFill/>
          <a:ln/>
        </p:spPr>
        <p:txBody>
          <a:bodyPr wrap="square" lIns="0" tIns="0" rIns="0" bIns="0" rtlCol="0" anchor="ctr"/>
          <a:lstStyle/>
          <a:p>
            <a:pPr indent="0" marL="0">
              <a:lnSpc>
                <a:spcPts val="1800"/>
              </a:lnSpc>
              <a:buNone/>
            </a:pPr>
            <a:r>
              <a:rPr lang="en-US" sz="1300" dirty="0">
                <a:solidFill>
                  <a:srgbClr val="A8ADBA"/>
                </a:solidFill>
                <a:latin typeface="Public Sans" pitchFamily="34" charset="0"/>
                <a:ea typeface="Public Sans" pitchFamily="34" charset="-122"/>
                <a:cs typeface="Public Sans" pitchFamily="34" charset="-120"/>
              </a:rPr>
              <a:t>Only then is it validated — and only you can say so.</a:t>
            </a:r>
            <a:endParaRPr lang="en-US" sz="1300" dirty="0"/>
          </a:p>
        </p:txBody>
      </p:sp>
      <p:sp>
        <p:nvSpPr>
          <p:cNvPr id="17" name="Shape 14"/>
          <p:cNvSpPr/>
          <p:nvPr/>
        </p:nvSpPr>
        <p:spPr>
          <a:xfrm>
            <a:off x="777240" y="5806440"/>
            <a:ext cx="914400" cy="32004"/>
          </a:xfrm>
          <a:prstGeom prst="rect">
            <a:avLst/>
          </a:prstGeom>
          <a:solidFill>
            <a:srgbClr val="7367F0"/>
          </a:solidFill>
          <a:ln/>
        </p:spPr>
      </p:sp>
      <p:sp>
        <p:nvSpPr>
          <p:cNvPr id="18" name="Text 15"/>
          <p:cNvSpPr txBox="1"/>
          <p:nvPr/>
        </p:nvSpPr>
        <p:spPr>
          <a:xfrm>
            <a:off x="777240" y="6035040"/>
            <a:ext cx="7315200" cy="365760"/>
          </a:xfrm>
          <a:prstGeom prst="rect">
            <a:avLst/>
          </a:prstGeom>
          <a:noFill/>
          <a:ln/>
        </p:spPr>
        <p:txBody>
          <a:bodyPr wrap="square" lIns="0" tIns="0" rIns="0" bIns="0" rtlCol="0" anchor="ctr"/>
          <a:lstStyle/>
          <a:p>
            <a:pPr indent="0" marL="0">
              <a:buNone/>
            </a:pPr>
            <a:r>
              <a:rPr lang="en-US" sz="1350" dirty="0">
                <a:solidFill>
                  <a:srgbClr val="A8ADBA"/>
                </a:solidFill>
                <a:latin typeface="Public Sans" pitchFamily="34" charset="0"/>
                <a:ea typeface="Public Sans" pitchFamily="34" charset="-122"/>
                <a:cs typeface="Public Sans" pitchFamily="34" charset="-120"/>
              </a:rPr>
              <a:t>Installed in your vault, owned by you. Nothing here phones home.</a:t>
            </a:r>
            <a:endParaRPr lang="en-US" sz="1350" dirty="0"/>
          </a:p>
        </p:txBody>
      </p:sp>
      <p:pic>
        <p:nvPicPr>
          <p:cNvPr id="19" name="Image 1" descr="/tmp/claude-0/-home-claude/e62a35b1-5075-553d-b086-acebfebc41ba/scratchpad/brand/meshpro-lockup-navy.png">    </p:cNvPr>
          <p:cNvPicPr>
            <a:picLocks noChangeAspect="1"/>
          </p:cNvPicPr>
          <p:nvPr/>
        </p:nvPicPr>
        <p:blipFill>
          <a:blip r:embed="rId2"/>
          <a:stretch>
            <a:fillRect/>
          </a:stretch>
        </p:blipFill>
        <p:spPr>
          <a:xfrm>
            <a:off x="9128455" y="5870448"/>
            <a:ext cx="2286000" cy="57607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MeshPro × Expectus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AI Operations Framework — a step-by-step start</dc:title>
  <dc:subject>PptxGenJS Presentation</dc:subject>
  <dc:creator>MeshPro ehf.</dc:creator>
  <cp:lastModifiedBy>MeshPro ehf.</cp:lastModifiedBy>
  <cp:revision>1</cp:revision>
  <dcterms:created xsi:type="dcterms:W3CDTF">2026-09-22T13:39:14Z</dcterms:created>
  <dcterms:modified xsi:type="dcterms:W3CDTF">2026-09-22T13:39:14Z</dcterms:modified>
</cp:coreProperties>
</file>