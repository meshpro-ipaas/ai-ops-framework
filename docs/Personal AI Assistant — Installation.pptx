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only briefly — the checklist is the slide you actually want on screen while people settle. Say the rule in the first ten seconds: laptops open, we build together, nobody watches.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as people walk in and leave it up. Walk the room while they install Obsidian — a laptop stalled at step one stays stalled all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goal slide. Say the third card out loud twice — they are not here to receive a setup, they are here to learn how to extend one. Everything after this is that promise being kept.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line that separates this from note-taking advice. Say it plainly: we are writing for the agents. A human-friendly vault is a side effect of a machine-readable one,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skip clause early so nobody stalls downloading software. The honest trade is retrieval quality, not whether it works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Creating the vault is what makes the folder — people expect to have to do both. Watch for over-thinking the name; any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step that fails for people. Stay here until every laptop says connected — the approval dialog is easy to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sentence in the chat so nobody mistypes the address. The naming question is the one bit of fun — let the room shout suggestions, then have everyone pick their own. There is no branch here any more: every laptop gets the same copy, whatever it can or cannot run. If somebody asks why their dashboard says the check has never run, hold it — that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People do not think to ask for a file to be opened — say it explicitly. If a laptop cannot run programs, Claude still opens the page; it was copied in with everything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try to read this from the projector — everyone has it full size on their own screen. Hold the room until hands are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this five minutes and walk the room. The twelve-department instinct is universal; push back. Ask two or three people to say theirs out loud — it unsticks everyone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card is the one people remember in a fortnight. Give a real example: a question you would not want an assistant guessing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names came from the Norse option at install — theirs will differ. Point at the dashed boxes: those are specialists, which is the next two steps. Point at Bragi, across all departments: it owns how a workflow gets written down, not what any department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examples from the room before they type — most people have three of these and have never written one down. Good ones: how you qualify an enquiry, how you structure an update, what makes a good handover.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Specialists are where this starts feeling like a team rather than a chatbot. Keep them narrow in the room — the instinct is to make one specialist that does everything, which is just the executive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one out loud, as a group, on something everybody in the room recognises — onboarding someone, closing the month, handling a complaint. Ask the five questions and let them answer. The fifth question is where the real process lives, and it is the one every written procedure they have ever seen leaves out. Then let them each do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to click live rather than describe. Open a workflow on the projector and let the steps appear. Then point at the filled numbers against the outlined ones: the outlined ones are the parts still waiting on a person, and that is the honest picture of how automated this actually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to photograph. Everything here is a plain text file they own, in a folder they can open in Notepad. Make the grey/black distinction out loud: black is written by you or your agents, grey is counted and drawn from the black. The one rule that follows from it is the only rule they need to remember about the machinery — never edit a generated file, because the next build overwrites it and the fact you wanted goes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Read the six out loud. An hour ago every one of these was a thing they would have said needed an IT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Send them away with one instruction, not four: open the project instead of a new chat. Everything else is downstream of that habit. Then offer to come back in a month and look at what they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171F"/>
        </a:solidFill>
      </p:bgPr>
    </p:bg>
    <p:spTree>
      <p:nvGrpSpPr>
        <p:cNvPr id="1" name=""/>
        <p:cNvGrpSpPr/>
        <p:nvPr/>
      </p:nvGrpSpPr>
      <p:grpSpPr>
        <a:xfrm>
          <a:off x="0" y="0"/>
          <a:ext cx="0" cy="0"/>
          <a:chOff x="0" y="0"/>
          <a:chExt cx="0" cy="0"/>
        </a:xfrm>
      </p:grpSpPr>
      <p:pic>
        <p:nvPicPr>
          <p:cNvPr id="2" name="Image 0" descr="/tmp/claude-0/-home-claude/e62a35b1-5075-553d-b086-acebfebc41ba/scratchpad/brand/meshpro-lockup-navy.png">    </p:cNvPr>
          <p:cNvPicPr>
            <a:picLocks noChangeAspect="1"/>
          </p:cNvPicPr>
          <p:nvPr/>
        </p:nvPicPr>
        <p:blipFill>
          <a:blip r:embed="rId1"/>
          <a:stretch>
            <a:fillRect/>
          </a:stretch>
        </p:blipFill>
        <p:spPr>
          <a:xfrm>
            <a:off x="777240" y="731520"/>
            <a:ext cx="3108960" cy="786384"/>
          </a:xfrm>
          <a:prstGeom prst="rect">
            <a:avLst/>
          </a:prstGeom>
        </p:spPr>
      </p:pic>
      <p:sp>
        <p:nvSpPr>
          <p:cNvPr id="3" name="Text 0"/>
          <p:cNvSpPr txBox="1"/>
          <p:nvPr/>
        </p:nvSpPr>
        <p:spPr>
          <a:xfrm>
            <a:off x="777240" y="2286000"/>
            <a:ext cx="10058400" cy="914400"/>
          </a:xfrm>
          <a:prstGeom prst="rect">
            <a:avLst/>
          </a:prstGeom>
          <a:noFill/>
          <a:ln/>
        </p:spPr>
        <p:txBody>
          <a:bodyPr wrap="square" lIns="0" tIns="0" rIns="0" bIns="0" rtlCol="0" anchor="ctr"/>
          <a:lstStyle/>
          <a:p>
            <a:pPr indent="0" marL="0">
              <a:buNone/>
            </a:pPr>
            <a:r>
              <a:rPr lang="en-US" sz="4400" b="1" dirty="0">
                <a:solidFill>
                  <a:srgbClr val="FFFFFF"/>
                </a:solidFill>
                <a:latin typeface="Public Sans" pitchFamily="34" charset="0"/>
                <a:ea typeface="Public Sans" pitchFamily="34" charset="-122"/>
                <a:cs typeface="Public Sans" pitchFamily="34" charset="-120"/>
              </a:rPr>
              <a:t>Personal AI Assistant</a:t>
            </a:r>
            <a:endParaRPr lang="en-US" sz="4400" dirty="0"/>
          </a:p>
        </p:txBody>
      </p:sp>
      <p:sp>
        <p:nvSpPr>
          <p:cNvPr id="4" name="Text 1"/>
          <p:cNvSpPr txBox="1"/>
          <p:nvPr/>
        </p:nvSpPr>
        <p:spPr>
          <a:xfrm>
            <a:off x="777240" y="3200400"/>
            <a:ext cx="10058400" cy="914400"/>
          </a:xfrm>
          <a:prstGeom prst="rect">
            <a:avLst/>
          </a:prstGeom>
          <a:noFill/>
          <a:ln/>
        </p:spPr>
        <p:txBody>
          <a:bodyPr wrap="square" lIns="0" tIns="0" rIns="0" bIns="0" rtlCol="0" anchor="ctr"/>
          <a:lstStyle/>
          <a:p>
            <a:pPr indent="0" marL="0">
              <a:buNone/>
            </a:pPr>
            <a:r>
              <a:rPr lang="en-US" sz="4400" b="1" dirty="0">
                <a:solidFill>
                  <a:srgbClr val="A59CFF"/>
                </a:solidFill>
                <a:latin typeface="Public Sans" pitchFamily="34" charset="0"/>
                <a:ea typeface="Public Sans" pitchFamily="34" charset="-122"/>
                <a:cs typeface="Public Sans" pitchFamily="34" charset="-120"/>
              </a:rPr>
              <a:t>Installation</a:t>
            </a:r>
            <a:endParaRPr lang="en-US" sz="4400" dirty="0"/>
          </a:p>
        </p:txBody>
      </p:sp>
      <p:sp>
        <p:nvSpPr>
          <p:cNvPr id="5" name="Shape 2"/>
          <p:cNvSpPr/>
          <p:nvPr/>
        </p:nvSpPr>
        <p:spPr>
          <a:xfrm>
            <a:off x="777240" y="4434840"/>
            <a:ext cx="914400" cy="32004"/>
          </a:xfrm>
          <a:prstGeom prst="rect">
            <a:avLst/>
          </a:prstGeom>
          <a:solidFill>
            <a:srgbClr val="7367F0"/>
          </a:solidFill>
          <a:ln/>
        </p:spPr>
      </p:sp>
      <p:sp>
        <p:nvSpPr>
          <p:cNvPr id="6" name="Text 3"/>
          <p:cNvSpPr txBox="1"/>
          <p:nvPr/>
        </p:nvSpPr>
        <p:spPr>
          <a:xfrm>
            <a:off x="777240" y="4709160"/>
            <a:ext cx="8595360" cy="822960"/>
          </a:xfrm>
          <a:prstGeom prst="rect">
            <a:avLst/>
          </a:prstGeom>
          <a:noFill/>
          <a:ln/>
        </p:spPr>
        <p:txBody>
          <a:bodyPr wrap="square" lIns="0" tIns="0" rIns="0" bIns="0" rtlCol="0" anchor="ctr"/>
          <a:lstStyle/>
          <a:p>
            <a:pPr indent="0" marL="0">
              <a:lnSpc>
                <a:spcPts val="2500"/>
              </a:lnSpc>
              <a:buNone/>
            </a:pPr>
            <a:r>
              <a:rPr lang="en-US" sz="1700" dirty="0">
                <a:solidFill>
                  <a:srgbClr val="A8ADBA"/>
                </a:solidFill>
                <a:latin typeface="Public Sans" pitchFamily="34" charset="0"/>
                <a:ea typeface="Public Sans" pitchFamily="34" charset="-122"/>
                <a:cs typeface="Public Sans" pitchFamily="34" charset="-120"/>
              </a:rPr>
              <a:t>A hands-on hour. Laptops open — you are building this with me, not watching.</a:t>
            </a:r>
            <a:endParaRPr lang="en-US" sz="1700" dirty="0"/>
          </a:p>
        </p:txBody>
      </p:sp>
      <p:sp>
        <p:nvSpPr>
          <p:cNvPr id="7" name="Text 4"/>
          <p:cNvSpPr txBox="1"/>
          <p:nvPr/>
        </p:nvSpPr>
        <p:spPr>
          <a:xfrm>
            <a:off x="777240" y="6291072"/>
            <a:ext cx="10637215" cy="274320"/>
          </a:xfrm>
          <a:prstGeom prst="rect">
            <a:avLst/>
          </a:prstGeom>
          <a:noFill/>
          <a:ln/>
        </p:spPr>
        <p:txBody>
          <a:bodyPr wrap="square" lIns="0" tIns="0" rIns="0" bIns="0" rtlCol="0" anchor="ctr"/>
          <a:lstStyle/>
          <a:p>
            <a:pPr indent="0" marL="0">
              <a:buNone/>
            </a:pPr>
            <a:r>
              <a:rPr lang="en-US" sz="950" spc="100" kern="0" dirty="0">
                <a:solidFill>
                  <a:srgbClr val="8A90A0"/>
                </a:solidFill>
                <a:latin typeface="Courier New" pitchFamily="34" charset="0"/>
                <a:ea typeface="Courier New" pitchFamily="34" charset="-122"/>
                <a:cs typeface="Courier New" pitchFamily="34" charset="-120"/>
              </a:rPr>
              <a:t>MeshPro × Expectus</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5171F"/>
        </a:solidFill>
      </p:bgPr>
    </p:bg>
    <p:spTree>
      <p:nvGrpSpPr>
        <p:cNvPr id="1" name=""/>
        <p:cNvGrpSpPr/>
        <p:nvPr/>
      </p:nvGrpSpPr>
      <p:grpSpPr>
        <a:xfrm>
          <a:off x="0" y="0"/>
          <a:ext cx="0" cy="0"/>
          <a:chOff x="0" y="0"/>
          <a:chExt cx="0" cy="0"/>
        </a:xfrm>
      </p:grpSpPr>
      <p:sp>
        <p:nvSpPr>
          <p:cNvPr id="2" name="Text 0"/>
          <p:cNvSpPr txBox="1"/>
          <p:nvPr/>
        </p:nvSpPr>
        <p:spPr>
          <a:xfrm>
            <a:off x="777240" y="420624"/>
            <a:ext cx="8229600" cy="274320"/>
          </a:xfrm>
          <a:prstGeom prst="rect">
            <a:avLst/>
          </a:prstGeom>
          <a:noFill/>
          <a:ln/>
        </p:spPr>
        <p:txBody>
          <a:bodyPr wrap="square" lIns="0" tIns="0" rIns="0" bIns="0" rtlCol="0" anchor="ctr"/>
          <a:lstStyle/>
          <a:p>
            <a:pPr indent="0" marL="0">
              <a:buNone/>
            </a:pPr>
            <a:r>
              <a:rPr lang="en-US" sz="1100" spc="200" kern="0" dirty="0">
                <a:solidFill>
                  <a:srgbClr val="A59CFF"/>
                </a:solidFill>
                <a:latin typeface="Courier New" pitchFamily="34" charset="0"/>
                <a:ea typeface="Courier New" pitchFamily="34" charset="-122"/>
                <a:cs typeface="Courier New" pitchFamily="34" charset="-120"/>
              </a:rPr>
              <a:t>WHILE EVERYONE GETS READY</a:t>
            </a:r>
            <a:endParaRPr lang="en-US" sz="1100" dirty="0"/>
          </a:p>
        </p:txBody>
      </p:sp>
      <p:pic>
        <p:nvPicPr>
          <p:cNvPr id="3" name="Image 0" descr="/tmp/claude-0/-home-claude/e62a35b1-5075-553d-b086-acebfebc41ba/scratchpad/brand/meshpro-emblem-navy.png">    </p:cNvPr>
          <p:cNvPicPr>
            <a:picLocks noChangeAspect="1"/>
          </p:cNvPicPr>
          <p:nvPr/>
        </p:nvPicPr>
        <p:blipFill>
          <a:blip r:embed="rId1"/>
          <a:stretch>
            <a:fillRect/>
          </a:stretch>
        </p:blipFill>
        <p:spPr>
          <a:xfrm>
            <a:off x="11140135" y="411480"/>
            <a:ext cx="384048" cy="374904"/>
          </a:xfrm>
          <a:prstGeom prst="rect">
            <a:avLst/>
          </a:prstGeom>
        </p:spPr>
      </p:pic>
      <p:sp>
        <p:nvSpPr>
          <p:cNvPr id="4" name="Text 1"/>
          <p:cNvSpPr txBox="1"/>
          <p:nvPr/>
        </p:nvSpPr>
        <p:spPr>
          <a:xfrm>
            <a:off x="777240" y="868680"/>
            <a:ext cx="9951415" cy="914400"/>
          </a:xfrm>
          <a:prstGeom prst="rect">
            <a:avLst/>
          </a:prstGeom>
          <a:noFill/>
          <a:ln/>
        </p:spPr>
        <p:txBody>
          <a:bodyPr wrap="square" lIns="0" tIns="0" rIns="0" bIns="0" rtlCol="0" anchor="ctr"/>
          <a:lstStyle/>
          <a:p>
            <a:pPr indent="0" marL="0">
              <a:lnSpc>
                <a:spcPts val="3944"/>
              </a:lnSpc>
              <a:buNone/>
            </a:pPr>
            <a:r>
              <a:rPr lang="en-US" sz="3400" b="1" dirty="0">
                <a:solidFill>
                  <a:srgbClr val="FFFFFF"/>
                </a:solidFill>
                <a:latin typeface="Public Sans" pitchFamily="34" charset="0"/>
                <a:ea typeface="Public Sans" pitchFamily="34" charset="-122"/>
                <a:cs typeface="Public Sans" pitchFamily="34" charset="-120"/>
              </a:rPr>
              <a:t>Before we start</a:t>
            </a:r>
            <a:endParaRPr lang="en-US" sz="3400" dirty="0"/>
          </a:p>
        </p:txBody>
      </p:sp>
      <p:sp>
        <p:nvSpPr>
          <p:cNvPr id="5" name="Text 2"/>
          <p:cNvSpPr txBox="1"/>
          <p:nvPr/>
        </p:nvSpPr>
        <p:spPr>
          <a:xfrm>
            <a:off x="777240" y="1783080"/>
            <a:ext cx="10637215" cy="566928"/>
          </a:xfrm>
          <a:prstGeom prst="rect">
            <a:avLst/>
          </a:prstGeom>
          <a:noFill/>
          <a:ln/>
        </p:spPr>
        <p:txBody>
          <a:bodyPr wrap="square" lIns="0" tIns="0" rIns="0" bIns="0" rtlCol="0" anchor="ctr"/>
          <a:lstStyle/>
          <a:p>
            <a:pPr indent="0" marL="0">
              <a:lnSpc>
                <a:spcPts val="2300"/>
              </a:lnSpc>
              <a:buNone/>
            </a:pPr>
            <a:r>
              <a:rPr lang="en-US" sz="1600" dirty="0">
                <a:solidFill>
                  <a:srgbClr val="A8ADBA"/>
                </a:solidFill>
                <a:latin typeface="Public Sans" pitchFamily="34" charset="0"/>
                <a:ea typeface="Public Sans" pitchFamily="34" charset="-122"/>
                <a:cs typeface="Public Sans" pitchFamily="34" charset="-120"/>
              </a:rPr>
              <a:t>Four things. Three of them you already have.</a:t>
            </a:r>
            <a:endParaRPr lang="en-US" sz="1600" dirty="0"/>
          </a:p>
        </p:txBody>
      </p:sp>
      <p:sp>
        <p:nvSpPr>
          <p:cNvPr id="6" name="Text 3"/>
          <p:cNvSpPr txBox="1"/>
          <p:nvPr/>
        </p:nvSpPr>
        <p:spPr>
          <a:xfrm>
            <a:off x="777240" y="2423160"/>
            <a:ext cx="365760" cy="640080"/>
          </a:xfrm>
          <a:prstGeom prst="rect">
            <a:avLst/>
          </a:prstGeom>
          <a:noFill/>
          <a:ln/>
        </p:spPr>
        <p:txBody>
          <a:bodyPr wrap="square" lIns="0" tIns="0" rIns="0" bIns="0" rtlCol="0" anchor="ctr"/>
          <a:lstStyle/>
          <a:p>
            <a:pPr indent="0" marL="0">
              <a:buNone/>
            </a:pPr>
            <a:r>
              <a:rPr lang="en-US" sz="1600" b="1" dirty="0">
                <a:solidFill>
                  <a:srgbClr val="A59CFF"/>
                </a:solidFill>
                <a:latin typeface="Public Sans" pitchFamily="34" charset="0"/>
                <a:ea typeface="Public Sans" pitchFamily="34" charset="-122"/>
                <a:cs typeface="Public Sans" pitchFamily="34" charset="-120"/>
              </a:rPr>
              <a:t>—</a:t>
            </a:r>
            <a:endParaRPr lang="en-US" sz="1600" dirty="0"/>
          </a:p>
        </p:txBody>
      </p:sp>
      <p:sp>
        <p:nvSpPr>
          <p:cNvPr id="7" name="Text 4"/>
          <p:cNvSpPr txBox="1"/>
          <p:nvPr/>
        </p:nvSpPr>
        <p:spPr>
          <a:xfrm>
            <a:off x="1234440" y="2423160"/>
            <a:ext cx="4023360" cy="640080"/>
          </a:xfrm>
          <a:prstGeom prst="rect">
            <a:avLst/>
          </a:prstGeom>
          <a:noFill/>
          <a:ln/>
        </p:spPr>
        <p:txBody>
          <a:bodyPr wrap="square" lIns="0" tIns="0" rIns="0" bIns="0" rtlCol="0" anchor="ctr"/>
          <a:lstStyle/>
          <a:p>
            <a:pPr indent="0" marL="0">
              <a:buNone/>
            </a:pPr>
            <a:r>
              <a:rPr lang="en-US" sz="1700" b="1" dirty="0">
                <a:solidFill>
                  <a:srgbClr val="FFFFFF"/>
                </a:solidFill>
                <a:latin typeface="Public Sans" pitchFamily="34" charset="0"/>
                <a:ea typeface="Public Sans" pitchFamily="34" charset="-122"/>
                <a:cs typeface="Public Sans" pitchFamily="34" charset="-120"/>
              </a:rPr>
              <a:t>Claude, on your laptop</a:t>
            </a:r>
            <a:endParaRPr lang="en-US" sz="1700" dirty="0"/>
          </a:p>
        </p:txBody>
      </p:sp>
      <p:sp>
        <p:nvSpPr>
          <p:cNvPr id="8" name="Text 5"/>
          <p:cNvSpPr txBox="1"/>
          <p:nvPr/>
        </p:nvSpPr>
        <p:spPr>
          <a:xfrm>
            <a:off x="5440680" y="2423160"/>
            <a:ext cx="5943600" cy="640080"/>
          </a:xfrm>
          <a:prstGeom prst="rect">
            <a:avLst/>
          </a:prstGeom>
          <a:noFill/>
          <a:ln/>
        </p:spPr>
        <p:txBody>
          <a:bodyPr wrap="square" lIns="0" tIns="0" rIns="0" bIns="0" rtlCol="0" anchor="ctr"/>
          <a:lstStyle/>
          <a:p>
            <a:pPr indent="0" marL="0">
              <a:lnSpc>
                <a:spcPts val="2100"/>
              </a:lnSpc>
              <a:buNone/>
            </a:pPr>
            <a:r>
              <a:rPr lang="en-US" sz="1500" dirty="0">
                <a:solidFill>
                  <a:srgbClr val="A8ADBA"/>
                </a:solidFill>
                <a:latin typeface="Public Sans" pitchFamily="34" charset="0"/>
                <a:ea typeface="Public Sans" pitchFamily="34" charset="-122"/>
                <a:cs typeface="Public Sans" pitchFamily="34" charset="-120"/>
              </a:rPr>
              <a:t>The desktop app, signed in.</a:t>
            </a:r>
            <a:endParaRPr lang="en-US" sz="1500" dirty="0"/>
          </a:p>
        </p:txBody>
      </p:sp>
      <p:sp>
        <p:nvSpPr>
          <p:cNvPr id="9" name="Text 6"/>
          <p:cNvSpPr txBox="1"/>
          <p:nvPr/>
        </p:nvSpPr>
        <p:spPr>
          <a:xfrm>
            <a:off x="777240" y="3337560"/>
            <a:ext cx="365760" cy="640080"/>
          </a:xfrm>
          <a:prstGeom prst="rect">
            <a:avLst/>
          </a:prstGeom>
          <a:noFill/>
          <a:ln/>
        </p:spPr>
        <p:txBody>
          <a:bodyPr wrap="square" lIns="0" tIns="0" rIns="0" bIns="0" rtlCol="0" anchor="ctr"/>
          <a:lstStyle/>
          <a:p>
            <a:pPr indent="0" marL="0">
              <a:buNone/>
            </a:pPr>
            <a:r>
              <a:rPr lang="en-US" sz="1600" b="1" dirty="0">
                <a:solidFill>
                  <a:srgbClr val="A59CFF"/>
                </a:solidFill>
                <a:latin typeface="Public Sans" pitchFamily="34" charset="0"/>
                <a:ea typeface="Public Sans" pitchFamily="34" charset="-122"/>
                <a:cs typeface="Public Sans" pitchFamily="34" charset="-120"/>
              </a:rPr>
              <a:t>—</a:t>
            </a:r>
            <a:endParaRPr lang="en-US" sz="1600" dirty="0"/>
          </a:p>
        </p:txBody>
      </p:sp>
      <p:sp>
        <p:nvSpPr>
          <p:cNvPr id="10" name="Text 7"/>
          <p:cNvSpPr txBox="1"/>
          <p:nvPr/>
        </p:nvSpPr>
        <p:spPr>
          <a:xfrm>
            <a:off x="1234440" y="3337560"/>
            <a:ext cx="4023360" cy="640080"/>
          </a:xfrm>
          <a:prstGeom prst="rect">
            <a:avLst/>
          </a:prstGeom>
          <a:noFill/>
          <a:ln/>
        </p:spPr>
        <p:txBody>
          <a:bodyPr wrap="square" lIns="0" tIns="0" rIns="0" bIns="0" rtlCol="0" anchor="ctr"/>
          <a:lstStyle/>
          <a:p>
            <a:pPr indent="0" marL="0">
              <a:buNone/>
            </a:pPr>
            <a:r>
              <a:rPr lang="en-US" sz="1700" b="1" dirty="0">
                <a:solidFill>
                  <a:srgbClr val="FFFFFF"/>
                </a:solidFill>
                <a:latin typeface="Public Sans" pitchFamily="34" charset="0"/>
                <a:ea typeface="Public Sans" pitchFamily="34" charset="-122"/>
                <a:cs typeface="Public Sans" pitchFamily="34" charset="-120"/>
              </a:rPr>
              <a:t>Obsidian</a:t>
            </a:r>
            <a:endParaRPr lang="en-US" sz="1700" dirty="0"/>
          </a:p>
        </p:txBody>
      </p:sp>
      <p:sp>
        <p:nvSpPr>
          <p:cNvPr id="11" name="Text 8"/>
          <p:cNvSpPr txBox="1"/>
          <p:nvPr/>
        </p:nvSpPr>
        <p:spPr>
          <a:xfrm>
            <a:off x="5440680" y="3337560"/>
            <a:ext cx="5943600" cy="640080"/>
          </a:xfrm>
          <a:prstGeom prst="rect">
            <a:avLst/>
          </a:prstGeom>
          <a:noFill/>
          <a:ln/>
        </p:spPr>
        <p:txBody>
          <a:bodyPr wrap="square" lIns="0" tIns="0" rIns="0" bIns="0" rtlCol="0" anchor="ctr"/>
          <a:lstStyle/>
          <a:p>
            <a:pPr indent="0" marL="0">
              <a:lnSpc>
                <a:spcPts val="2100"/>
              </a:lnSpc>
              <a:buNone/>
            </a:pPr>
            <a:r>
              <a:rPr lang="en-US" sz="1500" dirty="0">
                <a:solidFill>
                  <a:srgbClr val="A8ADBA"/>
                </a:solidFill>
                <a:latin typeface="Public Sans" pitchFamily="34" charset="0"/>
                <a:ea typeface="Public Sans" pitchFamily="34" charset="-122"/>
                <a:cs typeface="Public Sans" pitchFamily="34" charset="-120"/>
              </a:rPr>
              <a:t>Free, five minutes. It reads your vault — and creates the folder for you.</a:t>
            </a:r>
            <a:endParaRPr lang="en-US" sz="1500" dirty="0"/>
          </a:p>
        </p:txBody>
      </p:sp>
      <p:sp>
        <p:nvSpPr>
          <p:cNvPr id="12" name="Text 9"/>
          <p:cNvSpPr txBox="1"/>
          <p:nvPr/>
        </p:nvSpPr>
        <p:spPr>
          <a:xfrm>
            <a:off x="777240" y="4251960"/>
            <a:ext cx="365760" cy="640080"/>
          </a:xfrm>
          <a:prstGeom prst="rect">
            <a:avLst/>
          </a:prstGeom>
          <a:noFill/>
          <a:ln/>
        </p:spPr>
        <p:txBody>
          <a:bodyPr wrap="square" lIns="0" tIns="0" rIns="0" bIns="0" rtlCol="0" anchor="ctr"/>
          <a:lstStyle/>
          <a:p>
            <a:pPr indent="0" marL="0">
              <a:buNone/>
            </a:pPr>
            <a:r>
              <a:rPr lang="en-US" sz="1600" b="1" dirty="0">
                <a:solidFill>
                  <a:srgbClr val="A59CFF"/>
                </a:solidFill>
                <a:latin typeface="Public Sans" pitchFamily="34" charset="0"/>
                <a:ea typeface="Public Sans" pitchFamily="34" charset="-122"/>
                <a:cs typeface="Public Sans" pitchFamily="34" charset="-120"/>
              </a:rPr>
              <a:t>—</a:t>
            </a:r>
            <a:endParaRPr lang="en-US" sz="1600" dirty="0"/>
          </a:p>
        </p:txBody>
      </p:sp>
      <p:sp>
        <p:nvSpPr>
          <p:cNvPr id="13" name="Text 10"/>
          <p:cNvSpPr txBox="1"/>
          <p:nvPr/>
        </p:nvSpPr>
        <p:spPr>
          <a:xfrm>
            <a:off x="1234440" y="4251960"/>
            <a:ext cx="4023360" cy="640080"/>
          </a:xfrm>
          <a:prstGeom prst="rect">
            <a:avLst/>
          </a:prstGeom>
          <a:noFill/>
          <a:ln/>
        </p:spPr>
        <p:txBody>
          <a:bodyPr wrap="square" lIns="0" tIns="0" rIns="0" bIns="0" rtlCol="0" anchor="ctr"/>
          <a:lstStyle/>
          <a:p>
            <a:pPr indent="0" marL="0">
              <a:buNone/>
            </a:pPr>
            <a:r>
              <a:rPr lang="en-US" sz="1700" b="1" dirty="0">
                <a:solidFill>
                  <a:srgbClr val="FFFFFF"/>
                </a:solidFill>
                <a:latin typeface="Public Sans" pitchFamily="34" charset="0"/>
                <a:ea typeface="Public Sans" pitchFamily="34" charset="-122"/>
                <a:cs typeface="Public Sans" pitchFamily="34" charset="-120"/>
              </a:rPr>
              <a:t>Somewhere to keep it</a:t>
            </a:r>
            <a:endParaRPr lang="en-US" sz="1700" dirty="0"/>
          </a:p>
        </p:txBody>
      </p:sp>
      <p:sp>
        <p:nvSpPr>
          <p:cNvPr id="14" name="Text 11"/>
          <p:cNvSpPr txBox="1"/>
          <p:nvPr/>
        </p:nvSpPr>
        <p:spPr>
          <a:xfrm>
            <a:off x="5440680" y="4251960"/>
            <a:ext cx="5943600" cy="640080"/>
          </a:xfrm>
          <a:prstGeom prst="rect">
            <a:avLst/>
          </a:prstGeom>
          <a:noFill/>
          <a:ln/>
        </p:spPr>
        <p:txBody>
          <a:bodyPr wrap="square" lIns="0" tIns="0" rIns="0" bIns="0" rtlCol="0" anchor="ctr"/>
          <a:lstStyle/>
          <a:p>
            <a:pPr indent="0" marL="0">
              <a:lnSpc>
                <a:spcPts val="2100"/>
              </a:lnSpc>
              <a:buNone/>
            </a:pPr>
            <a:r>
              <a:rPr lang="en-US" sz="1500" dirty="0">
                <a:solidFill>
                  <a:srgbClr val="A8ADBA"/>
                </a:solidFill>
                <a:latin typeface="Public Sans" pitchFamily="34" charset="0"/>
                <a:ea typeface="Public Sans" pitchFamily="34" charset="-122"/>
                <a:cs typeface="Public Sans" pitchFamily="34" charset="-120"/>
              </a:rPr>
              <a:t>C:\AI is a good home. Nothing to create yet.</a:t>
            </a:r>
            <a:endParaRPr lang="en-US" sz="1500" dirty="0"/>
          </a:p>
        </p:txBody>
      </p:sp>
      <p:sp>
        <p:nvSpPr>
          <p:cNvPr id="15" name="Text 12"/>
          <p:cNvSpPr txBox="1"/>
          <p:nvPr/>
        </p:nvSpPr>
        <p:spPr>
          <a:xfrm>
            <a:off x="777240" y="5166360"/>
            <a:ext cx="365760" cy="640080"/>
          </a:xfrm>
          <a:prstGeom prst="rect">
            <a:avLst/>
          </a:prstGeom>
          <a:noFill/>
          <a:ln/>
        </p:spPr>
        <p:txBody>
          <a:bodyPr wrap="square" lIns="0" tIns="0" rIns="0" bIns="0" rtlCol="0" anchor="ctr"/>
          <a:lstStyle/>
          <a:p>
            <a:pPr indent="0" marL="0">
              <a:buNone/>
            </a:pPr>
            <a:r>
              <a:rPr lang="en-US" sz="1600" b="1" dirty="0">
                <a:solidFill>
                  <a:srgbClr val="A59CFF"/>
                </a:solidFill>
                <a:latin typeface="Public Sans" pitchFamily="34" charset="0"/>
                <a:ea typeface="Public Sans" pitchFamily="34" charset="-122"/>
                <a:cs typeface="Public Sans" pitchFamily="34" charset="-120"/>
              </a:rPr>
              <a:t>—</a:t>
            </a:r>
            <a:endParaRPr lang="en-US" sz="1600" dirty="0"/>
          </a:p>
        </p:txBody>
      </p:sp>
      <p:sp>
        <p:nvSpPr>
          <p:cNvPr id="16" name="Text 13"/>
          <p:cNvSpPr txBox="1"/>
          <p:nvPr/>
        </p:nvSpPr>
        <p:spPr>
          <a:xfrm>
            <a:off x="1234440" y="5166360"/>
            <a:ext cx="4023360" cy="640080"/>
          </a:xfrm>
          <a:prstGeom prst="rect">
            <a:avLst/>
          </a:prstGeom>
          <a:noFill/>
          <a:ln/>
        </p:spPr>
        <p:txBody>
          <a:bodyPr wrap="square" lIns="0" tIns="0" rIns="0" bIns="0" rtlCol="0" anchor="ctr"/>
          <a:lstStyle/>
          <a:p>
            <a:pPr indent="0" marL="0">
              <a:buNone/>
            </a:pPr>
            <a:r>
              <a:rPr lang="en-US" sz="1700" b="1" dirty="0">
                <a:solidFill>
                  <a:srgbClr val="FFFFFF"/>
                </a:solidFill>
                <a:latin typeface="Public Sans" pitchFamily="34" charset="0"/>
                <a:ea typeface="Public Sans" pitchFamily="34" charset="-122"/>
                <a:cs typeface="Public Sans" pitchFamily="34" charset="-120"/>
              </a:rPr>
              <a:t>Nothing else</a:t>
            </a:r>
            <a:endParaRPr lang="en-US" sz="1700" dirty="0"/>
          </a:p>
        </p:txBody>
      </p:sp>
      <p:sp>
        <p:nvSpPr>
          <p:cNvPr id="17" name="Text 14"/>
          <p:cNvSpPr txBox="1"/>
          <p:nvPr/>
        </p:nvSpPr>
        <p:spPr>
          <a:xfrm>
            <a:off x="5440680" y="5166360"/>
            <a:ext cx="5943600" cy="640080"/>
          </a:xfrm>
          <a:prstGeom prst="rect">
            <a:avLst/>
          </a:prstGeom>
          <a:noFill/>
          <a:ln/>
        </p:spPr>
        <p:txBody>
          <a:bodyPr wrap="square" lIns="0" tIns="0" rIns="0" bIns="0" rtlCol="0" anchor="ctr"/>
          <a:lstStyle/>
          <a:p>
            <a:pPr indent="0" marL="0">
              <a:lnSpc>
                <a:spcPts val="2100"/>
              </a:lnSpc>
              <a:buNone/>
            </a:pPr>
            <a:r>
              <a:rPr lang="en-US" sz="1500" dirty="0">
                <a:solidFill>
                  <a:srgbClr val="A8ADBA"/>
                </a:solidFill>
                <a:latin typeface="Public Sans" pitchFamily="34" charset="0"/>
                <a:ea typeface="Public Sans" pitchFamily="34" charset="-122"/>
                <a:cs typeface="Public Sans" pitchFamily="34" charset="-120"/>
              </a:rPr>
              <a:t>No Python, no terminal, no account, no plugin.</a:t>
            </a:r>
            <a:endParaRPr lang="en-US" sz="1500" dirty="0"/>
          </a:p>
        </p:txBody>
      </p:sp>
      <p:sp>
        <p:nvSpPr>
          <p:cNvPr id="18" name="Text 15"/>
          <p:cNvSpPr txBox="1"/>
          <p:nvPr/>
        </p:nvSpPr>
        <p:spPr>
          <a:xfrm>
            <a:off x="777240" y="6291072"/>
            <a:ext cx="10637215" cy="274320"/>
          </a:xfrm>
          <a:prstGeom prst="rect">
            <a:avLst/>
          </a:prstGeom>
          <a:noFill/>
          <a:ln/>
        </p:spPr>
        <p:txBody>
          <a:bodyPr wrap="square" lIns="0" tIns="0" rIns="0" bIns="0" rtlCol="0" anchor="ctr"/>
          <a:lstStyle/>
          <a:p>
            <a:pPr indent="0" marL="0">
              <a:buNone/>
            </a:pPr>
            <a:r>
              <a:rPr lang="en-US" sz="950" spc="100" kern="0" dirty="0">
                <a:solidFill>
                  <a:srgbClr val="8A90A0"/>
                </a:solidFill>
                <a:latin typeface="Courier New" pitchFamily="34" charset="0"/>
                <a:ea typeface="Courier New" pitchFamily="34" charset="-122"/>
                <a:cs typeface="Courier New" pitchFamily="34" charset="-120"/>
              </a:rPr>
              <a:t>02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77240" y="420624"/>
            <a:ext cx="8229600" cy="274320"/>
          </a:xfrm>
          <a:prstGeom prst="rect">
            <a:avLst/>
          </a:prstGeom>
          <a:noFill/>
          <a:ln/>
        </p:spPr>
        <p:txBody>
          <a:bodyPr wrap="square" lIns="0" tIns="0" rIns="0" bIns="0" rtlCol="0" anchor="ctr"/>
          <a:lstStyle/>
          <a:p>
            <a:pPr indent="0" marL="0">
              <a:buNone/>
            </a:pPr>
            <a:r>
              <a:rPr lang="en-US" sz="1100" spc="200" kern="0" dirty="0">
                <a:solidFill>
                  <a:srgbClr val="6055D8"/>
                </a:solidFill>
                <a:latin typeface="Courier New" pitchFamily="34" charset="0"/>
                <a:ea typeface="Courier New" pitchFamily="34" charset="-122"/>
                <a:cs typeface="Courier New" pitchFamily="34" charset="-120"/>
              </a:rPr>
              <a:t>THE POINT OF THE HOUR</a:t>
            </a:r>
            <a:endParaRPr lang="en-US" sz="1100" dirty="0"/>
          </a:p>
        </p:txBody>
      </p:sp>
      <p:pic>
        <p:nvPicPr>
          <p:cNvPr id="3" name="Image 0" descr="/tmp/claude-0/-home-claude/e62a35b1-5075-553d-b086-acebfebc41ba/scratchpad/brand/meshpro-emblem-white.png">    </p:cNvPr>
          <p:cNvPicPr>
            <a:picLocks noChangeAspect="1"/>
          </p:cNvPicPr>
          <p:nvPr/>
        </p:nvPicPr>
        <p:blipFill>
          <a:blip r:embed="rId1"/>
          <a:stretch>
            <a:fillRect/>
          </a:stretch>
        </p:blipFill>
        <p:spPr>
          <a:xfrm>
            <a:off x="11140135" y="411480"/>
            <a:ext cx="384048" cy="374904"/>
          </a:xfrm>
          <a:prstGeom prst="rect">
            <a:avLst/>
          </a:prstGeom>
        </p:spPr>
      </p:pic>
      <p:sp>
        <p:nvSpPr>
          <p:cNvPr id="4" name="Text 1"/>
          <p:cNvSpPr txBox="1"/>
          <p:nvPr/>
        </p:nvSpPr>
        <p:spPr>
          <a:xfrm>
            <a:off x="777240" y="868680"/>
            <a:ext cx="9951415" cy="914400"/>
          </a:xfrm>
          <a:prstGeom prst="rect">
            <a:avLst/>
          </a:prstGeom>
          <a:noFill/>
          <a:ln/>
        </p:spPr>
        <p:txBody>
          <a:bodyPr wrap="square" lIns="0" tIns="0" rIns="0" bIns="0" rtlCol="0" anchor="ctr"/>
          <a:lstStyle/>
          <a:p>
            <a:pPr indent="0" marL="0">
              <a:lnSpc>
                <a:spcPts val="3712"/>
              </a:lnSpc>
              <a:buNone/>
            </a:pPr>
            <a:r>
              <a:rPr lang="en-US" sz="3200" b="1" dirty="0">
                <a:solidFill>
                  <a:srgbClr val="15171F"/>
                </a:solidFill>
                <a:latin typeface="Public Sans" pitchFamily="34" charset="0"/>
                <a:ea typeface="Public Sans" pitchFamily="34" charset="-122"/>
                <a:cs typeface="Public Sans" pitchFamily="34" charset="-120"/>
              </a:rPr>
              <a:t>What you will have when you leave</a:t>
            </a:r>
            <a:endParaRPr lang="en-US" sz="3200" dirty="0"/>
          </a:p>
        </p:txBody>
      </p:sp>
      <p:sp>
        <p:nvSpPr>
          <p:cNvPr id="5" name="Text 2"/>
          <p:cNvSpPr txBox="1"/>
          <p:nvPr/>
        </p:nvSpPr>
        <p:spPr>
          <a:xfrm>
            <a:off x="777240" y="1737360"/>
            <a:ext cx="10637215" cy="566928"/>
          </a:xfrm>
          <a:prstGeom prst="rect">
            <a:avLst/>
          </a:prstGeom>
          <a:noFill/>
          <a:ln/>
        </p:spPr>
        <p:txBody>
          <a:bodyPr wrap="square" lIns="0" tIns="0" rIns="0" bIns="0" rtlCol="0" anchor="ctr"/>
          <a:lstStyle/>
          <a:p>
            <a:pPr indent="0" marL="0">
              <a:lnSpc>
                <a:spcPts val="2300"/>
              </a:lnSpc>
              <a:buNone/>
            </a:pPr>
            <a:r>
              <a:rPr lang="en-US" sz="1600" dirty="0">
                <a:solidFill>
                  <a:srgbClr val="5B6270"/>
                </a:solidFill>
                <a:latin typeface="Public Sans" pitchFamily="34" charset="0"/>
                <a:ea typeface="Public Sans" pitchFamily="34" charset="-122"/>
                <a:cs typeface="Public Sans" pitchFamily="34" charset="-120"/>
              </a:rPr>
              <a:t>Not a demo you watched. An architecture on your own laptop — and the grip to keep building on it.</a:t>
            </a:r>
            <a:endParaRPr lang="en-US" sz="1600" dirty="0"/>
          </a:p>
        </p:txBody>
      </p:sp>
      <p:sp>
        <p:nvSpPr>
          <p:cNvPr id="6" name="Shape 3"/>
          <p:cNvSpPr/>
          <p:nvPr/>
        </p:nvSpPr>
        <p:spPr>
          <a:xfrm>
            <a:off x="777240" y="2880360"/>
            <a:ext cx="3291840" cy="1943481"/>
          </a:xfrm>
          <a:prstGeom prst="roundRect">
            <a:avLst>
              <a:gd name="adj" fmla="val 2823"/>
            </a:avLst>
          </a:prstGeom>
          <a:solidFill>
            <a:srgbClr val="F4F5F8"/>
          </a:solidFill>
          <a:ln w="12700">
            <a:solidFill>
              <a:srgbClr val="E4E6EC"/>
            </a:solidFill>
            <a:prstDash val="solid"/>
          </a:ln>
        </p:spPr>
      </p:sp>
      <p:sp>
        <p:nvSpPr>
          <p:cNvPr id="7" name="Text 4"/>
          <p:cNvSpPr txBox="1"/>
          <p:nvPr/>
        </p:nvSpPr>
        <p:spPr>
          <a:xfrm>
            <a:off x="1051560" y="3154680"/>
            <a:ext cx="2743200" cy="518160"/>
          </a:xfrm>
          <a:prstGeom prst="rect">
            <a:avLst/>
          </a:prstGeom>
          <a:noFill/>
          <a:ln/>
        </p:spPr>
        <p:txBody>
          <a:bodyPr wrap="square" lIns="0" tIns="0" rIns="0" bIns="0" rtlCol="0" anchor="t"/>
          <a:lstStyle/>
          <a:p>
            <a:pPr indent="0" marL="0">
              <a:lnSpc>
                <a:spcPts val="2040"/>
              </a:lnSpc>
              <a:buNone/>
            </a:pPr>
            <a:r>
              <a:rPr lang="en-US" sz="1700" b="1" dirty="0">
                <a:solidFill>
                  <a:srgbClr val="15171F"/>
                </a:solidFill>
                <a:latin typeface="Public Sans" pitchFamily="34" charset="0"/>
                <a:ea typeface="Public Sans" pitchFamily="34" charset="-122"/>
                <a:cs typeface="Public Sans" pitchFamily="34" charset="-120"/>
              </a:rPr>
              <a:t>Your work has a place to live</a:t>
            </a:r>
            <a:endParaRPr lang="en-US" sz="1700" dirty="0"/>
          </a:p>
        </p:txBody>
      </p:sp>
      <p:sp>
        <p:nvSpPr>
          <p:cNvPr id="8" name="Text 5"/>
          <p:cNvSpPr txBox="1"/>
          <p:nvPr/>
        </p:nvSpPr>
        <p:spPr>
          <a:xfrm>
            <a:off x="1051560" y="3800856"/>
            <a:ext cx="2743200" cy="766953"/>
          </a:xfrm>
          <a:prstGeom prst="rect">
            <a:avLst/>
          </a:prstGeom>
          <a:noFill/>
          <a:ln/>
        </p:spPr>
        <p:txBody>
          <a:bodyPr wrap="square" lIns="0" tIns="0" rIns="0" bIns="0" rtlCol="0" anchor="t"/>
          <a:lstStyle/>
          <a:p>
            <a:pPr indent="0" marL="0">
              <a:lnSpc>
                <a:spcPts val="1917"/>
              </a:lnSpc>
              <a:buNone/>
            </a:pPr>
            <a:r>
              <a:rPr lang="en-US" sz="1350" dirty="0">
                <a:solidFill>
                  <a:srgbClr val="5B6270"/>
                </a:solidFill>
                <a:latin typeface="Public Sans" pitchFamily="34" charset="0"/>
                <a:ea typeface="Public Sans" pitchFamily="34" charset="-122"/>
                <a:cs typeface="Public Sans" pitchFamily="34" charset="-120"/>
              </a:rPr>
              <a:t>Written once, in plain text you own. Not re-typed into a chat window every morning.</a:t>
            </a:r>
            <a:endParaRPr lang="en-US" sz="1350" dirty="0"/>
          </a:p>
        </p:txBody>
      </p:sp>
      <p:sp>
        <p:nvSpPr>
          <p:cNvPr id="9" name="Shape 6"/>
          <p:cNvSpPr/>
          <p:nvPr/>
        </p:nvSpPr>
        <p:spPr>
          <a:xfrm>
            <a:off x="4434840" y="2880360"/>
            <a:ext cx="3291840" cy="1943481"/>
          </a:xfrm>
          <a:prstGeom prst="roundRect">
            <a:avLst>
              <a:gd name="adj" fmla="val 2823"/>
            </a:avLst>
          </a:prstGeom>
          <a:solidFill>
            <a:srgbClr val="F4F5F8"/>
          </a:solidFill>
          <a:ln w="12700">
            <a:solidFill>
              <a:srgbClr val="E4E6EC"/>
            </a:solidFill>
            <a:prstDash val="solid"/>
          </a:ln>
        </p:spPr>
      </p:sp>
      <p:sp>
        <p:nvSpPr>
          <p:cNvPr id="10" name="Text 7"/>
          <p:cNvSpPr txBox="1"/>
          <p:nvPr/>
        </p:nvSpPr>
        <p:spPr>
          <a:xfrm>
            <a:off x="4709160" y="3154680"/>
            <a:ext cx="2743200" cy="518160"/>
          </a:xfrm>
          <a:prstGeom prst="rect">
            <a:avLst/>
          </a:prstGeom>
          <a:noFill/>
          <a:ln/>
        </p:spPr>
        <p:txBody>
          <a:bodyPr wrap="square" lIns="0" tIns="0" rIns="0" bIns="0" rtlCol="0" anchor="t"/>
          <a:lstStyle/>
          <a:p>
            <a:pPr indent="0" marL="0">
              <a:lnSpc>
                <a:spcPts val="2040"/>
              </a:lnSpc>
              <a:buNone/>
            </a:pPr>
            <a:r>
              <a:rPr lang="en-US" sz="1700" b="1" dirty="0">
                <a:solidFill>
                  <a:srgbClr val="15171F"/>
                </a:solidFill>
                <a:latin typeface="Public Sans" pitchFamily="34" charset="0"/>
                <a:ea typeface="Public Sans" pitchFamily="34" charset="-122"/>
                <a:cs typeface="Public Sans" pitchFamily="34" charset="-120"/>
              </a:rPr>
              <a:t>An organisation that works for you</a:t>
            </a:r>
            <a:endParaRPr lang="en-US" sz="1700" dirty="0"/>
          </a:p>
        </p:txBody>
      </p:sp>
      <p:sp>
        <p:nvSpPr>
          <p:cNvPr id="11" name="Text 8"/>
          <p:cNvSpPr txBox="1"/>
          <p:nvPr/>
        </p:nvSpPr>
        <p:spPr>
          <a:xfrm>
            <a:off x="4709160" y="3800856"/>
            <a:ext cx="2743200" cy="766953"/>
          </a:xfrm>
          <a:prstGeom prst="rect">
            <a:avLst/>
          </a:prstGeom>
          <a:noFill/>
          <a:ln/>
        </p:spPr>
        <p:txBody>
          <a:bodyPr wrap="square" lIns="0" tIns="0" rIns="0" bIns="0" rtlCol="0" anchor="t"/>
          <a:lstStyle/>
          <a:p>
            <a:pPr indent="0" marL="0">
              <a:lnSpc>
                <a:spcPts val="1917"/>
              </a:lnSpc>
              <a:buNone/>
            </a:pPr>
            <a:r>
              <a:rPr lang="en-US" sz="1350" dirty="0">
                <a:solidFill>
                  <a:srgbClr val="5B6270"/>
                </a:solidFill>
                <a:latin typeface="Public Sans" pitchFamily="34" charset="0"/>
                <a:ea typeface="Public Sans" pitchFamily="34" charset="-122"/>
                <a:cs typeface="Public Sans" pitchFamily="34" charset="-120"/>
              </a:rPr>
              <a:t>Departments for the parts of your job. An executive answering for each, specialists under them.</a:t>
            </a:r>
            <a:endParaRPr lang="en-US" sz="1350" dirty="0"/>
          </a:p>
        </p:txBody>
      </p:sp>
      <p:sp>
        <p:nvSpPr>
          <p:cNvPr id="12" name="Shape 9"/>
          <p:cNvSpPr/>
          <p:nvPr/>
        </p:nvSpPr>
        <p:spPr>
          <a:xfrm>
            <a:off x="8092440" y="2880360"/>
            <a:ext cx="3291840" cy="1943481"/>
          </a:xfrm>
          <a:prstGeom prst="roundRect">
            <a:avLst>
              <a:gd name="adj" fmla="val 2823"/>
            </a:avLst>
          </a:prstGeom>
          <a:solidFill>
            <a:srgbClr val="F4F5F8"/>
          </a:solidFill>
          <a:ln w="12700">
            <a:solidFill>
              <a:srgbClr val="E4E6EC"/>
            </a:solidFill>
            <a:prstDash val="solid"/>
          </a:ln>
        </p:spPr>
      </p:sp>
      <p:sp>
        <p:nvSpPr>
          <p:cNvPr id="13" name="Text 10"/>
          <p:cNvSpPr txBox="1"/>
          <p:nvPr/>
        </p:nvSpPr>
        <p:spPr>
          <a:xfrm>
            <a:off x="8366760" y="3154680"/>
            <a:ext cx="2743200" cy="259080"/>
          </a:xfrm>
          <a:prstGeom prst="rect">
            <a:avLst/>
          </a:prstGeom>
          <a:noFill/>
          <a:ln/>
        </p:spPr>
        <p:txBody>
          <a:bodyPr wrap="square" lIns="0" tIns="0" rIns="0" bIns="0" rtlCol="0" anchor="t"/>
          <a:lstStyle/>
          <a:p>
            <a:pPr indent="0" marL="0">
              <a:lnSpc>
                <a:spcPts val="2040"/>
              </a:lnSpc>
              <a:buNone/>
            </a:pPr>
            <a:r>
              <a:rPr lang="en-US" sz="1700" b="1" dirty="0">
                <a:solidFill>
                  <a:srgbClr val="15171F"/>
                </a:solidFill>
                <a:latin typeface="Public Sans" pitchFamily="34" charset="0"/>
                <a:ea typeface="Public Sans" pitchFamily="34" charset="-122"/>
                <a:cs typeface="Public Sans" pitchFamily="34" charset="-120"/>
              </a:rPr>
              <a:t>A way to keep building</a:t>
            </a:r>
            <a:endParaRPr lang="en-US" sz="1700" dirty="0"/>
          </a:p>
        </p:txBody>
      </p:sp>
      <p:sp>
        <p:nvSpPr>
          <p:cNvPr id="14" name="Text 11"/>
          <p:cNvSpPr txBox="1"/>
          <p:nvPr/>
        </p:nvSpPr>
        <p:spPr>
          <a:xfrm>
            <a:off x="8366760" y="3541776"/>
            <a:ext cx="2743200" cy="1026033"/>
          </a:xfrm>
          <a:prstGeom prst="rect">
            <a:avLst/>
          </a:prstGeom>
          <a:noFill/>
          <a:ln/>
        </p:spPr>
        <p:txBody>
          <a:bodyPr wrap="square" lIns="0" tIns="0" rIns="0" bIns="0" rtlCol="0" anchor="t"/>
          <a:lstStyle/>
          <a:p>
            <a:pPr indent="0" marL="0">
              <a:lnSpc>
                <a:spcPts val="1917"/>
              </a:lnSpc>
              <a:buNone/>
            </a:pPr>
            <a:r>
              <a:rPr lang="en-US" sz="1350" dirty="0">
                <a:solidFill>
                  <a:srgbClr val="5B6270"/>
                </a:solidFill>
                <a:latin typeface="Public Sans" pitchFamily="34" charset="0"/>
                <a:ea typeface="Public Sans" pitchFamily="34" charset="-122"/>
                <a:cs typeface="Public Sans" pitchFamily="34" charset="-120"/>
              </a:rPr>
              <a:t>Agents, skills, workflows, projects. One of each by the end — so the next one is just more of the same.</a:t>
            </a:r>
            <a:endParaRPr lang="en-US" sz="1350" dirty="0"/>
          </a:p>
        </p:txBody>
      </p:sp>
      <p:sp>
        <p:nvSpPr>
          <p:cNvPr id="15" name="Text 12"/>
          <p:cNvSpPr txBox="1"/>
          <p:nvPr/>
        </p:nvSpPr>
        <p:spPr>
          <a:xfrm>
            <a:off x="777240" y="5281041"/>
            <a:ext cx="10607040" cy="411480"/>
          </a:xfrm>
          <a:prstGeom prst="rect">
            <a:avLst/>
          </a:prstGeom>
          <a:noFill/>
          <a:ln/>
        </p:spPr>
        <p:txBody>
          <a:bodyPr wrap="square" lIns="0" tIns="0" rIns="0" bIns="0" rtlCol="0" anchor="ctr"/>
          <a:lstStyle/>
          <a:p>
            <a:pPr indent="0" marL="0">
              <a:buNone/>
            </a:pPr>
            <a:r>
              <a:rPr lang="en-US" sz="1450" dirty="0">
                <a:solidFill>
                  <a:srgbClr val="5B6270"/>
                </a:solidFill>
                <a:latin typeface="Public Sans" pitchFamily="34" charset="0"/>
                <a:ea typeface="Public Sans" pitchFamily="34" charset="-122"/>
                <a:cs typeface="Public Sans" pitchFamily="34" charset="-120"/>
              </a:rPr>
              <a:t>All of it yours, on your own machine, needing nobody afterwards.</a:t>
            </a:r>
            <a:endParaRPr lang="en-US" sz="1450" dirty="0"/>
          </a:p>
        </p:txBody>
      </p:sp>
      <p:sp>
        <p:nvSpPr>
          <p:cNvPr id="16" name="Text 13"/>
          <p:cNvSpPr txBox="1"/>
          <p:nvPr/>
        </p:nvSpPr>
        <p:spPr>
          <a:xfrm>
            <a:off x="777240" y="6291072"/>
            <a:ext cx="10637215" cy="274320"/>
          </a:xfrm>
          <a:prstGeom prst="rect">
            <a:avLst/>
          </a:prstGeom>
          <a:noFill/>
          <a:ln/>
        </p:spPr>
        <p:txBody>
          <a:bodyPr wrap="square" lIns="0" tIns="0" rIns="0" bIns="0" rtlCol="0" anchor="ctr"/>
          <a:lstStyle/>
          <a:p>
            <a:pPr indent="0" marL="0">
              <a:buNone/>
            </a:pPr>
            <a:r>
              <a:rPr lang="en-US" sz="950" spc="100" kern="0" dirty="0">
                <a:solidFill>
                  <a:srgbClr val="6B6D72"/>
                </a:solidFill>
                <a:latin typeface="Courier New" pitchFamily="34" charset="0"/>
                <a:ea typeface="Courier New" pitchFamily="34" charset="-122"/>
                <a:cs typeface="Courier New" pitchFamily="34" charset="-120"/>
              </a:rPr>
              <a:t>03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5171F"/>
        </a:solidFill>
      </p:bgPr>
    </p:bg>
    <p:spTree>
      <p:nvGrpSpPr>
        <p:cNvPr id="1" name=""/>
        <p:cNvGrpSpPr/>
        <p:nvPr/>
      </p:nvGrpSpPr>
      <p:grpSpPr>
        <a:xfrm>
          <a:off x="0" y="0"/>
          <a:ext cx="0" cy="0"/>
          <a:chOff x="0" y="0"/>
          <a:chExt cx="0" cy="0"/>
        </a:xfrm>
      </p:grpSpPr>
      <p:sp>
        <p:nvSpPr>
          <p:cNvPr id="2" name="Text 0"/>
          <p:cNvSpPr txBox="1"/>
          <p:nvPr/>
        </p:nvSpPr>
        <p:spPr>
          <a:xfrm>
            <a:off x="777240" y="420624"/>
            <a:ext cx="8229600" cy="274320"/>
          </a:xfrm>
          <a:prstGeom prst="rect">
            <a:avLst/>
          </a:prstGeom>
          <a:noFill/>
          <a:ln/>
        </p:spPr>
        <p:txBody>
          <a:bodyPr wrap="square" lIns="0" tIns="0" rIns="0" bIns="0" rtlCol="0" anchor="ctr"/>
          <a:lstStyle/>
          <a:p>
            <a:pPr indent="0" marL="0">
              <a:buNone/>
            </a:pPr>
            <a:r>
              <a:rPr lang="en-US" sz="1100" spc="200" kern="0" dirty="0">
                <a:solidFill>
                  <a:srgbClr val="A59CFF"/>
                </a:solidFill>
                <a:latin typeface="Courier New" pitchFamily="34" charset="0"/>
                <a:ea typeface="Courier New" pitchFamily="34" charset="-122"/>
                <a:cs typeface="Courier New" pitchFamily="34" charset="-120"/>
              </a:rPr>
              <a:t>THE IDEA</a:t>
            </a:r>
            <a:endParaRPr lang="en-US" sz="1100" dirty="0"/>
          </a:p>
        </p:txBody>
      </p:sp>
      <p:pic>
        <p:nvPicPr>
          <p:cNvPr id="3" name="Image 0" descr="/tmp/claude-0/-home-claude/e62a35b1-5075-553d-b086-acebfebc41ba/scratchpad/brand/meshpro-emblem-navy.png">    </p:cNvPr>
          <p:cNvPicPr>
            <a:picLocks noChangeAspect="1"/>
          </p:cNvPicPr>
          <p:nvPr/>
        </p:nvPicPr>
        <p:blipFill>
          <a:blip r:embed="rId1"/>
          <a:stretch>
            <a:fillRect/>
          </a:stretch>
        </p:blipFill>
        <p:spPr>
          <a:xfrm>
            <a:off x="11140135" y="411480"/>
            <a:ext cx="384048" cy="374904"/>
          </a:xfrm>
          <a:prstGeom prst="rect">
            <a:avLst/>
          </a:prstGeom>
        </p:spPr>
      </p:pic>
      <p:sp>
        <p:nvSpPr>
          <p:cNvPr id="4" name="Text 1"/>
          <p:cNvSpPr txBox="1"/>
          <p:nvPr/>
        </p:nvSpPr>
        <p:spPr>
          <a:xfrm>
            <a:off x="777240" y="868680"/>
            <a:ext cx="9951415" cy="914400"/>
          </a:xfrm>
          <a:prstGeom prst="rect">
            <a:avLst/>
          </a:prstGeom>
          <a:noFill/>
          <a:ln/>
        </p:spPr>
        <p:txBody>
          <a:bodyPr wrap="square" lIns="0" tIns="0" rIns="0" bIns="0" rtlCol="0" anchor="ctr"/>
          <a:lstStyle/>
          <a:p>
            <a:pPr indent="0" marL="0">
              <a:lnSpc>
                <a:spcPts val="3712"/>
              </a:lnSpc>
              <a:buNone/>
            </a:pPr>
            <a:r>
              <a:rPr lang="en-US" sz="3200" b="1" dirty="0">
                <a:solidFill>
                  <a:srgbClr val="FFFFFF"/>
                </a:solidFill>
                <a:latin typeface="Public Sans" pitchFamily="34" charset="0"/>
                <a:ea typeface="Public Sans" pitchFamily="34" charset="-122"/>
                <a:cs typeface="Public Sans" pitchFamily="34" charset="-120"/>
              </a:rPr>
              <a:t>This is not being built for you.</a:t>
            </a:r>
            <a:endParaRPr lang="en-US" sz="3200" dirty="0"/>
          </a:p>
          <a:p>
            <a:pPr indent="0" marL="0">
              <a:lnSpc>
                <a:spcPts val="3712"/>
              </a:lnSpc>
              <a:buNone/>
            </a:pPr>
            <a:r>
              <a:rPr lang="en-US" sz="3200" b="1" dirty="0">
                <a:solidFill>
                  <a:srgbClr val="FFFFFF"/>
                </a:solidFill>
                <a:latin typeface="Public Sans" pitchFamily="34" charset="0"/>
                <a:ea typeface="Public Sans" pitchFamily="34" charset="-122"/>
                <a:cs typeface="Public Sans" pitchFamily="34" charset="-120"/>
              </a:rPr>
              <a:t>It is being built for the agents.</a:t>
            </a:r>
            <a:endParaRPr lang="en-US" sz="3200" dirty="0"/>
          </a:p>
        </p:txBody>
      </p:sp>
      <p:sp>
        <p:nvSpPr>
          <p:cNvPr id="5" name="Text 2"/>
          <p:cNvSpPr txBox="1"/>
          <p:nvPr/>
        </p:nvSpPr>
        <p:spPr>
          <a:xfrm>
            <a:off x="777240" y="2148840"/>
            <a:ext cx="10637215" cy="566928"/>
          </a:xfrm>
          <a:prstGeom prst="rect">
            <a:avLst/>
          </a:prstGeom>
          <a:noFill/>
          <a:ln/>
        </p:spPr>
        <p:txBody>
          <a:bodyPr wrap="square" lIns="0" tIns="0" rIns="0" bIns="0" rtlCol="0" anchor="ctr"/>
          <a:lstStyle/>
          <a:p>
            <a:pPr indent="0" marL="0">
              <a:lnSpc>
                <a:spcPts val="2300"/>
              </a:lnSpc>
              <a:buNone/>
            </a:pPr>
            <a:r>
              <a:rPr lang="en-US" sz="1600" dirty="0">
                <a:solidFill>
                  <a:srgbClr val="A8ADBA"/>
                </a:solidFill>
                <a:latin typeface="Public Sans" pitchFamily="34" charset="0"/>
                <a:ea typeface="Public Sans" pitchFamily="34" charset="-122"/>
                <a:cs typeface="Public Sans" pitchFamily="34" charset="-120"/>
              </a:rPr>
              <a:t>Not a nicer set of notes — a structure an LLM can read, navigate and act on. Readable by a person is the side effect.</a:t>
            </a:r>
            <a:endParaRPr lang="en-US" sz="1600" dirty="0"/>
          </a:p>
        </p:txBody>
      </p:sp>
      <p:sp>
        <p:nvSpPr>
          <p:cNvPr id="6" name="Shape 3"/>
          <p:cNvSpPr/>
          <p:nvPr/>
        </p:nvSpPr>
        <p:spPr>
          <a:xfrm>
            <a:off x="777240" y="3200400"/>
            <a:ext cx="3291840" cy="1977009"/>
          </a:xfrm>
          <a:prstGeom prst="roundRect">
            <a:avLst>
              <a:gd name="adj" fmla="val 2775"/>
            </a:avLst>
          </a:prstGeom>
          <a:solidFill>
            <a:srgbClr val="1B1D29"/>
          </a:solidFill>
          <a:ln w="12700">
            <a:solidFill>
              <a:srgbClr val="2B2E3C"/>
            </a:solidFill>
            <a:prstDash val="solid"/>
          </a:ln>
        </p:spPr>
      </p:sp>
      <p:sp>
        <p:nvSpPr>
          <p:cNvPr id="7" name="Text 4"/>
          <p:cNvSpPr txBox="1"/>
          <p:nvPr/>
        </p:nvSpPr>
        <p:spPr>
          <a:xfrm>
            <a:off x="1051560" y="3474720"/>
            <a:ext cx="2743200" cy="219456"/>
          </a:xfrm>
          <a:prstGeom prst="rect">
            <a:avLst/>
          </a:prstGeom>
          <a:noFill/>
          <a:ln/>
        </p:spPr>
        <p:txBody>
          <a:bodyPr wrap="square" lIns="0" tIns="0" rIns="0" bIns="0" rtlCol="0" anchor="ctr"/>
          <a:lstStyle/>
          <a:p>
            <a:pPr indent="0" marL="0">
              <a:buNone/>
            </a:pPr>
            <a:r>
              <a:rPr lang="en-US" sz="950" spc="140" kern="0" dirty="0">
                <a:solidFill>
                  <a:srgbClr val="A59CFF"/>
                </a:solidFill>
                <a:latin typeface="Courier New" pitchFamily="34" charset="0"/>
                <a:ea typeface="Courier New" pitchFamily="34" charset="-122"/>
                <a:cs typeface="Courier New" pitchFamily="34" charset="-120"/>
              </a:rPr>
              <a:t>ONE HOME</a:t>
            </a:r>
            <a:endParaRPr lang="en-US" sz="950" dirty="0"/>
          </a:p>
        </p:txBody>
      </p:sp>
      <p:sp>
        <p:nvSpPr>
          <p:cNvPr id="8" name="Text 5"/>
          <p:cNvSpPr txBox="1"/>
          <p:nvPr/>
        </p:nvSpPr>
        <p:spPr>
          <a:xfrm>
            <a:off x="1051560" y="3767328"/>
            <a:ext cx="2743200" cy="259080"/>
          </a:xfrm>
          <a:prstGeom prst="rect">
            <a:avLst/>
          </a:prstGeom>
          <a:noFill/>
          <a:ln/>
        </p:spPr>
        <p:txBody>
          <a:bodyPr wrap="square" lIns="0" tIns="0" rIns="0" bIns="0" rtlCol="0" anchor="t"/>
          <a:lstStyle/>
          <a:p>
            <a:pPr indent="0" marL="0">
              <a:lnSpc>
                <a:spcPts val="2040"/>
              </a:lnSpc>
              <a:buNone/>
            </a:pPr>
            <a:r>
              <a:rPr lang="en-US" sz="1700" b="1" dirty="0">
                <a:solidFill>
                  <a:srgbClr val="FFFFFF"/>
                </a:solidFill>
                <a:latin typeface="Public Sans" pitchFamily="34" charset="0"/>
                <a:ea typeface="Public Sans" pitchFamily="34" charset="-122"/>
                <a:cs typeface="Public Sans" pitchFamily="34" charset="-120"/>
              </a:rPr>
              <a:t>A fact lives in one place</a:t>
            </a:r>
            <a:endParaRPr lang="en-US" sz="1700" dirty="0"/>
          </a:p>
        </p:txBody>
      </p:sp>
      <p:sp>
        <p:nvSpPr>
          <p:cNvPr id="9" name="Text 6"/>
          <p:cNvSpPr txBox="1"/>
          <p:nvPr/>
        </p:nvSpPr>
        <p:spPr>
          <a:xfrm>
            <a:off x="1051560" y="4154424"/>
            <a:ext cx="2743200" cy="766953"/>
          </a:xfrm>
          <a:prstGeom prst="rect">
            <a:avLst/>
          </a:prstGeom>
          <a:noFill/>
          <a:ln/>
        </p:spPr>
        <p:txBody>
          <a:bodyPr wrap="square" lIns="0" tIns="0" rIns="0" bIns="0" rtlCol="0" anchor="t"/>
          <a:lstStyle/>
          <a:p>
            <a:pPr indent="0" marL="0">
              <a:lnSpc>
                <a:spcPts val="1917"/>
              </a:lnSpc>
              <a:buNone/>
            </a:pPr>
            <a:r>
              <a:rPr lang="en-US" sz="1350" dirty="0">
                <a:solidFill>
                  <a:srgbClr val="A8ADBA"/>
                </a:solidFill>
                <a:latin typeface="Public Sans" pitchFamily="34" charset="0"/>
                <a:ea typeface="Public Sans" pitchFamily="34" charset="-122"/>
                <a:cs typeface="Public Sans" pitchFamily="34" charset="-120"/>
              </a:rPr>
              <a:t>No agent ever has to choose between two versions of the truth. Neither do you.</a:t>
            </a:r>
            <a:endParaRPr lang="en-US" sz="1350" dirty="0"/>
          </a:p>
        </p:txBody>
      </p:sp>
      <p:sp>
        <p:nvSpPr>
          <p:cNvPr id="10" name="Shape 7"/>
          <p:cNvSpPr/>
          <p:nvPr/>
        </p:nvSpPr>
        <p:spPr>
          <a:xfrm>
            <a:off x="4434840" y="3200400"/>
            <a:ext cx="3291840" cy="1977009"/>
          </a:xfrm>
          <a:prstGeom prst="roundRect">
            <a:avLst>
              <a:gd name="adj" fmla="val 2775"/>
            </a:avLst>
          </a:prstGeom>
          <a:solidFill>
            <a:srgbClr val="1B1D29"/>
          </a:solidFill>
          <a:ln w="12700">
            <a:solidFill>
              <a:srgbClr val="2B2E3C"/>
            </a:solidFill>
            <a:prstDash val="solid"/>
          </a:ln>
        </p:spPr>
      </p:sp>
      <p:sp>
        <p:nvSpPr>
          <p:cNvPr id="11" name="Text 8"/>
          <p:cNvSpPr txBox="1"/>
          <p:nvPr/>
        </p:nvSpPr>
        <p:spPr>
          <a:xfrm>
            <a:off x="4709160" y="3474720"/>
            <a:ext cx="2743200" cy="219456"/>
          </a:xfrm>
          <a:prstGeom prst="rect">
            <a:avLst/>
          </a:prstGeom>
          <a:noFill/>
          <a:ln/>
        </p:spPr>
        <p:txBody>
          <a:bodyPr wrap="square" lIns="0" tIns="0" rIns="0" bIns="0" rtlCol="0" anchor="ctr"/>
          <a:lstStyle/>
          <a:p>
            <a:pPr indent="0" marL="0">
              <a:buNone/>
            </a:pPr>
            <a:r>
              <a:rPr lang="en-US" sz="950" spc="140" kern="0" dirty="0">
                <a:solidFill>
                  <a:srgbClr val="A59CFF"/>
                </a:solidFill>
                <a:latin typeface="Courier New" pitchFamily="34" charset="0"/>
                <a:ea typeface="Courier New" pitchFamily="34" charset="-122"/>
                <a:cs typeface="Courier New" pitchFamily="34" charset="-120"/>
              </a:rPr>
              <a:t>FIELDS, NOT PROSE</a:t>
            </a:r>
            <a:endParaRPr lang="en-US" sz="950" dirty="0"/>
          </a:p>
        </p:txBody>
      </p:sp>
      <p:sp>
        <p:nvSpPr>
          <p:cNvPr id="12" name="Text 9"/>
          <p:cNvSpPr txBox="1"/>
          <p:nvPr/>
        </p:nvSpPr>
        <p:spPr>
          <a:xfrm>
            <a:off x="4709160" y="3767328"/>
            <a:ext cx="2743200" cy="259080"/>
          </a:xfrm>
          <a:prstGeom prst="rect">
            <a:avLst/>
          </a:prstGeom>
          <a:noFill/>
          <a:ln/>
        </p:spPr>
        <p:txBody>
          <a:bodyPr wrap="square" lIns="0" tIns="0" rIns="0" bIns="0" rtlCol="0" anchor="t"/>
          <a:lstStyle/>
          <a:p>
            <a:pPr indent="0" marL="0">
              <a:lnSpc>
                <a:spcPts val="2040"/>
              </a:lnSpc>
              <a:buNone/>
            </a:pPr>
            <a:r>
              <a:rPr lang="en-US" sz="1700" b="1" dirty="0">
                <a:solidFill>
                  <a:srgbClr val="FFFFFF"/>
                </a:solidFill>
                <a:latin typeface="Public Sans" pitchFamily="34" charset="0"/>
                <a:ea typeface="Public Sans" pitchFamily="34" charset="-122"/>
                <a:cs typeface="Public Sans" pitchFamily="34" charset="-120"/>
              </a:rPr>
              <a:t>Every note is labelled</a:t>
            </a:r>
            <a:endParaRPr lang="en-US" sz="1700" dirty="0"/>
          </a:p>
        </p:txBody>
      </p:sp>
      <p:sp>
        <p:nvSpPr>
          <p:cNvPr id="13" name="Text 10"/>
          <p:cNvSpPr txBox="1"/>
          <p:nvPr/>
        </p:nvSpPr>
        <p:spPr>
          <a:xfrm>
            <a:off x="4709160" y="4154424"/>
            <a:ext cx="2743200" cy="766953"/>
          </a:xfrm>
          <a:prstGeom prst="rect">
            <a:avLst/>
          </a:prstGeom>
          <a:noFill/>
          <a:ln/>
        </p:spPr>
        <p:txBody>
          <a:bodyPr wrap="square" lIns="0" tIns="0" rIns="0" bIns="0" rtlCol="0" anchor="t"/>
          <a:lstStyle/>
          <a:p>
            <a:pPr indent="0" marL="0">
              <a:lnSpc>
                <a:spcPts val="1917"/>
              </a:lnSpc>
              <a:buNone/>
            </a:pPr>
            <a:r>
              <a:rPr lang="en-US" sz="1350" dirty="0">
                <a:solidFill>
                  <a:srgbClr val="A8ADBA"/>
                </a:solidFill>
                <a:latin typeface="Public Sans" pitchFamily="34" charset="0"/>
                <a:ea typeface="Public Sans" pitchFamily="34" charset="-122"/>
                <a:cs typeface="Public Sans" pitchFamily="34" charset="-120"/>
              </a:rPr>
              <a:t>Fields it can filter and count, instead of guessing from prose.</a:t>
            </a:r>
            <a:endParaRPr lang="en-US" sz="1350" dirty="0"/>
          </a:p>
        </p:txBody>
      </p:sp>
      <p:sp>
        <p:nvSpPr>
          <p:cNvPr id="14" name="Shape 11"/>
          <p:cNvSpPr/>
          <p:nvPr/>
        </p:nvSpPr>
        <p:spPr>
          <a:xfrm>
            <a:off x="8092440" y="3200400"/>
            <a:ext cx="3291840" cy="1977009"/>
          </a:xfrm>
          <a:prstGeom prst="roundRect">
            <a:avLst>
              <a:gd name="adj" fmla="val 2775"/>
            </a:avLst>
          </a:prstGeom>
          <a:solidFill>
            <a:srgbClr val="1B1D29"/>
          </a:solidFill>
          <a:ln w="12700">
            <a:solidFill>
              <a:srgbClr val="2B2E3C"/>
            </a:solidFill>
            <a:prstDash val="solid"/>
          </a:ln>
        </p:spPr>
      </p:sp>
      <p:sp>
        <p:nvSpPr>
          <p:cNvPr id="15" name="Text 12"/>
          <p:cNvSpPr txBox="1"/>
          <p:nvPr/>
        </p:nvSpPr>
        <p:spPr>
          <a:xfrm>
            <a:off x="8366760" y="3474720"/>
            <a:ext cx="2743200" cy="219456"/>
          </a:xfrm>
          <a:prstGeom prst="rect">
            <a:avLst/>
          </a:prstGeom>
          <a:noFill/>
          <a:ln/>
        </p:spPr>
        <p:txBody>
          <a:bodyPr wrap="square" lIns="0" tIns="0" rIns="0" bIns="0" rtlCol="0" anchor="ctr"/>
          <a:lstStyle/>
          <a:p>
            <a:pPr indent="0" marL="0">
              <a:buNone/>
            </a:pPr>
            <a:r>
              <a:rPr lang="en-US" sz="950" spc="140" kern="0" dirty="0">
                <a:solidFill>
                  <a:srgbClr val="A59CFF"/>
                </a:solidFill>
                <a:latin typeface="Courier New" pitchFamily="34" charset="0"/>
                <a:ea typeface="Courier New" pitchFamily="34" charset="-122"/>
                <a:cs typeface="Courier New" pitchFamily="34" charset="-120"/>
              </a:rPr>
              <a:t>THE GRAPH</a:t>
            </a:r>
            <a:endParaRPr lang="en-US" sz="950" dirty="0"/>
          </a:p>
        </p:txBody>
      </p:sp>
      <p:sp>
        <p:nvSpPr>
          <p:cNvPr id="16" name="Text 13"/>
          <p:cNvSpPr txBox="1"/>
          <p:nvPr/>
        </p:nvSpPr>
        <p:spPr>
          <a:xfrm>
            <a:off x="8366760" y="3767328"/>
            <a:ext cx="2743200" cy="259080"/>
          </a:xfrm>
          <a:prstGeom prst="rect">
            <a:avLst/>
          </a:prstGeom>
          <a:noFill/>
          <a:ln/>
        </p:spPr>
        <p:txBody>
          <a:bodyPr wrap="square" lIns="0" tIns="0" rIns="0" bIns="0" rtlCol="0" anchor="t"/>
          <a:lstStyle/>
          <a:p>
            <a:pPr indent="0" marL="0">
              <a:lnSpc>
                <a:spcPts val="2040"/>
              </a:lnSpc>
              <a:buNone/>
            </a:pPr>
            <a:r>
              <a:rPr lang="en-US" sz="1700" b="1" dirty="0">
                <a:solidFill>
                  <a:srgbClr val="FFFFFF"/>
                </a:solidFill>
                <a:latin typeface="Public Sans" pitchFamily="34" charset="0"/>
                <a:ea typeface="Public Sans" pitchFamily="34" charset="-122"/>
                <a:cs typeface="Public Sans" pitchFamily="34" charset="-120"/>
              </a:rPr>
              <a:t>Linked, never copied</a:t>
            </a:r>
            <a:endParaRPr lang="en-US" sz="1700" dirty="0"/>
          </a:p>
        </p:txBody>
      </p:sp>
      <p:sp>
        <p:nvSpPr>
          <p:cNvPr id="17" name="Text 14"/>
          <p:cNvSpPr txBox="1"/>
          <p:nvPr/>
        </p:nvSpPr>
        <p:spPr>
          <a:xfrm>
            <a:off x="8366760" y="4154424"/>
            <a:ext cx="2743200" cy="766953"/>
          </a:xfrm>
          <a:prstGeom prst="rect">
            <a:avLst/>
          </a:prstGeom>
          <a:noFill/>
          <a:ln/>
        </p:spPr>
        <p:txBody>
          <a:bodyPr wrap="square" lIns="0" tIns="0" rIns="0" bIns="0" rtlCol="0" anchor="t"/>
          <a:lstStyle/>
          <a:p>
            <a:pPr indent="0" marL="0">
              <a:lnSpc>
                <a:spcPts val="1917"/>
              </a:lnSpc>
              <a:buNone/>
            </a:pPr>
            <a:r>
              <a:rPr lang="en-US" sz="1350" dirty="0">
                <a:solidFill>
                  <a:srgbClr val="A8ADBA"/>
                </a:solidFill>
                <a:latin typeface="Public Sans" pitchFamily="34" charset="0"/>
                <a:ea typeface="Public Sans" pitchFamily="34" charset="-122"/>
                <a:cs typeface="Public Sans" pitchFamily="34" charset="-120"/>
              </a:rPr>
              <a:t>The graph is how it finds context. Copy-paste breaks it.</a:t>
            </a:r>
            <a:endParaRPr lang="en-US" sz="1350" dirty="0"/>
          </a:p>
        </p:txBody>
      </p:sp>
      <p:sp>
        <p:nvSpPr>
          <p:cNvPr id="18" name="Text 15"/>
          <p:cNvSpPr txBox="1"/>
          <p:nvPr/>
        </p:nvSpPr>
        <p:spPr>
          <a:xfrm>
            <a:off x="777240" y="6291072"/>
            <a:ext cx="10637215" cy="274320"/>
          </a:xfrm>
          <a:prstGeom prst="rect">
            <a:avLst/>
          </a:prstGeom>
          <a:noFill/>
          <a:ln/>
        </p:spPr>
        <p:txBody>
          <a:bodyPr wrap="square" lIns="0" tIns="0" rIns="0" bIns="0" rtlCol="0" anchor="ctr"/>
          <a:lstStyle/>
          <a:p>
            <a:pPr indent="0" marL="0">
              <a:buNone/>
            </a:pPr>
            <a:r>
              <a:rPr lang="en-US" sz="950" spc="100" kern="0" dirty="0">
                <a:solidFill>
                  <a:srgbClr val="8A90A0"/>
                </a:solidFill>
                <a:latin typeface="Courier New" pitchFamily="34" charset="0"/>
                <a:ea typeface="Courier New" pitchFamily="34" charset="-122"/>
                <a:cs typeface="Courier New" pitchFamily="34" charset="-120"/>
              </a:rPr>
              <a:t>04</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77240" y="420624"/>
            <a:ext cx="8229600" cy="274320"/>
          </a:xfrm>
          <a:prstGeom prst="rect">
            <a:avLst/>
          </a:prstGeom>
          <a:noFill/>
          <a:ln/>
        </p:spPr>
        <p:txBody>
          <a:bodyPr wrap="square" lIns="0" tIns="0" rIns="0" bIns="0" rtlCol="0" anchor="ctr"/>
          <a:lstStyle/>
          <a:p>
            <a:pPr indent="0" marL="0">
              <a:buNone/>
            </a:pPr>
            <a:r>
              <a:rPr lang="en-US" sz="1100" spc="200" kern="0" dirty="0">
                <a:solidFill>
                  <a:srgbClr val="6055D8"/>
                </a:solidFill>
                <a:latin typeface="Courier New" pitchFamily="34" charset="0"/>
                <a:ea typeface="Courier New" pitchFamily="34" charset="-122"/>
                <a:cs typeface="Courier New" pitchFamily="34" charset="-120"/>
              </a:rPr>
              <a:t>THE ONE TOOL WORTH HAVING</a:t>
            </a:r>
            <a:endParaRPr lang="en-US" sz="1100" dirty="0"/>
          </a:p>
        </p:txBody>
      </p:sp>
      <p:pic>
        <p:nvPicPr>
          <p:cNvPr id="3" name="Image 0" descr="/tmp/claude-0/-home-claude/e62a35b1-5075-553d-b086-acebfebc41ba/scratchpad/brand/meshpro-emblem-white.png">    </p:cNvPr>
          <p:cNvPicPr>
            <a:picLocks noChangeAspect="1"/>
          </p:cNvPicPr>
          <p:nvPr/>
        </p:nvPicPr>
        <p:blipFill>
          <a:blip r:embed="rId1"/>
          <a:stretch>
            <a:fillRect/>
          </a:stretch>
        </p:blipFill>
        <p:spPr>
          <a:xfrm>
            <a:off x="11140135" y="411480"/>
            <a:ext cx="384048" cy="374904"/>
          </a:xfrm>
          <a:prstGeom prst="rect">
            <a:avLst/>
          </a:prstGeom>
        </p:spPr>
      </p:pic>
      <p:sp>
        <p:nvSpPr>
          <p:cNvPr id="4" name="Text 1"/>
          <p:cNvSpPr txBox="1"/>
          <p:nvPr/>
        </p:nvSpPr>
        <p:spPr>
          <a:xfrm>
            <a:off x="777240" y="868680"/>
            <a:ext cx="9951415" cy="914400"/>
          </a:xfrm>
          <a:prstGeom prst="rect">
            <a:avLst/>
          </a:prstGeom>
          <a:noFill/>
          <a:ln/>
        </p:spPr>
        <p:txBody>
          <a:bodyPr wrap="square" lIns="0" tIns="0" rIns="0" bIns="0" rtlCol="0" anchor="ctr"/>
          <a:lstStyle/>
          <a:p>
            <a:pPr indent="0" marL="0">
              <a:lnSpc>
                <a:spcPts val="3712"/>
              </a:lnSpc>
              <a:buNone/>
            </a:pPr>
            <a:r>
              <a:rPr lang="en-US" sz="3200" b="1" dirty="0">
                <a:solidFill>
                  <a:srgbClr val="15171F"/>
                </a:solidFill>
                <a:latin typeface="Public Sans" pitchFamily="34" charset="0"/>
                <a:ea typeface="Public Sans" pitchFamily="34" charset="-122"/>
                <a:cs typeface="Public Sans" pitchFamily="34" charset="-120"/>
              </a:rPr>
              <a:t>Obsidian: worth the five minutes</a:t>
            </a:r>
            <a:endParaRPr lang="en-US" sz="3200" dirty="0"/>
          </a:p>
        </p:txBody>
      </p:sp>
      <p:sp>
        <p:nvSpPr>
          <p:cNvPr id="5" name="Text 2"/>
          <p:cNvSpPr txBox="1"/>
          <p:nvPr/>
        </p:nvSpPr>
        <p:spPr>
          <a:xfrm>
            <a:off x="777240" y="2011680"/>
            <a:ext cx="10637215" cy="566928"/>
          </a:xfrm>
          <a:prstGeom prst="rect">
            <a:avLst/>
          </a:prstGeom>
          <a:noFill/>
          <a:ln/>
        </p:spPr>
        <p:txBody>
          <a:bodyPr wrap="square" lIns="0" tIns="0" rIns="0" bIns="0" rtlCol="0" anchor="ctr"/>
          <a:lstStyle/>
          <a:p>
            <a:pPr indent="0" marL="0">
              <a:lnSpc>
                <a:spcPts val="2300"/>
              </a:lnSpc>
              <a:buNone/>
            </a:pPr>
            <a:r>
              <a:rPr lang="en-US" sz="1600" dirty="0">
                <a:solidFill>
                  <a:srgbClr val="5B6270"/>
                </a:solidFill>
                <a:latin typeface="Public Sans" pitchFamily="34" charset="0"/>
                <a:ea typeface="Public Sans" pitchFamily="34" charset="-122"/>
                <a:cs typeface="Public Sans" pitchFamily="34" charset="-120"/>
              </a:rPr>
              <a:t>Obsidian stores nothing. It reads a folder — and creating a vault makes that folder for you.</a:t>
            </a:r>
            <a:endParaRPr lang="en-US" sz="1600" dirty="0"/>
          </a:p>
        </p:txBody>
      </p:sp>
      <p:sp>
        <p:nvSpPr>
          <p:cNvPr id="6" name="Shape 3"/>
          <p:cNvSpPr/>
          <p:nvPr/>
        </p:nvSpPr>
        <p:spPr>
          <a:xfrm>
            <a:off x="777240" y="3017520"/>
            <a:ext cx="5029200" cy="2509012"/>
          </a:xfrm>
          <a:prstGeom prst="roundRect">
            <a:avLst>
              <a:gd name="adj" fmla="val 2187"/>
            </a:avLst>
          </a:prstGeom>
          <a:solidFill>
            <a:srgbClr val="F4F5F8"/>
          </a:solidFill>
          <a:ln w="12700">
            <a:solidFill>
              <a:srgbClr val="E4E6EC"/>
            </a:solidFill>
            <a:prstDash val="solid"/>
          </a:ln>
        </p:spPr>
      </p:sp>
      <p:sp>
        <p:nvSpPr>
          <p:cNvPr id="7" name="Text 4"/>
          <p:cNvSpPr txBox="1"/>
          <p:nvPr/>
        </p:nvSpPr>
        <p:spPr>
          <a:xfrm>
            <a:off x="1051560" y="3291840"/>
            <a:ext cx="4480560" cy="219456"/>
          </a:xfrm>
          <a:prstGeom prst="rect">
            <a:avLst/>
          </a:prstGeom>
          <a:noFill/>
          <a:ln/>
        </p:spPr>
        <p:txBody>
          <a:bodyPr wrap="square" lIns="0" tIns="0" rIns="0" bIns="0" rtlCol="0" anchor="ctr"/>
          <a:lstStyle/>
          <a:p>
            <a:pPr indent="0" marL="0">
              <a:buNone/>
            </a:pPr>
            <a:r>
              <a:rPr lang="en-US" sz="950" spc="140" kern="0" dirty="0">
                <a:solidFill>
                  <a:srgbClr val="6055D8"/>
                </a:solidFill>
                <a:latin typeface="Courier New" pitchFamily="34" charset="0"/>
                <a:ea typeface="Courier New" pitchFamily="34" charset="-122"/>
                <a:cs typeface="Courier New" pitchFamily="34" charset="-120"/>
              </a:rPr>
              <a:t>WHAT IT GIVES THE AGENTS</a:t>
            </a:r>
            <a:endParaRPr lang="en-US" sz="950" dirty="0"/>
          </a:p>
        </p:txBody>
      </p:sp>
      <p:sp>
        <p:nvSpPr>
          <p:cNvPr id="8" name="Text 5"/>
          <p:cNvSpPr txBox="1"/>
          <p:nvPr/>
        </p:nvSpPr>
        <p:spPr>
          <a:xfrm>
            <a:off x="1051560" y="3584448"/>
            <a:ext cx="4480560" cy="259080"/>
          </a:xfrm>
          <a:prstGeom prst="rect">
            <a:avLst/>
          </a:prstGeom>
          <a:noFill/>
          <a:ln/>
        </p:spPr>
        <p:txBody>
          <a:bodyPr wrap="square" lIns="0" tIns="0" rIns="0" bIns="0" rtlCol="0" anchor="t"/>
          <a:lstStyle/>
          <a:p>
            <a:pPr indent="0" marL="0">
              <a:lnSpc>
                <a:spcPts val="2040"/>
              </a:lnSpc>
              <a:buNone/>
            </a:pPr>
            <a:r>
              <a:rPr lang="en-US" sz="1700" b="1" dirty="0">
                <a:solidFill>
                  <a:srgbClr val="15171F"/>
                </a:solidFill>
                <a:latin typeface="Public Sans" pitchFamily="34" charset="0"/>
                <a:ea typeface="Public Sans" pitchFamily="34" charset="-122"/>
                <a:cs typeface="Public Sans" pitchFamily="34" charset="-120"/>
              </a:rPr>
              <a:t>Retrieval that actually works</a:t>
            </a:r>
            <a:endParaRPr lang="en-US" sz="1700" dirty="0"/>
          </a:p>
        </p:txBody>
      </p:sp>
      <p:sp>
        <p:nvSpPr>
          <p:cNvPr id="9" name="Text 6"/>
          <p:cNvSpPr txBox="1"/>
          <p:nvPr/>
        </p:nvSpPr>
        <p:spPr>
          <a:xfrm>
            <a:off x="1051560" y="3971544"/>
            <a:ext cx="4480560" cy="1298956"/>
          </a:xfrm>
          <a:prstGeom prst="rect">
            <a:avLst/>
          </a:prstGeom>
          <a:noFill/>
          <a:ln/>
        </p:spPr>
        <p:txBody>
          <a:bodyPr wrap="square" lIns="0" tIns="0" rIns="0" bIns="0" rtlCol="0" anchor="t"/>
          <a:lstStyle/>
          <a:p>
            <a:pPr indent="0" marL="0">
              <a:lnSpc>
                <a:spcPts val="1988"/>
              </a:lnSpc>
              <a:buNone/>
            </a:pPr>
            <a:r>
              <a:rPr lang="en-US" sz="1400" dirty="0">
                <a:solidFill>
                  <a:srgbClr val="5B6270"/>
                </a:solidFill>
                <a:latin typeface="Public Sans" pitchFamily="34" charset="0"/>
                <a:ea typeface="Public Sans" pitchFamily="34" charset="-122"/>
                <a:cs typeface="Public Sans" pitchFamily="34" charset="-120"/>
              </a:rPr>
              <a:t>Backlinks and the graph give an agent something to walk: client, to promise, to the workflow that delivers it.</a:t>
            </a:r>
            <a:endParaRPr lang="en-US" sz="1400" dirty="0"/>
          </a:p>
          <a:p>
            <a:pPr indent="0" marL="0">
              <a:lnSpc>
                <a:spcPts val="1988"/>
              </a:lnSpc>
              <a:buNone/>
            </a:pPr>
            <a:endParaRPr lang="en-US" sz="1400" dirty="0"/>
          </a:p>
          <a:p>
            <a:pPr indent="0" marL="0">
              <a:lnSpc>
                <a:spcPts val="1988"/>
              </a:lnSpc>
              <a:buNone/>
            </a:pPr>
            <a:r>
              <a:rPr lang="en-US" sz="1400" dirty="0">
                <a:solidFill>
                  <a:srgbClr val="5B6270"/>
                </a:solidFill>
                <a:latin typeface="Public Sans" pitchFamily="34" charset="0"/>
                <a:ea typeface="Public Sans" pitchFamily="34" charset="-122"/>
                <a:cs typeface="Public Sans" pitchFamily="34" charset="-120"/>
              </a:rPr>
              <a:t>Plus Dataview and the rest of the plugin shelf.</a:t>
            </a:r>
            <a:endParaRPr lang="en-US" sz="1400" dirty="0"/>
          </a:p>
        </p:txBody>
      </p:sp>
      <p:sp>
        <p:nvSpPr>
          <p:cNvPr id="10" name="Shape 7"/>
          <p:cNvSpPr/>
          <p:nvPr/>
        </p:nvSpPr>
        <p:spPr>
          <a:xfrm>
            <a:off x="6172200" y="3017520"/>
            <a:ext cx="5029200" cy="2509012"/>
          </a:xfrm>
          <a:prstGeom prst="roundRect">
            <a:avLst>
              <a:gd name="adj" fmla="val 2187"/>
            </a:avLst>
          </a:prstGeom>
          <a:solidFill>
            <a:srgbClr val="F4F5F8"/>
          </a:solidFill>
          <a:ln w="12700">
            <a:solidFill>
              <a:srgbClr val="E4E6EC"/>
            </a:solidFill>
            <a:prstDash val="solid"/>
          </a:ln>
        </p:spPr>
      </p:sp>
      <p:sp>
        <p:nvSpPr>
          <p:cNvPr id="11" name="Text 8"/>
          <p:cNvSpPr txBox="1"/>
          <p:nvPr/>
        </p:nvSpPr>
        <p:spPr>
          <a:xfrm>
            <a:off x="6446520" y="3291840"/>
            <a:ext cx="4480560" cy="219456"/>
          </a:xfrm>
          <a:prstGeom prst="rect">
            <a:avLst/>
          </a:prstGeom>
          <a:noFill/>
          <a:ln/>
        </p:spPr>
        <p:txBody>
          <a:bodyPr wrap="square" lIns="0" tIns="0" rIns="0" bIns="0" rtlCol="0" anchor="ctr"/>
          <a:lstStyle/>
          <a:p>
            <a:pPr indent="0" marL="0">
              <a:buNone/>
            </a:pPr>
            <a:r>
              <a:rPr lang="en-US" sz="950" spc="140" kern="0" dirty="0">
                <a:solidFill>
                  <a:srgbClr val="6055D8"/>
                </a:solidFill>
                <a:latin typeface="Courier New" pitchFamily="34" charset="0"/>
                <a:ea typeface="Courier New" pitchFamily="34" charset="-122"/>
                <a:cs typeface="Courier New" pitchFamily="34" charset="-120"/>
              </a:rPr>
              <a:t>IF YOU SKIP IT TODAY</a:t>
            </a:r>
            <a:endParaRPr lang="en-US" sz="950" dirty="0"/>
          </a:p>
        </p:txBody>
      </p:sp>
      <p:sp>
        <p:nvSpPr>
          <p:cNvPr id="12" name="Text 9"/>
          <p:cNvSpPr txBox="1"/>
          <p:nvPr/>
        </p:nvSpPr>
        <p:spPr>
          <a:xfrm>
            <a:off x="6446520" y="3584448"/>
            <a:ext cx="4480560" cy="259080"/>
          </a:xfrm>
          <a:prstGeom prst="rect">
            <a:avLst/>
          </a:prstGeom>
          <a:noFill/>
          <a:ln/>
        </p:spPr>
        <p:txBody>
          <a:bodyPr wrap="square" lIns="0" tIns="0" rIns="0" bIns="0" rtlCol="0" anchor="t"/>
          <a:lstStyle/>
          <a:p>
            <a:pPr indent="0" marL="0">
              <a:lnSpc>
                <a:spcPts val="2040"/>
              </a:lnSpc>
              <a:buNone/>
            </a:pPr>
            <a:r>
              <a:rPr lang="en-US" sz="1700" b="1" dirty="0">
                <a:solidFill>
                  <a:srgbClr val="15171F"/>
                </a:solidFill>
                <a:latin typeface="Public Sans" pitchFamily="34" charset="0"/>
                <a:ea typeface="Public Sans" pitchFamily="34" charset="-122"/>
                <a:cs typeface="Public Sans" pitchFamily="34" charset="-120"/>
              </a:rPr>
              <a:t>Everything still works</a:t>
            </a:r>
            <a:endParaRPr lang="en-US" sz="1700" dirty="0"/>
          </a:p>
        </p:txBody>
      </p:sp>
      <p:sp>
        <p:nvSpPr>
          <p:cNvPr id="13" name="Text 10"/>
          <p:cNvSpPr txBox="1"/>
          <p:nvPr/>
        </p:nvSpPr>
        <p:spPr>
          <a:xfrm>
            <a:off x="6446520" y="3971544"/>
            <a:ext cx="4480560" cy="1298956"/>
          </a:xfrm>
          <a:prstGeom prst="rect">
            <a:avLst/>
          </a:prstGeom>
          <a:noFill/>
          <a:ln/>
        </p:spPr>
        <p:txBody>
          <a:bodyPr wrap="square" lIns="0" tIns="0" rIns="0" bIns="0" rtlCol="0" anchor="t"/>
          <a:lstStyle/>
          <a:p>
            <a:pPr indent="0" marL="0">
              <a:lnSpc>
                <a:spcPts val="1988"/>
              </a:lnSpc>
              <a:buNone/>
            </a:pPr>
            <a:r>
              <a:rPr lang="en-US" sz="1400" dirty="0">
                <a:solidFill>
                  <a:srgbClr val="5B6270"/>
                </a:solidFill>
                <a:latin typeface="Public Sans" pitchFamily="34" charset="0"/>
                <a:ea typeface="Public Sans" pitchFamily="34" charset="-122"/>
                <a:cs typeface="Public Sans" pitchFamily="34" charset="-120"/>
              </a:rPr>
              <a:t>An ordinary folder under C:\AI runs every step of this hour.</a:t>
            </a:r>
            <a:endParaRPr lang="en-US" sz="1400" dirty="0"/>
          </a:p>
          <a:p>
            <a:pPr indent="0" marL="0">
              <a:lnSpc>
                <a:spcPts val="1988"/>
              </a:lnSpc>
              <a:buNone/>
            </a:pPr>
            <a:endParaRPr lang="en-US" sz="1400" dirty="0"/>
          </a:p>
          <a:p>
            <a:pPr indent="0" marL="0">
              <a:lnSpc>
                <a:spcPts val="1988"/>
              </a:lnSpc>
              <a:buNone/>
            </a:pPr>
            <a:r>
              <a:rPr lang="en-US" sz="1400" dirty="0">
                <a:solidFill>
                  <a:srgbClr val="5B6270"/>
                </a:solidFill>
                <a:latin typeface="Public Sans" pitchFamily="34" charset="0"/>
                <a:ea typeface="Public Sans" pitchFamily="34" charset="-122"/>
                <a:cs typeface="Public Sans" pitchFamily="34" charset="-120"/>
              </a:rPr>
              <a:t>What you lose is the graph, the backlinks, the plugins. Install it tonight and nothing gets redone.</a:t>
            </a:r>
            <a:endParaRPr lang="en-US" sz="1400" dirty="0"/>
          </a:p>
        </p:txBody>
      </p:sp>
      <p:sp>
        <p:nvSpPr>
          <p:cNvPr id="14" name="Text 11"/>
          <p:cNvSpPr txBox="1"/>
          <p:nvPr/>
        </p:nvSpPr>
        <p:spPr>
          <a:xfrm>
            <a:off x="777240" y="6291072"/>
            <a:ext cx="10637215" cy="274320"/>
          </a:xfrm>
          <a:prstGeom prst="rect">
            <a:avLst/>
          </a:prstGeom>
          <a:noFill/>
          <a:ln/>
        </p:spPr>
        <p:txBody>
          <a:bodyPr wrap="square" lIns="0" tIns="0" rIns="0" bIns="0" rtlCol="0" anchor="ctr"/>
          <a:lstStyle/>
          <a:p>
            <a:pPr indent="0" marL="0">
              <a:buNone/>
            </a:pPr>
            <a:r>
              <a:rPr lang="en-US" sz="950" spc="100" kern="0" dirty="0">
                <a:solidFill>
                  <a:srgbClr val="6B6D72"/>
                </a:solidFill>
                <a:latin typeface="Courier New" pitchFamily="34" charset="0"/>
                <a:ea typeface="Courier New" pitchFamily="34" charset="-122"/>
                <a:cs typeface="Courier New" pitchFamily="34" charset="-120"/>
              </a:rPr>
              <a:t>05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77240" y="420624"/>
            <a:ext cx="8229600" cy="274320"/>
          </a:xfrm>
          <a:prstGeom prst="rect">
            <a:avLst/>
          </a:prstGeom>
          <a:noFill/>
          <a:ln/>
        </p:spPr>
        <p:txBody>
          <a:bodyPr wrap="square" lIns="0" tIns="0" rIns="0" bIns="0" rtlCol="0" anchor="ctr"/>
          <a:lstStyle/>
          <a:p>
            <a:pPr indent="0" marL="0">
              <a:buNone/>
            </a:pPr>
            <a:r>
              <a:rPr lang="en-US" sz="1100" spc="200" kern="0" dirty="0">
                <a:solidFill>
                  <a:srgbClr val="6055D8"/>
                </a:solidFill>
                <a:latin typeface="Courier New" pitchFamily="34" charset="0"/>
                <a:ea typeface="Courier New" pitchFamily="34" charset="-122"/>
                <a:cs typeface="Courier New" pitchFamily="34" charset="-120"/>
              </a:rPr>
              <a:t>HANDS ON</a:t>
            </a:r>
            <a:endParaRPr lang="en-US" sz="1100" dirty="0"/>
          </a:p>
        </p:txBody>
      </p:sp>
      <p:pic>
        <p:nvPicPr>
          <p:cNvPr id="3" name="Image 0" descr="/tmp/claude-0/-home-claude/e62a35b1-5075-553d-b086-acebfebc41ba/scratchpad/brand/meshpro-emblem-white.png">    </p:cNvPr>
          <p:cNvPicPr>
            <a:picLocks noChangeAspect="1"/>
          </p:cNvPicPr>
          <p:nvPr/>
        </p:nvPicPr>
        <p:blipFill>
          <a:blip r:embed="rId1"/>
          <a:stretch>
            <a:fillRect/>
          </a:stretch>
        </p:blipFill>
        <p:spPr>
          <a:xfrm>
            <a:off x="11140135" y="411480"/>
            <a:ext cx="384048" cy="374904"/>
          </a:xfrm>
          <a:prstGeom prst="rect">
            <a:avLst/>
          </a:prstGeom>
        </p:spPr>
      </p:pic>
      <p:sp>
        <p:nvSpPr>
          <p:cNvPr id="4" name="Shape 1"/>
          <p:cNvSpPr/>
          <p:nvPr/>
        </p:nvSpPr>
        <p:spPr>
          <a:xfrm>
            <a:off x="777240" y="868680"/>
            <a:ext cx="868680" cy="868680"/>
          </a:xfrm>
          <a:prstGeom prst="ellipse">
            <a:avLst/>
          </a:prstGeom>
          <a:solidFill>
            <a:srgbClr val="7367F0"/>
          </a:solidFill>
          <a:ln/>
        </p:spPr>
      </p:sp>
      <p:sp>
        <p:nvSpPr>
          <p:cNvPr id="5" name="Text 2"/>
          <p:cNvSpPr txBox="1"/>
          <p:nvPr/>
        </p:nvSpPr>
        <p:spPr>
          <a:xfrm>
            <a:off x="777240" y="868680"/>
            <a:ext cx="868680" cy="868680"/>
          </a:xfrm>
          <a:prstGeom prst="rect">
            <a:avLst/>
          </a:prstGeom>
          <a:noFill/>
          <a:ln/>
        </p:spPr>
        <p:txBody>
          <a:bodyPr wrap="square" lIns="0" tIns="0" rIns="0" bIns="0" rtlCol="0" anchor="ctr"/>
          <a:lstStyle/>
          <a:p>
            <a:pPr algn="ctr" indent="0" marL="0">
              <a:buNone/>
            </a:pPr>
            <a:r>
              <a:rPr lang="en-US" sz="3400" b="1" dirty="0">
                <a:solidFill>
                  <a:srgbClr val="FFFFFF"/>
                </a:solidFill>
                <a:latin typeface="Public Sans" pitchFamily="34" charset="0"/>
                <a:ea typeface="Public Sans" pitchFamily="34" charset="-122"/>
                <a:cs typeface="Public Sans" pitchFamily="34" charset="-120"/>
              </a:rPr>
              <a:t>1</a:t>
            </a:r>
            <a:endParaRPr lang="en-US" sz="3400" dirty="0"/>
          </a:p>
        </p:txBody>
      </p:sp>
      <p:sp>
        <p:nvSpPr>
          <p:cNvPr id="6" name="Text 3"/>
          <p:cNvSpPr txBox="1"/>
          <p:nvPr/>
        </p:nvSpPr>
        <p:spPr>
          <a:xfrm>
            <a:off x="2011680" y="868680"/>
            <a:ext cx="9402775" cy="868680"/>
          </a:xfrm>
          <a:prstGeom prst="rect">
            <a:avLst/>
          </a:prstGeom>
          <a:noFill/>
          <a:ln/>
        </p:spPr>
        <p:txBody>
          <a:bodyPr wrap="square" lIns="0" tIns="0" rIns="0" bIns="0" rtlCol="0" anchor="ctr"/>
          <a:lstStyle/>
          <a:p>
            <a:pPr indent="0" marL="0">
              <a:lnSpc>
                <a:spcPts val="3600"/>
              </a:lnSpc>
              <a:buNone/>
            </a:pPr>
            <a:r>
              <a:rPr lang="en-US" sz="3100" b="1" dirty="0">
                <a:solidFill>
                  <a:srgbClr val="15171F"/>
                </a:solidFill>
                <a:latin typeface="Public Sans" pitchFamily="34" charset="0"/>
                <a:ea typeface="Public Sans" pitchFamily="34" charset="-122"/>
                <a:cs typeface="Public Sans" pitchFamily="34" charset="-120"/>
              </a:rPr>
              <a:t>Create your vault</a:t>
            </a:r>
            <a:endParaRPr lang="en-US" sz="3100" dirty="0"/>
          </a:p>
        </p:txBody>
      </p:sp>
      <p:sp>
        <p:nvSpPr>
          <p:cNvPr id="7" name="Shape 4"/>
          <p:cNvSpPr/>
          <p:nvPr/>
        </p:nvSpPr>
        <p:spPr>
          <a:xfrm>
            <a:off x="777240" y="1938528"/>
            <a:ext cx="10637215" cy="1236472"/>
          </a:xfrm>
          <a:prstGeom prst="roundRect">
            <a:avLst>
              <a:gd name="adj" fmla="val 4437"/>
            </a:avLst>
          </a:prstGeom>
          <a:solidFill>
            <a:srgbClr val="F0EEFC"/>
          </a:solidFill>
          <a:ln w="17780">
            <a:solidFill>
              <a:srgbClr val="C4BDFF"/>
            </a:solidFill>
            <a:prstDash val="solid"/>
          </a:ln>
        </p:spPr>
      </p:sp>
      <p:sp>
        <p:nvSpPr>
          <p:cNvPr id="8" name="Text 5"/>
          <p:cNvSpPr txBox="1"/>
          <p:nvPr/>
        </p:nvSpPr>
        <p:spPr>
          <a:xfrm>
            <a:off x="1143000" y="1938528"/>
            <a:ext cx="9905695" cy="1236472"/>
          </a:xfrm>
          <a:prstGeom prst="rect">
            <a:avLst/>
          </a:prstGeom>
          <a:noFill/>
          <a:ln/>
        </p:spPr>
        <p:txBody>
          <a:bodyPr wrap="square" lIns="0" tIns="0" rIns="0" bIns="0" rtlCol="0" anchor="ctr"/>
          <a:lstStyle/>
          <a:p>
            <a:pPr indent="0" marL="0">
              <a:lnSpc>
                <a:spcPts val="2600"/>
              </a:lnSpc>
              <a:buNone/>
            </a:pPr>
            <a:r>
              <a:rPr lang="en-US" sz="1050" spc="160" kern="0" dirty="0">
                <a:solidFill>
                  <a:srgbClr val="6055D8"/>
                </a:solidFill>
                <a:latin typeface="Courier New" pitchFamily="34" charset="0"/>
                <a:ea typeface="Courier New" pitchFamily="34" charset="-122"/>
                <a:cs typeface="Courier New" pitchFamily="34" charset="-120"/>
              </a:rPr>
              <a:t>DO THIS NOW   </a:t>
            </a:r>
            <a:pPr indent="0" marL="0">
              <a:lnSpc>
                <a:spcPts val="2600"/>
              </a:lnSpc>
              <a:buNone/>
            </a:pPr>
            <a:endParaRPr lang="en-US" sz="1050" dirty="0"/>
          </a:p>
          <a:p>
            <a:pPr indent="0" marL="0">
              <a:lnSpc>
                <a:spcPts val="2600"/>
              </a:lnSpc>
              <a:buNone/>
            </a:pPr>
            <a:r>
              <a:rPr lang="en-US" sz="1700" b="1" dirty="0">
                <a:solidFill>
                  <a:srgbClr val="15171F"/>
                </a:solidFill>
                <a:latin typeface="Public Sans" pitchFamily="34" charset="0"/>
                <a:ea typeface="Public Sans" pitchFamily="34" charset="-122"/>
                <a:cs typeface="Public Sans" pitchFamily="34" charset="-120"/>
              </a:rPr>
              <a:t>In Obsidian: Create new vault. Put it under C:\AI. No Obsidian? An empty folder there instead.</a:t>
            </a:r>
            <a:endParaRPr lang="en-US" sz="1050" dirty="0"/>
          </a:p>
        </p:txBody>
      </p:sp>
      <p:sp>
        <p:nvSpPr>
          <p:cNvPr id="9" name="Text 6"/>
          <p:cNvSpPr txBox="1"/>
          <p:nvPr/>
        </p:nvSpPr>
        <p:spPr>
          <a:xfrm>
            <a:off x="777240" y="3339592"/>
            <a:ext cx="10637215" cy="321564"/>
          </a:xfrm>
          <a:prstGeom prst="rect">
            <a:avLst/>
          </a:prstGeom>
          <a:noFill/>
          <a:ln/>
        </p:spPr>
        <p:txBody>
          <a:bodyPr wrap="square" lIns="0" tIns="0" rIns="0" bIns="0" rtlCol="0" anchor="ctr"/>
          <a:lstStyle/>
          <a:p>
            <a:pPr indent="0" marL="0">
              <a:lnSpc>
                <a:spcPts val="2100"/>
              </a:lnSpc>
              <a:buNone/>
            </a:pPr>
            <a:r>
              <a:rPr lang="en-US" sz="1450" b="1" dirty="0">
                <a:solidFill>
                  <a:srgbClr val="15171F"/>
                </a:solidFill>
                <a:latin typeface="Public Sans" pitchFamily="34" charset="0"/>
                <a:ea typeface="Public Sans" pitchFamily="34" charset="-122"/>
                <a:cs typeface="Public Sans" pitchFamily="34" charset="-120"/>
              </a:rPr>
              <a:t>You will know it worked when  </a:t>
            </a:r>
            <a:pPr indent="0" marL="0">
              <a:lnSpc>
                <a:spcPts val="2100"/>
              </a:lnSpc>
              <a:buNone/>
            </a:pPr>
            <a:r>
              <a:rPr lang="en-US" sz="1450" dirty="0">
                <a:solidFill>
                  <a:srgbClr val="5B6270"/>
                </a:solidFill>
                <a:latin typeface="Public Sans" pitchFamily="34" charset="0"/>
                <a:ea typeface="Public Sans" pitchFamily="34" charset="-122"/>
                <a:cs typeface="Public Sans" pitchFamily="34" charset="-120"/>
              </a:rPr>
              <a:t>Obsidian shows an empty vault, and the folder exists on your disk.</a:t>
            </a:r>
            <a:endParaRPr lang="en-US" sz="1450" dirty="0"/>
          </a:p>
        </p:txBody>
      </p:sp>
      <p:sp>
        <p:nvSpPr>
          <p:cNvPr id="10" name="Shape 7"/>
          <p:cNvSpPr/>
          <p:nvPr/>
        </p:nvSpPr>
        <p:spPr>
          <a:xfrm>
            <a:off x="777240" y="3917188"/>
            <a:ext cx="10607040" cy="1499108"/>
          </a:xfrm>
          <a:prstGeom prst="roundRect">
            <a:avLst>
              <a:gd name="adj" fmla="val 3660"/>
            </a:avLst>
          </a:prstGeom>
          <a:solidFill>
            <a:srgbClr val="F4F5F8"/>
          </a:solidFill>
          <a:ln w="12700">
            <a:solidFill>
              <a:srgbClr val="E4E6EC"/>
            </a:solidFill>
            <a:prstDash val="solid"/>
          </a:ln>
        </p:spPr>
      </p:sp>
      <p:sp>
        <p:nvSpPr>
          <p:cNvPr id="11" name="Text 8"/>
          <p:cNvSpPr txBox="1"/>
          <p:nvPr/>
        </p:nvSpPr>
        <p:spPr>
          <a:xfrm>
            <a:off x="1051560" y="4191508"/>
            <a:ext cx="10058400" cy="219456"/>
          </a:xfrm>
          <a:prstGeom prst="rect">
            <a:avLst/>
          </a:prstGeom>
          <a:noFill/>
          <a:ln/>
        </p:spPr>
        <p:txBody>
          <a:bodyPr wrap="square" lIns="0" tIns="0" rIns="0" bIns="0" rtlCol="0" anchor="ctr"/>
          <a:lstStyle/>
          <a:p>
            <a:pPr indent="0" marL="0">
              <a:buNone/>
            </a:pPr>
            <a:r>
              <a:rPr lang="en-US" sz="950" spc="140" kern="0" dirty="0">
                <a:solidFill>
                  <a:srgbClr val="6055D8"/>
                </a:solidFill>
                <a:latin typeface="Courier New" pitchFamily="34" charset="0"/>
                <a:ea typeface="Courier New" pitchFamily="34" charset="-122"/>
                <a:cs typeface="Courier New" pitchFamily="34" charset="-120"/>
              </a:rPr>
              <a:t>WHY A FOLDER AND NOT AN APP</a:t>
            </a:r>
            <a:endParaRPr lang="en-US" sz="950" dirty="0"/>
          </a:p>
        </p:txBody>
      </p:sp>
      <p:sp>
        <p:nvSpPr>
          <p:cNvPr id="12" name="Text 9"/>
          <p:cNvSpPr txBox="1"/>
          <p:nvPr/>
        </p:nvSpPr>
        <p:spPr>
          <a:xfrm>
            <a:off x="1051560" y="4484116"/>
            <a:ext cx="10058400" cy="259080"/>
          </a:xfrm>
          <a:prstGeom prst="rect">
            <a:avLst/>
          </a:prstGeom>
          <a:noFill/>
          <a:ln/>
        </p:spPr>
        <p:txBody>
          <a:bodyPr wrap="square" lIns="0" tIns="0" rIns="0" bIns="0" rtlCol="0" anchor="t"/>
          <a:lstStyle/>
          <a:p>
            <a:pPr indent="0" marL="0">
              <a:lnSpc>
                <a:spcPts val="2040"/>
              </a:lnSpc>
              <a:buNone/>
            </a:pPr>
            <a:r>
              <a:rPr lang="en-US" sz="1700" b="1" dirty="0">
                <a:solidFill>
                  <a:srgbClr val="15171F"/>
                </a:solidFill>
                <a:latin typeface="Public Sans" pitchFamily="34" charset="0"/>
                <a:ea typeface="Public Sans" pitchFamily="34" charset="-122"/>
                <a:cs typeface="Public Sans" pitchFamily="34" charset="-120"/>
              </a:rPr>
              <a:t>Because you keep it</a:t>
            </a:r>
            <a:endParaRPr lang="en-US" sz="1700" dirty="0"/>
          </a:p>
        </p:txBody>
      </p:sp>
      <p:sp>
        <p:nvSpPr>
          <p:cNvPr id="13" name="Text 10"/>
          <p:cNvSpPr txBox="1"/>
          <p:nvPr/>
        </p:nvSpPr>
        <p:spPr>
          <a:xfrm>
            <a:off x="1051560" y="4871212"/>
            <a:ext cx="10058400" cy="289052"/>
          </a:xfrm>
          <a:prstGeom prst="rect">
            <a:avLst/>
          </a:prstGeom>
          <a:noFill/>
          <a:ln/>
        </p:spPr>
        <p:txBody>
          <a:bodyPr wrap="square" lIns="0" tIns="0" rIns="0" bIns="0" rtlCol="0" anchor="t"/>
          <a:lstStyle/>
          <a:p>
            <a:pPr indent="0" marL="0">
              <a:lnSpc>
                <a:spcPts val="1988"/>
              </a:lnSpc>
              <a:buNone/>
            </a:pPr>
            <a:r>
              <a:rPr lang="en-US" sz="1400" dirty="0">
                <a:solidFill>
                  <a:srgbClr val="5B6270"/>
                </a:solidFill>
                <a:latin typeface="Public Sans" pitchFamily="34" charset="0"/>
                <a:ea typeface="Public Sans" pitchFamily="34" charset="-122"/>
                <a:cs typeface="Public Sans" pitchFamily="34" charset="-120"/>
              </a:rPr>
              <a:t>Plain text files in a folder. No database, nothing hosted. Every file of it opens in Notepad, today and in ten years.</a:t>
            </a:r>
            <a:endParaRPr lang="en-US" sz="1400" dirty="0"/>
          </a:p>
        </p:txBody>
      </p:sp>
      <p:sp>
        <p:nvSpPr>
          <p:cNvPr id="14" name="Text 11"/>
          <p:cNvSpPr txBox="1"/>
          <p:nvPr/>
        </p:nvSpPr>
        <p:spPr>
          <a:xfrm>
            <a:off x="777240" y="6291072"/>
            <a:ext cx="10637215" cy="274320"/>
          </a:xfrm>
          <a:prstGeom prst="rect">
            <a:avLst/>
          </a:prstGeom>
          <a:noFill/>
          <a:ln/>
        </p:spPr>
        <p:txBody>
          <a:bodyPr wrap="square" lIns="0" tIns="0" rIns="0" bIns="0" rtlCol="0" anchor="ctr"/>
          <a:lstStyle/>
          <a:p>
            <a:pPr indent="0" marL="0">
              <a:buNone/>
            </a:pPr>
            <a:r>
              <a:rPr lang="en-US" sz="950" spc="100" kern="0" dirty="0">
                <a:solidFill>
                  <a:srgbClr val="6B6D72"/>
                </a:solidFill>
                <a:latin typeface="Courier New" pitchFamily="34" charset="0"/>
                <a:ea typeface="Courier New" pitchFamily="34" charset="-122"/>
                <a:cs typeface="Courier New" pitchFamily="34" charset="-120"/>
              </a:rPr>
              <a:t>06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77240" y="420624"/>
            <a:ext cx="8229600" cy="274320"/>
          </a:xfrm>
          <a:prstGeom prst="rect">
            <a:avLst/>
          </a:prstGeom>
          <a:noFill/>
          <a:ln/>
        </p:spPr>
        <p:txBody>
          <a:bodyPr wrap="square" lIns="0" tIns="0" rIns="0" bIns="0" rtlCol="0" anchor="ctr"/>
          <a:lstStyle/>
          <a:p>
            <a:pPr indent="0" marL="0">
              <a:buNone/>
            </a:pPr>
            <a:r>
              <a:rPr lang="en-US" sz="1100" spc="200" kern="0" dirty="0">
                <a:solidFill>
                  <a:srgbClr val="6055D8"/>
                </a:solidFill>
                <a:latin typeface="Courier New" pitchFamily="34" charset="0"/>
                <a:ea typeface="Courier New" pitchFamily="34" charset="-122"/>
                <a:cs typeface="Courier New" pitchFamily="34" charset="-120"/>
              </a:rPr>
              <a:t>HANDS ON</a:t>
            </a:r>
            <a:endParaRPr lang="en-US" sz="1100" dirty="0"/>
          </a:p>
        </p:txBody>
      </p:sp>
      <p:pic>
        <p:nvPicPr>
          <p:cNvPr id="3" name="Image 0" descr="/tmp/claude-0/-home-claude/e62a35b1-5075-553d-b086-acebfebc41ba/scratchpad/brand/meshpro-emblem-white.png">    </p:cNvPr>
          <p:cNvPicPr>
            <a:picLocks noChangeAspect="1"/>
          </p:cNvPicPr>
          <p:nvPr/>
        </p:nvPicPr>
        <p:blipFill>
          <a:blip r:embed="rId1"/>
          <a:stretch>
            <a:fillRect/>
          </a:stretch>
        </p:blipFill>
        <p:spPr>
          <a:xfrm>
            <a:off x="11140135" y="411480"/>
            <a:ext cx="384048" cy="374904"/>
          </a:xfrm>
          <a:prstGeom prst="rect">
            <a:avLst/>
          </a:prstGeom>
        </p:spPr>
      </p:pic>
      <p:sp>
        <p:nvSpPr>
          <p:cNvPr id="4" name="Shape 1"/>
          <p:cNvSpPr/>
          <p:nvPr/>
        </p:nvSpPr>
        <p:spPr>
          <a:xfrm>
            <a:off x="777240" y="868680"/>
            <a:ext cx="868680" cy="868680"/>
          </a:xfrm>
          <a:prstGeom prst="ellipse">
            <a:avLst/>
          </a:prstGeom>
          <a:solidFill>
            <a:srgbClr val="7367F0"/>
          </a:solidFill>
          <a:ln/>
        </p:spPr>
      </p:sp>
      <p:sp>
        <p:nvSpPr>
          <p:cNvPr id="5" name="Text 2"/>
          <p:cNvSpPr txBox="1"/>
          <p:nvPr/>
        </p:nvSpPr>
        <p:spPr>
          <a:xfrm>
            <a:off x="777240" y="868680"/>
            <a:ext cx="868680" cy="868680"/>
          </a:xfrm>
          <a:prstGeom prst="rect">
            <a:avLst/>
          </a:prstGeom>
          <a:noFill/>
          <a:ln/>
        </p:spPr>
        <p:txBody>
          <a:bodyPr wrap="square" lIns="0" tIns="0" rIns="0" bIns="0" rtlCol="0" anchor="ctr"/>
          <a:lstStyle/>
          <a:p>
            <a:pPr algn="ctr" indent="0" marL="0">
              <a:buNone/>
            </a:pPr>
            <a:r>
              <a:rPr lang="en-US" sz="3400" b="1" dirty="0">
                <a:solidFill>
                  <a:srgbClr val="FFFFFF"/>
                </a:solidFill>
                <a:latin typeface="Public Sans" pitchFamily="34" charset="0"/>
                <a:ea typeface="Public Sans" pitchFamily="34" charset="-122"/>
                <a:cs typeface="Public Sans" pitchFamily="34" charset="-120"/>
              </a:rPr>
              <a:t>2</a:t>
            </a:r>
            <a:endParaRPr lang="en-US" sz="3400" dirty="0"/>
          </a:p>
        </p:txBody>
      </p:sp>
      <p:sp>
        <p:nvSpPr>
          <p:cNvPr id="6" name="Text 3"/>
          <p:cNvSpPr txBox="1"/>
          <p:nvPr/>
        </p:nvSpPr>
        <p:spPr>
          <a:xfrm>
            <a:off x="2011680" y="868680"/>
            <a:ext cx="9402775" cy="868680"/>
          </a:xfrm>
          <a:prstGeom prst="rect">
            <a:avLst/>
          </a:prstGeom>
          <a:noFill/>
          <a:ln/>
        </p:spPr>
        <p:txBody>
          <a:bodyPr wrap="square" lIns="0" tIns="0" rIns="0" bIns="0" rtlCol="0" anchor="ctr"/>
          <a:lstStyle/>
          <a:p>
            <a:pPr indent="0" marL="0">
              <a:lnSpc>
                <a:spcPts val="3600"/>
              </a:lnSpc>
              <a:buNone/>
            </a:pPr>
            <a:r>
              <a:rPr lang="en-US" sz="3100" b="1" dirty="0">
                <a:solidFill>
                  <a:srgbClr val="15171F"/>
                </a:solidFill>
                <a:latin typeface="Public Sans" pitchFamily="34" charset="0"/>
                <a:ea typeface="Public Sans" pitchFamily="34" charset="-122"/>
                <a:cs typeface="Public Sans" pitchFamily="34" charset="-120"/>
              </a:rPr>
              <a:t>Make a project, and connect the vault</a:t>
            </a:r>
            <a:endParaRPr lang="en-US" sz="3100" dirty="0"/>
          </a:p>
        </p:txBody>
      </p:sp>
      <p:sp>
        <p:nvSpPr>
          <p:cNvPr id="7" name="Shape 4"/>
          <p:cNvSpPr/>
          <p:nvPr/>
        </p:nvSpPr>
        <p:spPr>
          <a:xfrm>
            <a:off x="777240" y="1938528"/>
            <a:ext cx="10637215" cy="1236472"/>
          </a:xfrm>
          <a:prstGeom prst="roundRect">
            <a:avLst>
              <a:gd name="adj" fmla="val 4437"/>
            </a:avLst>
          </a:prstGeom>
          <a:solidFill>
            <a:srgbClr val="F0EEFC"/>
          </a:solidFill>
          <a:ln w="17780">
            <a:solidFill>
              <a:srgbClr val="C4BDFF"/>
            </a:solidFill>
            <a:prstDash val="solid"/>
          </a:ln>
        </p:spPr>
      </p:sp>
      <p:sp>
        <p:nvSpPr>
          <p:cNvPr id="8" name="Text 5"/>
          <p:cNvSpPr txBox="1"/>
          <p:nvPr/>
        </p:nvSpPr>
        <p:spPr>
          <a:xfrm>
            <a:off x="1143000" y="1938528"/>
            <a:ext cx="9905695" cy="1236472"/>
          </a:xfrm>
          <a:prstGeom prst="rect">
            <a:avLst/>
          </a:prstGeom>
          <a:noFill/>
          <a:ln/>
        </p:spPr>
        <p:txBody>
          <a:bodyPr wrap="square" lIns="0" tIns="0" rIns="0" bIns="0" rtlCol="0" anchor="ctr"/>
          <a:lstStyle/>
          <a:p>
            <a:pPr indent="0" marL="0">
              <a:lnSpc>
                <a:spcPts val="2600"/>
              </a:lnSpc>
              <a:buNone/>
            </a:pPr>
            <a:r>
              <a:rPr lang="en-US" sz="1050" spc="160" kern="0" dirty="0">
                <a:solidFill>
                  <a:srgbClr val="6055D8"/>
                </a:solidFill>
                <a:latin typeface="Courier New" pitchFamily="34" charset="0"/>
                <a:ea typeface="Courier New" pitchFamily="34" charset="-122"/>
                <a:cs typeface="Courier New" pitchFamily="34" charset="-120"/>
              </a:rPr>
              <a:t>DO THIS NOW   </a:t>
            </a:r>
            <a:pPr indent="0" marL="0">
              <a:lnSpc>
                <a:spcPts val="2600"/>
              </a:lnSpc>
              <a:buNone/>
            </a:pPr>
            <a:endParaRPr lang="en-US" sz="1050" dirty="0"/>
          </a:p>
          <a:p>
            <a:pPr indent="0" marL="0">
              <a:lnSpc>
                <a:spcPts val="2600"/>
              </a:lnSpc>
              <a:buNone/>
            </a:pPr>
            <a:r>
              <a:rPr lang="en-US" sz="1700" b="1" dirty="0">
                <a:solidFill>
                  <a:srgbClr val="15171F"/>
                </a:solidFill>
                <a:latin typeface="Public Sans" pitchFamily="34" charset="0"/>
                <a:ea typeface="Public Sans" pitchFamily="34" charset="-122"/>
                <a:cs typeface="Public Sans" pitchFamily="34" charset="-120"/>
              </a:rPr>
              <a:t>Create a project in Claude. Connect the folder you just made to it, and approve it.</a:t>
            </a:r>
            <a:endParaRPr lang="en-US" sz="1050" dirty="0"/>
          </a:p>
        </p:txBody>
      </p:sp>
      <p:sp>
        <p:nvSpPr>
          <p:cNvPr id="9" name="Text 6"/>
          <p:cNvSpPr txBox="1"/>
          <p:nvPr/>
        </p:nvSpPr>
        <p:spPr>
          <a:xfrm>
            <a:off x="777240" y="3339592"/>
            <a:ext cx="10637215" cy="321564"/>
          </a:xfrm>
          <a:prstGeom prst="rect">
            <a:avLst/>
          </a:prstGeom>
          <a:noFill/>
          <a:ln/>
        </p:spPr>
        <p:txBody>
          <a:bodyPr wrap="square" lIns="0" tIns="0" rIns="0" bIns="0" rtlCol="0" anchor="ctr"/>
          <a:lstStyle/>
          <a:p>
            <a:pPr indent="0" marL="0">
              <a:lnSpc>
                <a:spcPts val="2100"/>
              </a:lnSpc>
              <a:buNone/>
            </a:pPr>
            <a:r>
              <a:rPr lang="en-US" sz="1450" b="1" dirty="0">
                <a:solidFill>
                  <a:srgbClr val="15171F"/>
                </a:solidFill>
                <a:latin typeface="Public Sans" pitchFamily="34" charset="0"/>
                <a:ea typeface="Public Sans" pitchFamily="34" charset="-122"/>
                <a:cs typeface="Public Sans" pitchFamily="34" charset="-120"/>
              </a:rPr>
              <a:t>You will know it worked when  </a:t>
            </a:r>
            <a:pPr indent="0" marL="0">
              <a:lnSpc>
                <a:spcPts val="2100"/>
              </a:lnSpc>
              <a:buNone/>
            </a:pPr>
            <a:r>
              <a:rPr lang="en-US" sz="1450" dirty="0">
                <a:solidFill>
                  <a:srgbClr val="5B6270"/>
                </a:solidFill>
                <a:latin typeface="Public Sans" pitchFamily="34" charset="0"/>
                <a:ea typeface="Public Sans" pitchFamily="34" charset="-122"/>
                <a:cs typeface="Public Sans" pitchFamily="34" charset="-120"/>
              </a:rPr>
              <a:t>Claude tells you the folder is connected and can list what is in it — nothing.</a:t>
            </a:r>
            <a:endParaRPr lang="en-US" sz="1450" dirty="0"/>
          </a:p>
        </p:txBody>
      </p:sp>
      <p:sp>
        <p:nvSpPr>
          <p:cNvPr id="10" name="Shape 7"/>
          <p:cNvSpPr/>
          <p:nvPr/>
        </p:nvSpPr>
        <p:spPr>
          <a:xfrm>
            <a:off x="777240" y="3917188"/>
            <a:ext cx="10607040" cy="1499108"/>
          </a:xfrm>
          <a:prstGeom prst="roundRect">
            <a:avLst>
              <a:gd name="adj" fmla="val 3660"/>
            </a:avLst>
          </a:prstGeom>
          <a:solidFill>
            <a:srgbClr val="F4F5F8"/>
          </a:solidFill>
          <a:ln w="12700">
            <a:solidFill>
              <a:srgbClr val="E4E6EC"/>
            </a:solidFill>
            <a:prstDash val="solid"/>
          </a:ln>
        </p:spPr>
      </p:sp>
      <p:sp>
        <p:nvSpPr>
          <p:cNvPr id="11" name="Text 8"/>
          <p:cNvSpPr txBox="1"/>
          <p:nvPr/>
        </p:nvSpPr>
        <p:spPr>
          <a:xfrm>
            <a:off x="1051560" y="4191508"/>
            <a:ext cx="10058400" cy="219456"/>
          </a:xfrm>
          <a:prstGeom prst="rect">
            <a:avLst/>
          </a:prstGeom>
          <a:noFill/>
          <a:ln/>
        </p:spPr>
        <p:txBody>
          <a:bodyPr wrap="square" lIns="0" tIns="0" rIns="0" bIns="0" rtlCol="0" anchor="ctr"/>
          <a:lstStyle/>
          <a:p>
            <a:pPr indent="0" marL="0">
              <a:buNone/>
            </a:pPr>
            <a:r>
              <a:rPr lang="en-US" sz="950" spc="140" kern="0" dirty="0">
                <a:solidFill>
                  <a:srgbClr val="6055D8"/>
                </a:solidFill>
                <a:latin typeface="Courier New" pitchFamily="34" charset="0"/>
                <a:ea typeface="Courier New" pitchFamily="34" charset="-122"/>
                <a:cs typeface="Courier New" pitchFamily="34" charset="-120"/>
              </a:rPr>
              <a:t>WHY A PROJECT AND NOT A NORMAL CHAT</a:t>
            </a:r>
            <a:endParaRPr lang="en-US" sz="950" dirty="0"/>
          </a:p>
        </p:txBody>
      </p:sp>
      <p:sp>
        <p:nvSpPr>
          <p:cNvPr id="12" name="Text 9"/>
          <p:cNvSpPr txBox="1"/>
          <p:nvPr/>
        </p:nvSpPr>
        <p:spPr>
          <a:xfrm>
            <a:off x="1051560" y="4484116"/>
            <a:ext cx="10058400" cy="259080"/>
          </a:xfrm>
          <a:prstGeom prst="rect">
            <a:avLst/>
          </a:prstGeom>
          <a:noFill/>
          <a:ln/>
        </p:spPr>
        <p:txBody>
          <a:bodyPr wrap="square" lIns="0" tIns="0" rIns="0" bIns="0" rtlCol="0" anchor="t"/>
          <a:lstStyle/>
          <a:p>
            <a:pPr indent="0" marL="0">
              <a:lnSpc>
                <a:spcPts val="2040"/>
              </a:lnSpc>
              <a:buNone/>
            </a:pPr>
            <a:r>
              <a:rPr lang="en-US" sz="1700" b="1" dirty="0">
                <a:solidFill>
                  <a:srgbClr val="15171F"/>
                </a:solidFill>
                <a:latin typeface="Public Sans" pitchFamily="34" charset="0"/>
                <a:ea typeface="Public Sans" pitchFamily="34" charset="-122"/>
                <a:cs typeface="Public Sans" pitchFamily="34" charset="-120"/>
              </a:rPr>
              <a:t>Because a project remembers</a:t>
            </a:r>
            <a:endParaRPr lang="en-US" sz="1700" dirty="0"/>
          </a:p>
        </p:txBody>
      </p:sp>
      <p:sp>
        <p:nvSpPr>
          <p:cNvPr id="13" name="Text 10"/>
          <p:cNvSpPr txBox="1"/>
          <p:nvPr/>
        </p:nvSpPr>
        <p:spPr>
          <a:xfrm>
            <a:off x="1051560" y="4871212"/>
            <a:ext cx="10058400" cy="289052"/>
          </a:xfrm>
          <a:prstGeom prst="rect">
            <a:avLst/>
          </a:prstGeom>
          <a:noFill/>
          <a:ln/>
        </p:spPr>
        <p:txBody>
          <a:bodyPr wrap="square" lIns="0" tIns="0" rIns="0" bIns="0" rtlCol="0" anchor="t"/>
          <a:lstStyle/>
          <a:p>
            <a:pPr indent="0" marL="0">
              <a:lnSpc>
                <a:spcPts val="1988"/>
              </a:lnSpc>
              <a:buNone/>
            </a:pPr>
            <a:r>
              <a:rPr lang="en-US" sz="1400" dirty="0">
                <a:solidFill>
                  <a:srgbClr val="5B6270"/>
                </a:solidFill>
                <a:latin typeface="Public Sans" pitchFamily="34" charset="0"/>
                <a:ea typeface="Public Sans" pitchFamily="34" charset="-122"/>
                <a:cs typeface="Public Sans" pitchFamily="34" charset="-120"/>
              </a:rPr>
              <a:t>Every conversation inside it reads and writes the same folder. Next week starts where today ended.</a:t>
            </a:r>
            <a:endParaRPr lang="en-US" sz="1400" dirty="0"/>
          </a:p>
        </p:txBody>
      </p:sp>
      <p:sp>
        <p:nvSpPr>
          <p:cNvPr id="14" name="Text 11"/>
          <p:cNvSpPr txBox="1"/>
          <p:nvPr/>
        </p:nvSpPr>
        <p:spPr>
          <a:xfrm>
            <a:off x="777240" y="6291072"/>
            <a:ext cx="10637215" cy="274320"/>
          </a:xfrm>
          <a:prstGeom prst="rect">
            <a:avLst/>
          </a:prstGeom>
          <a:noFill/>
          <a:ln/>
        </p:spPr>
        <p:txBody>
          <a:bodyPr wrap="square" lIns="0" tIns="0" rIns="0" bIns="0" rtlCol="0" anchor="ctr"/>
          <a:lstStyle/>
          <a:p>
            <a:pPr indent="0" marL="0">
              <a:buNone/>
            </a:pPr>
            <a:r>
              <a:rPr lang="en-US" sz="950" spc="100" kern="0" dirty="0">
                <a:solidFill>
                  <a:srgbClr val="6B6D72"/>
                </a:solidFill>
                <a:latin typeface="Courier New" pitchFamily="34" charset="0"/>
                <a:ea typeface="Courier New" pitchFamily="34" charset="-122"/>
                <a:cs typeface="Courier New" pitchFamily="34" charset="-120"/>
              </a:rPr>
              <a:t>07</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5171F"/>
        </a:solidFill>
      </p:bgPr>
    </p:bg>
    <p:spTree>
      <p:nvGrpSpPr>
        <p:cNvPr id="1" name=""/>
        <p:cNvGrpSpPr/>
        <p:nvPr/>
      </p:nvGrpSpPr>
      <p:grpSpPr>
        <a:xfrm>
          <a:off x="0" y="0"/>
          <a:ext cx="0" cy="0"/>
          <a:chOff x="0" y="0"/>
          <a:chExt cx="0" cy="0"/>
        </a:xfrm>
      </p:grpSpPr>
      <p:sp>
        <p:nvSpPr>
          <p:cNvPr id="2" name="Text 0"/>
          <p:cNvSpPr txBox="1"/>
          <p:nvPr/>
        </p:nvSpPr>
        <p:spPr>
          <a:xfrm>
            <a:off x="777240" y="420624"/>
            <a:ext cx="8229600" cy="274320"/>
          </a:xfrm>
          <a:prstGeom prst="rect">
            <a:avLst/>
          </a:prstGeom>
          <a:noFill/>
          <a:ln/>
        </p:spPr>
        <p:txBody>
          <a:bodyPr wrap="square" lIns="0" tIns="0" rIns="0" bIns="0" rtlCol="0" anchor="ctr"/>
          <a:lstStyle/>
          <a:p>
            <a:pPr indent="0" marL="0">
              <a:buNone/>
            </a:pPr>
            <a:r>
              <a:rPr lang="en-US" sz="1100" spc="200" kern="0" dirty="0">
                <a:solidFill>
                  <a:srgbClr val="A59CFF"/>
                </a:solidFill>
                <a:latin typeface="Courier New" pitchFamily="34" charset="0"/>
                <a:ea typeface="Courier New" pitchFamily="34" charset="-122"/>
                <a:cs typeface="Courier New" pitchFamily="34" charset="-120"/>
              </a:rPr>
              <a:t>HANDS ON</a:t>
            </a:r>
            <a:endParaRPr lang="en-US" sz="1100" dirty="0"/>
          </a:p>
        </p:txBody>
      </p:sp>
      <p:pic>
        <p:nvPicPr>
          <p:cNvPr id="3" name="Image 0" descr="/tmp/claude-0/-home-claude/e62a35b1-5075-553d-b086-acebfebc41ba/scratchpad/brand/meshpro-emblem-navy.png">    </p:cNvPr>
          <p:cNvPicPr>
            <a:picLocks noChangeAspect="1"/>
          </p:cNvPicPr>
          <p:nvPr/>
        </p:nvPicPr>
        <p:blipFill>
          <a:blip r:embed="rId1"/>
          <a:stretch>
            <a:fillRect/>
          </a:stretch>
        </p:blipFill>
        <p:spPr>
          <a:xfrm>
            <a:off x="11140135" y="411480"/>
            <a:ext cx="384048" cy="374904"/>
          </a:xfrm>
          <a:prstGeom prst="rect">
            <a:avLst/>
          </a:prstGeom>
        </p:spPr>
      </p:pic>
      <p:sp>
        <p:nvSpPr>
          <p:cNvPr id="4" name="Shape 1"/>
          <p:cNvSpPr/>
          <p:nvPr/>
        </p:nvSpPr>
        <p:spPr>
          <a:xfrm>
            <a:off x="777240" y="868680"/>
            <a:ext cx="868680" cy="868680"/>
          </a:xfrm>
          <a:prstGeom prst="ellipse">
            <a:avLst/>
          </a:prstGeom>
          <a:solidFill>
            <a:srgbClr val="7367F0"/>
          </a:solidFill>
          <a:ln/>
        </p:spPr>
      </p:sp>
      <p:sp>
        <p:nvSpPr>
          <p:cNvPr id="5" name="Text 2"/>
          <p:cNvSpPr txBox="1"/>
          <p:nvPr/>
        </p:nvSpPr>
        <p:spPr>
          <a:xfrm>
            <a:off x="777240" y="868680"/>
            <a:ext cx="868680" cy="868680"/>
          </a:xfrm>
          <a:prstGeom prst="rect">
            <a:avLst/>
          </a:prstGeom>
          <a:noFill/>
          <a:ln/>
        </p:spPr>
        <p:txBody>
          <a:bodyPr wrap="square" lIns="0" tIns="0" rIns="0" bIns="0" rtlCol="0" anchor="ctr"/>
          <a:lstStyle/>
          <a:p>
            <a:pPr algn="ctr" indent="0" marL="0">
              <a:buNone/>
            </a:pPr>
            <a:r>
              <a:rPr lang="en-US" sz="3400" b="1" dirty="0">
                <a:solidFill>
                  <a:srgbClr val="FFFFFF"/>
                </a:solidFill>
                <a:latin typeface="Public Sans" pitchFamily="34" charset="0"/>
                <a:ea typeface="Public Sans" pitchFamily="34" charset="-122"/>
                <a:cs typeface="Public Sans" pitchFamily="34" charset="-120"/>
              </a:rPr>
              <a:t>3</a:t>
            </a:r>
            <a:endParaRPr lang="en-US" sz="3400" dirty="0"/>
          </a:p>
        </p:txBody>
      </p:sp>
      <p:sp>
        <p:nvSpPr>
          <p:cNvPr id="6" name="Text 3"/>
          <p:cNvSpPr txBox="1"/>
          <p:nvPr/>
        </p:nvSpPr>
        <p:spPr>
          <a:xfrm>
            <a:off x="2011680" y="868680"/>
            <a:ext cx="9402775" cy="868680"/>
          </a:xfrm>
          <a:prstGeom prst="rect">
            <a:avLst/>
          </a:prstGeom>
          <a:noFill/>
          <a:ln/>
        </p:spPr>
        <p:txBody>
          <a:bodyPr wrap="square" lIns="0" tIns="0" rIns="0" bIns="0" rtlCol="0" anchor="ctr"/>
          <a:lstStyle/>
          <a:p>
            <a:pPr indent="0" marL="0">
              <a:lnSpc>
                <a:spcPts val="3600"/>
              </a:lnSpc>
              <a:buNone/>
            </a:pPr>
            <a:r>
              <a:rPr lang="en-US" sz="3100" b="1" dirty="0">
                <a:solidFill>
                  <a:srgbClr val="FFFFFF"/>
                </a:solidFill>
                <a:latin typeface="Public Sans" pitchFamily="34" charset="0"/>
                <a:ea typeface="Public Sans" pitchFamily="34" charset="-122"/>
                <a:cs typeface="Public Sans" pitchFamily="34" charset="-120"/>
              </a:rPr>
              <a:t>Ask for the setup</a:t>
            </a:r>
            <a:endParaRPr lang="en-US" sz="3100" dirty="0"/>
          </a:p>
        </p:txBody>
      </p:sp>
      <p:sp>
        <p:nvSpPr>
          <p:cNvPr id="7" name="Shape 4"/>
          <p:cNvSpPr/>
          <p:nvPr/>
        </p:nvSpPr>
        <p:spPr>
          <a:xfrm>
            <a:off x="777240" y="1938528"/>
            <a:ext cx="10637215" cy="1236472"/>
          </a:xfrm>
          <a:prstGeom prst="roundRect">
            <a:avLst>
              <a:gd name="adj" fmla="val 4437"/>
            </a:avLst>
          </a:prstGeom>
          <a:solidFill>
            <a:srgbClr val="1B1D29"/>
          </a:solidFill>
          <a:ln w="17780">
            <a:solidFill>
              <a:srgbClr val="7367F0"/>
            </a:solidFill>
            <a:prstDash val="solid"/>
          </a:ln>
        </p:spPr>
      </p:sp>
      <p:sp>
        <p:nvSpPr>
          <p:cNvPr id="8" name="Text 5"/>
          <p:cNvSpPr txBox="1"/>
          <p:nvPr/>
        </p:nvSpPr>
        <p:spPr>
          <a:xfrm>
            <a:off x="1143000" y="1938528"/>
            <a:ext cx="9905695" cy="1236472"/>
          </a:xfrm>
          <a:prstGeom prst="rect">
            <a:avLst/>
          </a:prstGeom>
          <a:noFill/>
          <a:ln/>
        </p:spPr>
        <p:txBody>
          <a:bodyPr wrap="square" lIns="0" tIns="0" rIns="0" bIns="0" rtlCol="0" anchor="ctr"/>
          <a:lstStyle/>
          <a:p>
            <a:pPr indent="0" marL="0">
              <a:lnSpc>
                <a:spcPts val="2600"/>
              </a:lnSpc>
              <a:buNone/>
            </a:pPr>
            <a:r>
              <a:rPr lang="en-US" sz="1050" spc="160" kern="0" dirty="0">
                <a:solidFill>
                  <a:srgbClr val="A59CFF"/>
                </a:solidFill>
                <a:latin typeface="Courier New" pitchFamily="34" charset="0"/>
                <a:ea typeface="Courier New" pitchFamily="34" charset="-122"/>
                <a:cs typeface="Courier New" pitchFamily="34" charset="-120"/>
              </a:rPr>
              <a:t>DO THIS NOW   </a:t>
            </a:r>
            <a:pPr indent="0" marL="0">
              <a:lnSpc>
                <a:spcPts val="2600"/>
              </a:lnSpc>
              <a:buNone/>
            </a:pPr>
            <a:endParaRPr lang="en-US" sz="1050" dirty="0"/>
          </a:p>
          <a:p>
            <a:pPr indent="0" marL="0">
              <a:lnSpc>
                <a:spcPts val="2600"/>
              </a:lnSpc>
              <a:buNone/>
            </a:pPr>
            <a:r>
              <a:rPr lang="en-US" sz="1700" b="1" dirty="0">
                <a:solidFill>
                  <a:srgbClr val="FFFFFF"/>
                </a:solidFill>
                <a:latin typeface="Public Sans" pitchFamily="34" charset="0"/>
                <a:ea typeface="Public Sans" pitchFamily="34" charset="-122"/>
                <a:cs typeface="Public Sans" pitchFamily="34" charset="-120"/>
              </a:rPr>
              <a:t>Type the sentence below into your project. Then watch Obsidian.</a:t>
            </a:r>
            <a:endParaRPr lang="en-US" sz="1050" dirty="0"/>
          </a:p>
        </p:txBody>
      </p:sp>
      <p:sp>
        <p:nvSpPr>
          <p:cNvPr id="9" name="Text 6"/>
          <p:cNvSpPr txBox="1"/>
          <p:nvPr/>
        </p:nvSpPr>
        <p:spPr>
          <a:xfrm>
            <a:off x="777240" y="3339592"/>
            <a:ext cx="10637215" cy="321564"/>
          </a:xfrm>
          <a:prstGeom prst="rect">
            <a:avLst/>
          </a:prstGeom>
          <a:noFill/>
          <a:ln/>
        </p:spPr>
        <p:txBody>
          <a:bodyPr wrap="square" lIns="0" tIns="0" rIns="0" bIns="0" rtlCol="0" anchor="ctr"/>
          <a:lstStyle/>
          <a:p>
            <a:pPr indent="0" marL="0">
              <a:lnSpc>
                <a:spcPts val="2100"/>
              </a:lnSpc>
              <a:buNone/>
            </a:pPr>
            <a:r>
              <a:rPr lang="en-US" sz="1450" b="1" dirty="0">
                <a:solidFill>
                  <a:srgbClr val="FFFFFF"/>
                </a:solidFill>
                <a:latin typeface="Public Sans" pitchFamily="34" charset="0"/>
                <a:ea typeface="Public Sans" pitchFamily="34" charset="-122"/>
                <a:cs typeface="Public Sans" pitchFamily="34" charset="-120"/>
              </a:rPr>
              <a:t>You will know it worked when  </a:t>
            </a:r>
            <a:pPr indent="0" marL="0">
              <a:lnSpc>
                <a:spcPts val="2100"/>
              </a:lnSpc>
              <a:buNone/>
            </a:pPr>
            <a:r>
              <a:rPr lang="en-US" sz="1450" dirty="0">
                <a:solidFill>
                  <a:srgbClr val="A8ADBA"/>
                </a:solidFill>
                <a:latin typeface="Public Sans" pitchFamily="34" charset="0"/>
                <a:ea typeface="Public Sans" pitchFamily="34" charset="-122"/>
                <a:cs typeface="Public Sans" pitchFamily="34" charset="-120"/>
              </a:rPr>
              <a:t>Claude asks what to call your executives, and then Obsidian fills with folders.</a:t>
            </a:r>
            <a:endParaRPr lang="en-US" sz="1450" dirty="0"/>
          </a:p>
        </p:txBody>
      </p:sp>
      <p:sp>
        <p:nvSpPr>
          <p:cNvPr id="10" name="Shape 7"/>
          <p:cNvSpPr/>
          <p:nvPr/>
        </p:nvSpPr>
        <p:spPr>
          <a:xfrm>
            <a:off x="777240" y="4041648"/>
            <a:ext cx="10607040" cy="1097280"/>
          </a:xfrm>
          <a:prstGeom prst="roundRect">
            <a:avLst>
              <a:gd name="adj" fmla="val 5000"/>
            </a:avLst>
          </a:prstGeom>
          <a:solidFill>
            <a:srgbClr val="0E1016"/>
          </a:solidFill>
          <a:ln w="19050">
            <a:solidFill>
              <a:srgbClr val="7367F0"/>
            </a:solidFill>
            <a:prstDash val="solid"/>
          </a:ln>
        </p:spPr>
      </p:sp>
      <p:sp>
        <p:nvSpPr>
          <p:cNvPr id="11" name="Text 8"/>
          <p:cNvSpPr txBox="1"/>
          <p:nvPr/>
        </p:nvSpPr>
        <p:spPr>
          <a:xfrm>
            <a:off x="1188720" y="4041648"/>
            <a:ext cx="9875520" cy="1097280"/>
          </a:xfrm>
          <a:prstGeom prst="rect">
            <a:avLst/>
          </a:prstGeom>
          <a:noFill/>
          <a:ln/>
        </p:spPr>
        <p:txBody>
          <a:bodyPr wrap="square" lIns="0" tIns="0" rIns="0" bIns="0" rtlCol="0" anchor="ctr"/>
          <a:lstStyle/>
          <a:p>
            <a:pPr indent="0" marL="0">
              <a:lnSpc>
                <a:spcPts val="2800"/>
              </a:lnSpc>
              <a:buNone/>
            </a:pPr>
            <a:r>
              <a:rPr lang="en-US" sz="1750" b="1" dirty="0">
                <a:solidFill>
                  <a:srgbClr val="FFFFFF"/>
                </a:solidFill>
                <a:latin typeface="Public Sans" pitchFamily="34" charset="0"/>
                <a:ea typeface="Public Sans" pitchFamily="34" charset="-122"/>
                <a:cs typeface="Public Sans" pitchFamily="34" charset="-120"/>
              </a:rPr>
              <a:t>Set up the AI Operations Framework in my connected folder,</a:t>
            </a:r>
            <a:endParaRPr lang="en-US" sz="1750" dirty="0"/>
          </a:p>
          <a:p>
            <a:pPr indent="0" marL="0">
              <a:lnSpc>
                <a:spcPts val="2800"/>
              </a:lnSpc>
              <a:buNone/>
            </a:pPr>
            <a:r>
              <a:rPr lang="en-US" sz="1750" b="1" dirty="0">
                <a:solidFill>
                  <a:srgbClr val="FFFFFF"/>
                </a:solidFill>
                <a:latin typeface="Public Sans" pitchFamily="34" charset="0"/>
                <a:ea typeface="Public Sans" pitchFamily="34" charset="-122"/>
                <a:cs typeface="Public Sans" pitchFamily="34" charset="-120"/>
              </a:rPr>
              <a:t>from github.com/MeshPro-iPaaS/ai-ops-framework.</a:t>
            </a:r>
            <a:endParaRPr lang="en-US" sz="1750" dirty="0"/>
          </a:p>
        </p:txBody>
      </p:sp>
      <p:sp>
        <p:nvSpPr>
          <p:cNvPr id="12" name="Text 9"/>
          <p:cNvSpPr txBox="1"/>
          <p:nvPr/>
        </p:nvSpPr>
        <p:spPr>
          <a:xfrm>
            <a:off x="777240" y="5413248"/>
            <a:ext cx="10607040" cy="658368"/>
          </a:xfrm>
          <a:prstGeom prst="rect">
            <a:avLst/>
          </a:prstGeom>
          <a:noFill/>
          <a:ln/>
        </p:spPr>
        <p:txBody>
          <a:bodyPr wrap="square" lIns="0" tIns="0" rIns="0" bIns="0" rtlCol="0" anchor="ctr"/>
          <a:lstStyle/>
          <a:p>
            <a:pPr indent="0" marL="0">
              <a:lnSpc>
                <a:spcPts val="2100"/>
              </a:lnSpc>
              <a:buNone/>
            </a:pPr>
            <a:r>
              <a:rPr lang="en-US" sz="1350" b="1" dirty="0">
                <a:solidFill>
                  <a:srgbClr val="FFFFFF"/>
                </a:solidFill>
                <a:latin typeface="Public Sans" pitchFamily="34" charset="0"/>
                <a:ea typeface="Public Sans" pitchFamily="34" charset="-122"/>
                <a:cs typeface="Public Sans" pitchFamily="34" charset="-120"/>
              </a:rPr>
              <a:t>It asks one question: what to call your executives. </a:t>
            </a:r>
            <a:pPr indent="0" marL="0">
              <a:lnSpc>
                <a:spcPts val="2100"/>
              </a:lnSpc>
              <a:buNone/>
            </a:pPr>
            <a:r>
              <a:rPr lang="en-US" sz="1350" dirty="0">
                <a:solidFill>
                  <a:srgbClr val="A8ADBA"/>
                </a:solidFill>
                <a:latin typeface="Public Sans" pitchFamily="34" charset="0"/>
                <a:ea typeface="Public Sans" pitchFamily="34" charset="-122"/>
                <a:cs typeface="Public Sans" pitchFamily="34" charset="-120"/>
              </a:rPr>
              <a:t>Job titles, Norse gods, Friends, the Kardashians, Greek.
</a:t>
            </a:r>
            <a:pPr indent="0" marL="0">
              <a:lnSpc>
                <a:spcPts val="2100"/>
              </a:lnSpc>
              <a:buNone/>
            </a:pPr>
            <a:r>
              <a:rPr lang="en-US" sz="1350" b="1" dirty="0">
                <a:solidFill>
                  <a:srgbClr val="FFFFFF"/>
                </a:solidFill>
                <a:latin typeface="Public Sans" pitchFamily="34" charset="0"/>
                <a:ea typeface="Public Sans" pitchFamily="34" charset="-122"/>
                <a:cs typeface="Public Sans" pitchFamily="34" charset="-120"/>
              </a:rPr>
              <a:t>Nothing gets installed and nothing gets run. </a:t>
            </a:r>
            <a:pPr indent="0" marL="0">
              <a:lnSpc>
                <a:spcPts val="2100"/>
              </a:lnSpc>
              <a:buNone/>
            </a:pPr>
            <a:r>
              <a:rPr lang="en-US" sz="1350" dirty="0">
                <a:solidFill>
                  <a:srgbClr val="A8ADBA"/>
                </a:solidFill>
                <a:latin typeface="Public Sans" pitchFamily="34" charset="0"/>
                <a:ea typeface="Public Sans" pitchFamily="34" charset="-122"/>
                <a:cs typeface="Public Sans" pitchFamily="34" charset="-120"/>
              </a:rPr>
              <a:t>It copies in a vault that is already built — a locked-down laptop behaves like any other.</a:t>
            </a:r>
            <a:endParaRPr lang="en-US" sz="1350" dirty="0"/>
          </a:p>
        </p:txBody>
      </p:sp>
      <p:sp>
        <p:nvSpPr>
          <p:cNvPr id="13" name="Text 10"/>
          <p:cNvSpPr txBox="1"/>
          <p:nvPr/>
        </p:nvSpPr>
        <p:spPr>
          <a:xfrm>
            <a:off x="777240" y="6291072"/>
            <a:ext cx="10637215" cy="274320"/>
          </a:xfrm>
          <a:prstGeom prst="rect">
            <a:avLst/>
          </a:prstGeom>
          <a:noFill/>
          <a:ln/>
        </p:spPr>
        <p:txBody>
          <a:bodyPr wrap="square" lIns="0" tIns="0" rIns="0" bIns="0" rtlCol="0" anchor="ctr"/>
          <a:lstStyle/>
          <a:p>
            <a:pPr indent="0" marL="0">
              <a:buNone/>
            </a:pPr>
            <a:r>
              <a:rPr lang="en-US" sz="950" spc="100" kern="0" dirty="0">
                <a:solidFill>
                  <a:srgbClr val="8A90A0"/>
                </a:solidFill>
                <a:latin typeface="Courier New" pitchFamily="34" charset="0"/>
                <a:ea typeface="Courier New" pitchFamily="34" charset="-122"/>
                <a:cs typeface="Courier New" pitchFamily="34" charset="-120"/>
              </a:rPr>
              <a:t>08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77240" y="420624"/>
            <a:ext cx="8229600" cy="274320"/>
          </a:xfrm>
          <a:prstGeom prst="rect">
            <a:avLst/>
          </a:prstGeom>
          <a:noFill/>
          <a:ln/>
        </p:spPr>
        <p:txBody>
          <a:bodyPr wrap="square" lIns="0" tIns="0" rIns="0" bIns="0" rtlCol="0" anchor="ctr"/>
          <a:lstStyle/>
          <a:p>
            <a:pPr indent="0" marL="0">
              <a:buNone/>
            </a:pPr>
            <a:r>
              <a:rPr lang="en-US" sz="1100" spc="200" kern="0" dirty="0">
                <a:solidFill>
                  <a:srgbClr val="6055D8"/>
                </a:solidFill>
                <a:latin typeface="Courier New" pitchFamily="34" charset="0"/>
                <a:ea typeface="Courier New" pitchFamily="34" charset="-122"/>
                <a:cs typeface="Courier New" pitchFamily="34" charset="-120"/>
              </a:rPr>
              <a:t>HANDS ON</a:t>
            </a:r>
            <a:endParaRPr lang="en-US" sz="1100" dirty="0"/>
          </a:p>
        </p:txBody>
      </p:sp>
      <p:pic>
        <p:nvPicPr>
          <p:cNvPr id="3" name="Image 0" descr="/tmp/claude-0/-home-claude/e62a35b1-5075-553d-b086-acebfebc41ba/scratchpad/brand/meshpro-emblem-white.png">    </p:cNvPr>
          <p:cNvPicPr>
            <a:picLocks noChangeAspect="1"/>
          </p:cNvPicPr>
          <p:nvPr/>
        </p:nvPicPr>
        <p:blipFill>
          <a:blip r:embed="rId1"/>
          <a:stretch>
            <a:fillRect/>
          </a:stretch>
        </p:blipFill>
        <p:spPr>
          <a:xfrm>
            <a:off x="11140135" y="411480"/>
            <a:ext cx="384048" cy="374904"/>
          </a:xfrm>
          <a:prstGeom prst="rect">
            <a:avLst/>
          </a:prstGeom>
        </p:spPr>
      </p:pic>
      <p:sp>
        <p:nvSpPr>
          <p:cNvPr id="4" name="Shape 1"/>
          <p:cNvSpPr/>
          <p:nvPr/>
        </p:nvSpPr>
        <p:spPr>
          <a:xfrm>
            <a:off x="777240" y="868680"/>
            <a:ext cx="868680" cy="868680"/>
          </a:xfrm>
          <a:prstGeom prst="ellipse">
            <a:avLst/>
          </a:prstGeom>
          <a:solidFill>
            <a:srgbClr val="7367F0"/>
          </a:solidFill>
          <a:ln/>
        </p:spPr>
      </p:sp>
      <p:sp>
        <p:nvSpPr>
          <p:cNvPr id="5" name="Text 2"/>
          <p:cNvSpPr txBox="1"/>
          <p:nvPr/>
        </p:nvSpPr>
        <p:spPr>
          <a:xfrm>
            <a:off x="777240" y="868680"/>
            <a:ext cx="868680" cy="868680"/>
          </a:xfrm>
          <a:prstGeom prst="rect">
            <a:avLst/>
          </a:prstGeom>
          <a:noFill/>
          <a:ln/>
        </p:spPr>
        <p:txBody>
          <a:bodyPr wrap="square" lIns="0" tIns="0" rIns="0" bIns="0" rtlCol="0" anchor="ctr"/>
          <a:lstStyle/>
          <a:p>
            <a:pPr algn="ctr" indent="0" marL="0">
              <a:buNone/>
            </a:pPr>
            <a:r>
              <a:rPr lang="en-US" sz="3400" b="1" dirty="0">
                <a:solidFill>
                  <a:srgbClr val="FFFFFF"/>
                </a:solidFill>
                <a:latin typeface="Public Sans" pitchFamily="34" charset="0"/>
                <a:ea typeface="Public Sans" pitchFamily="34" charset="-122"/>
                <a:cs typeface="Public Sans" pitchFamily="34" charset="-120"/>
              </a:rPr>
              <a:t>4</a:t>
            </a:r>
            <a:endParaRPr lang="en-US" sz="3400" dirty="0"/>
          </a:p>
        </p:txBody>
      </p:sp>
      <p:sp>
        <p:nvSpPr>
          <p:cNvPr id="6" name="Text 3"/>
          <p:cNvSpPr txBox="1"/>
          <p:nvPr/>
        </p:nvSpPr>
        <p:spPr>
          <a:xfrm>
            <a:off x="2011680" y="868680"/>
            <a:ext cx="9402775" cy="868680"/>
          </a:xfrm>
          <a:prstGeom prst="rect">
            <a:avLst/>
          </a:prstGeom>
          <a:noFill/>
          <a:ln/>
        </p:spPr>
        <p:txBody>
          <a:bodyPr wrap="square" lIns="0" tIns="0" rIns="0" bIns="0" rtlCol="0" anchor="ctr"/>
          <a:lstStyle/>
          <a:p>
            <a:pPr indent="0" marL="0">
              <a:lnSpc>
                <a:spcPts val="3600"/>
              </a:lnSpc>
              <a:buNone/>
            </a:pPr>
            <a:r>
              <a:rPr lang="en-US" sz="3100" b="1" dirty="0">
                <a:solidFill>
                  <a:srgbClr val="15171F"/>
                </a:solidFill>
                <a:latin typeface="Public Sans" pitchFamily="34" charset="0"/>
                <a:ea typeface="Public Sans" pitchFamily="34" charset="-122"/>
                <a:cs typeface="Public Sans" pitchFamily="34" charset="-120"/>
              </a:rPr>
              <a:t>Open your dashboard</a:t>
            </a:r>
            <a:endParaRPr lang="en-US" sz="3100" dirty="0"/>
          </a:p>
        </p:txBody>
      </p:sp>
      <p:sp>
        <p:nvSpPr>
          <p:cNvPr id="7" name="Shape 4"/>
          <p:cNvSpPr/>
          <p:nvPr/>
        </p:nvSpPr>
        <p:spPr>
          <a:xfrm>
            <a:off x="777240" y="1938528"/>
            <a:ext cx="10637215" cy="1236472"/>
          </a:xfrm>
          <a:prstGeom prst="roundRect">
            <a:avLst>
              <a:gd name="adj" fmla="val 4437"/>
            </a:avLst>
          </a:prstGeom>
          <a:solidFill>
            <a:srgbClr val="F0EEFC"/>
          </a:solidFill>
          <a:ln w="17780">
            <a:solidFill>
              <a:srgbClr val="C4BDFF"/>
            </a:solidFill>
            <a:prstDash val="solid"/>
          </a:ln>
        </p:spPr>
      </p:sp>
      <p:sp>
        <p:nvSpPr>
          <p:cNvPr id="8" name="Text 5"/>
          <p:cNvSpPr txBox="1"/>
          <p:nvPr/>
        </p:nvSpPr>
        <p:spPr>
          <a:xfrm>
            <a:off x="1143000" y="1938528"/>
            <a:ext cx="9905695" cy="1236472"/>
          </a:xfrm>
          <a:prstGeom prst="rect">
            <a:avLst/>
          </a:prstGeom>
          <a:noFill/>
          <a:ln/>
        </p:spPr>
        <p:txBody>
          <a:bodyPr wrap="square" lIns="0" tIns="0" rIns="0" bIns="0" rtlCol="0" anchor="ctr"/>
          <a:lstStyle/>
          <a:p>
            <a:pPr indent="0" marL="0">
              <a:lnSpc>
                <a:spcPts val="2600"/>
              </a:lnSpc>
              <a:buNone/>
            </a:pPr>
            <a:r>
              <a:rPr lang="en-US" sz="1050" spc="160" kern="0" dirty="0">
                <a:solidFill>
                  <a:srgbClr val="6055D8"/>
                </a:solidFill>
                <a:latin typeface="Courier New" pitchFamily="34" charset="0"/>
                <a:ea typeface="Courier New" pitchFamily="34" charset="-122"/>
                <a:cs typeface="Courier New" pitchFamily="34" charset="-120"/>
              </a:rPr>
              <a:t>DO THIS NOW   </a:t>
            </a:r>
            <a:pPr indent="0" marL="0">
              <a:lnSpc>
                <a:spcPts val="2600"/>
              </a:lnSpc>
              <a:buNone/>
            </a:pPr>
            <a:endParaRPr lang="en-US" sz="1050" dirty="0"/>
          </a:p>
          <a:p>
            <a:pPr indent="0" marL="0">
              <a:lnSpc>
                <a:spcPts val="2600"/>
              </a:lnSpc>
              <a:buNone/>
            </a:pPr>
            <a:r>
              <a:rPr lang="en-US" sz="1700" b="1" dirty="0">
                <a:solidFill>
                  <a:srgbClr val="15171F"/>
                </a:solidFill>
                <a:latin typeface="Public Sans" pitchFamily="34" charset="0"/>
                <a:ea typeface="Public Sans" pitchFamily="34" charset="-122"/>
                <a:cs typeface="Public Sans" pitchFamily="34" charset="-120"/>
              </a:rPr>
              <a:t>Say: open my dashboard. Claude finds the page it just built and opens it.</a:t>
            </a:r>
            <a:endParaRPr lang="en-US" sz="1050" dirty="0"/>
          </a:p>
        </p:txBody>
      </p:sp>
      <p:sp>
        <p:nvSpPr>
          <p:cNvPr id="9" name="Text 6"/>
          <p:cNvSpPr txBox="1"/>
          <p:nvPr/>
        </p:nvSpPr>
        <p:spPr>
          <a:xfrm>
            <a:off x="777240" y="3339592"/>
            <a:ext cx="10637215" cy="321564"/>
          </a:xfrm>
          <a:prstGeom prst="rect">
            <a:avLst/>
          </a:prstGeom>
          <a:noFill/>
          <a:ln/>
        </p:spPr>
        <p:txBody>
          <a:bodyPr wrap="square" lIns="0" tIns="0" rIns="0" bIns="0" rtlCol="0" anchor="ctr"/>
          <a:lstStyle/>
          <a:p>
            <a:pPr indent="0" marL="0">
              <a:lnSpc>
                <a:spcPts val="2100"/>
              </a:lnSpc>
              <a:buNone/>
            </a:pPr>
            <a:r>
              <a:rPr lang="en-US" sz="1450" b="1" dirty="0">
                <a:solidFill>
                  <a:srgbClr val="15171F"/>
                </a:solidFill>
                <a:latin typeface="Public Sans" pitchFamily="34" charset="0"/>
                <a:ea typeface="Public Sans" pitchFamily="34" charset="-122"/>
                <a:cs typeface="Public Sans" pitchFamily="34" charset="-120"/>
              </a:rPr>
              <a:t>You will know it worked when  </a:t>
            </a:r>
            <a:pPr indent="0" marL="0">
              <a:lnSpc>
                <a:spcPts val="2100"/>
              </a:lnSpc>
              <a:buNone/>
            </a:pPr>
            <a:r>
              <a:rPr lang="en-US" sz="1450" dirty="0">
                <a:solidFill>
                  <a:srgbClr val="5B6270"/>
                </a:solidFill>
                <a:latin typeface="Public Sans" pitchFamily="34" charset="0"/>
                <a:ea typeface="Public Sans" pitchFamily="34" charset="-122"/>
                <a:cs typeface="Public Sans" pitchFamily="34" charset="-120"/>
              </a:rPr>
              <a:t>a page opens with five tabs: Dashboard, Agent organization, Skills, Workflows, Projects.</a:t>
            </a:r>
            <a:endParaRPr lang="en-US" sz="1450" dirty="0"/>
          </a:p>
        </p:txBody>
      </p:sp>
      <p:sp>
        <p:nvSpPr>
          <p:cNvPr id="10" name="Shape 7"/>
          <p:cNvSpPr/>
          <p:nvPr/>
        </p:nvSpPr>
        <p:spPr>
          <a:xfrm>
            <a:off x="777240" y="3917188"/>
            <a:ext cx="5029200" cy="1751584"/>
          </a:xfrm>
          <a:prstGeom prst="roundRect">
            <a:avLst>
              <a:gd name="adj" fmla="val 3132"/>
            </a:avLst>
          </a:prstGeom>
          <a:solidFill>
            <a:srgbClr val="F4F5F8"/>
          </a:solidFill>
          <a:ln w="12700">
            <a:solidFill>
              <a:srgbClr val="E4E6EC"/>
            </a:solidFill>
            <a:prstDash val="solid"/>
          </a:ln>
        </p:spPr>
      </p:sp>
      <p:sp>
        <p:nvSpPr>
          <p:cNvPr id="11" name="Text 8"/>
          <p:cNvSpPr txBox="1"/>
          <p:nvPr/>
        </p:nvSpPr>
        <p:spPr>
          <a:xfrm>
            <a:off x="1051560" y="4191508"/>
            <a:ext cx="4480560" cy="219456"/>
          </a:xfrm>
          <a:prstGeom prst="rect">
            <a:avLst/>
          </a:prstGeom>
          <a:noFill/>
          <a:ln/>
        </p:spPr>
        <p:txBody>
          <a:bodyPr wrap="square" lIns="0" tIns="0" rIns="0" bIns="0" rtlCol="0" anchor="ctr"/>
          <a:lstStyle/>
          <a:p>
            <a:pPr indent="0" marL="0">
              <a:buNone/>
            </a:pPr>
            <a:r>
              <a:rPr lang="en-US" sz="950" spc="140" kern="0" dirty="0">
                <a:solidFill>
                  <a:srgbClr val="6055D8"/>
                </a:solidFill>
                <a:latin typeface="Courier New" pitchFamily="34" charset="0"/>
                <a:ea typeface="Courier New" pitchFamily="34" charset="-122"/>
                <a:cs typeface="Courier New" pitchFamily="34" charset="-120"/>
              </a:rPr>
              <a:t>WHERE IT ACTUALLY IS</a:t>
            </a:r>
            <a:endParaRPr lang="en-US" sz="950" dirty="0"/>
          </a:p>
        </p:txBody>
      </p:sp>
      <p:sp>
        <p:nvSpPr>
          <p:cNvPr id="12" name="Text 9"/>
          <p:cNvSpPr txBox="1"/>
          <p:nvPr/>
        </p:nvSpPr>
        <p:spPr>
          <a:xfrm>
            <a:off x="1051560" y="4484116"/>
            <a:ext cx="4480560" cy="259080"/>
          </a:xfrm>
          <a:prstGeom prst="rect">
            <a:avLst/>
          </a:prstGeom>
          <a:noFill/>
          <a:ln/>
        </p:spPr>
        <p:txBody>
          <a:bodyPr wrap="square" lIns="0" tIns="0" rIns="0" bIns="0" rtlCol="0" anchor="t"/>
          <a:lstStyle/>
          <a:p>
            <a:pPr indent="0" marL="0">
              <a:lnSpc>
                <a:spcPts val="2040"/>
              </a:lnSpc>
              <a:buNone/>
            </a:pPr>
            <a:r>
              <a:rPr lang="en-US" sz="1700" b="1" dirty="0">
                <a:solidFill>
                  <a:srgbClr val="15171F"/>
                </a:solidFill>
                <a:latin typeface="Public Sans" pitchFamily="34" charset="0"/>
                <a:ea typeface="Public Sans" pitchFamily="34" charset="-122"/>
                <a:cs typeface="Public Sans" pitchFamily="34" charset="-120"/>
              </a:rPr>
              <a:t>A file in your own folder</a:t>
            </a:r>
            <a:endParaRPr lang="en-US" sz="1700" dirty="0"/>
          </a:p>
        </p:txBody>
      </p:sp>
      <p:sp>
        <p:nvSpPr>
          <p:cNvPr id="13" name="Text 10"/>
          <p:cNvSpPr txBox="1"/>
          <p:nvPr/>
        </p:nvSpPr>
        <p:spPr>
          <a:xfrm>
            <a:off x="1051560" y="4871212"/>
            <a:ext cx="4480560" cy="541528"/>
          </a:xfrm>
          <a:prstGeom prst="rect">
            <a:avLst/>
          </a:prstGeom>
          <a:noFill/>
          <a:ln/>
        </p:spPr>
        <p:txBody>
          <a:bodyPr wrap="square" lIns="0" tIns="0" rIns="0" bIns="0" rtlCol="0" anchor="t"/>
          <a:lstStyle/>
          <a:p>
            <a:pPr indent="0" marL="0">
              <a:lnSpc>
                <a:spcPts val="1988"/>
              </a:lnSpc>
              <a:buNone/>
            </a:pPr>
            <a:r>
              <a:rPr lang="en-US" sz="1400" dirty="0">
                <a:solidFill>
                  <a:srgbClr val="5B6270"/>
                </a:solidFill>
                <a:latin typeface="Public Sans" pitchFamily="34" charset="0"/>
                <a:ea typeface="Public Sans" pitchFamily="34" charset="-122"/>
                <a:cs typeface="Public Sans" pitchFamily="34" charset="-120"/>
              </a:rPr>
              <a:t>05 - Operations / picture / ai_operations.html. No internet needed. Bookmark it.</a:t>
            </a:r>
            <a:endParaRPr lang="en-US" sz="1400" dirty="0"/>
          </a:p>
        </p:txBody>
      </p:sp>
      <p:sp>
        <p:nvSpPr>
          <p:cNvPr id="14" name="Shape 11"/>
          <p:cNvSpPr/>
          <p:nvPr/>
        </p:nvSpPr>
        <p:spPr>
          <a:xfrm>
            <a:off x="6172200" y="3917188"/>
            <a:ext cx="5029200" cy="1751584"/>
          </a:xfrm>
          <a:prstGeom prst="roundRect">
            <a:avLst>
              <a:gd name="adj" fmla="val 3132"/>
            </a:avLst>
          </a:prstGeom>
          <a:solidFill>
            <a:srgbClr val="F4F5F8"/>
          </a:solidFill>
          <a:ln w="12700">
            <a:solidFill>
              <a:srgbClr val="E4E6EC"/>
            </a:solidFill>
            <a:prstDash val="solid"/>
          </a:ln>
        </p:spPr>
      </p:sp>
      <p:sp>
        <p:nvSpPr>
          <p:cNvPr id="15" name="Text 12"/>
          <p:cNvSpPr txBox="1"/>
          <p:nvPr/>
        </p:nvSpPr>
        <p:spPr>
          <a:xfrm>
            <a:off x="6446520" y="4191508"/>
            <a:ext cx="4480560" cy="219456"/>
          </a:xfrm>
          <a:prstGeom prst="rect">
            <a:avLst/>
          </a:prstGeom>
          <a:noFill/>
          <a:ln/>
        </p:spPr>
        <p:txBody>
          <a:bodyPr wrap="square" lIns="0" tIns="0" rIns="0" bIns="0" rtlCol="0" anchor="ctr"/>
          <a:lstStyle/>
          <a:p>
            <a:pPr indent="0" marL="0">
              <a:buNone/>
            </a:pPr>
            <a:r>
              <a:rPr lang="en-US" sz="950" spc="140" kern="0" dirty="0">
                <a:solidFill>
                  <a:srgbClr val="6055D8"/>
                </a:solidFill>
                <a:latin typeface="Courier New" pitchFamily="34" charset="0"/>
                <a:ea typeface="Courier New" pitchFamily="34" charset="-122"/>
                <a:cs typeface="Courier New" pitchFamily="34" charset="-120"/>
              </a:rPr>
              <a:t>WHY IT IS TRUSTWORTHY</a:t>
            </a:r>
            <a:endParaRPr lang="en-US" sz="950" dirty="0"/>
          </a:p>
        </p:txBody>
      </p:sp>
      <p:sp>
        <p:nvSpPr>
          <p:cNvPr id="16" name="Text 13"/>
          <p:cNvSpPr txBox="1"/>
          <p:nvPr/>
        </p:nvSpPr>
        <p:spPr>
          <a:xfrm>
            <a:off x="6446520" y="4484116"/>
            <a:ext cx="4480560" cy="259080"/>
          </a:xfrm>
          <a:prstGeom prst="rect">
            <a:avLst/>
          </a:prstGeom>
          <a:noFill/>
          <a:ln/>
        </p:spPr>
        <p:txBody>
          <a:bodyPr wrap="square" lIns="0" tIns="0" rIns="0" bIns="0" rtlCol="0" anchor="t"/>
          <a:lstStyle/>
          <a:p>
            <a:pPr indent="0" marL="0">
              <a:lnSpc>
                <a:spcPts val="2040"/>
              </a:lnSpc>
              <a:buNone/>
            </a:pPr>
            <a:r>
              <a:rPr lang="en-US" sz="1700" b="1" dirty="0">
                <a:solidFill>
                  <a:srgbClr val="15171F"/>
                </a:solidFill>
                <a:latin typeface="Public Sans" pitchFamily="34" charset="0"/>
                <a:ea typeface="Public Sans" pitchFamily="34" charset="-122"/>
                <a:cs typeface="Public Sans" pitchFamily="34" charset="-120"/>
              </a:rPr>
              <a:t>It was counted, not typed</a:t>
            </a:r>
            <a:endParaRPr lang="en-US" sz="1700" dirty="0"/>
          </a:p>
        </p:txBody>
      </p:sp>
      <p:sp>
        <p:nvSpPr>
          <p:cNvPr id="17" name="Text 14"/>
          <p:cNvSpPr txBox="1"/>
          <p:nvPr/>
        </p:nvSpPr>
        <p:spPr>
          <a:xfrm>
            <a:off x="6446520" y="4871212"/>
            <a:ext cx="4480560" cy="541528"/>
          </a:xfrm>
          <a:prstGeom prst="rect">
            <a:avLst/>
          </a:prstGeom>
          <a:noFill/>
          <a:ln/>
        </p:spPr>
        <p:txBody>
          <a:bodyPr wrap="square" lIns="0" tIns="0" rIns="0" bIns="0" rtlCol="0" anchor="t"/>
          <a:lstStyle/>
          <a:p>
            <a:pPr indent="0" marL="0">
              <a:lnSpc>
                <a:spcPts val="1988"/>
              </a:lnSpc>
              <a:buNone/>
            </a:pPr>
            <a:r>
              <a:rPr lang="en-US" sz="1400" dirty="0">
                <a:solidFill>
                  <a:srgbClr val="5B6270"/>
                </a:solidFill>
                <a:latin typeface="Public Sans" pitchFamily="34" charset="0"/>
                <a:ea typeface="Public Sans" pitchFamily="34" charset="-122"/>
                <a:cs typeface="Public Sans" pitchFamily="34" charset="-120"/>
              </a:rPr>
              <a:t>Every number was counted off your notes. Nobody maintains it, so it cannot quietly go stale.</a:t>
            </a:r>
            <a:endParaRPr lang="en-US" sz="1400" dirty="0"/>
          </a:p>
        </p:txBody>
      </p:sp>
      <p:sp>
        <p:nvSpPr>
          <p:cNvPr id="18" name="Text 15"/>
          <p:cNvSpPr txBox="1"/>
          <p:nvPr/>
        </p:nvSpPr>
        <p:spPr>
          <a:xfrm>
            <a:off x="777240" y="6291072"/>
            <a:ext cx="10637215" cy="274320"/>
          </a:xfrm>
          <a:prstGeom prst="rect">
            <a:avLst/>
          </a:prstGeom>
          <a:noFill/>
          <a:ln/>
        </p:spPr>
        <p:txBody>
          <a:bodyPr wrap="square" lIns="0" tIns="0" rIns="0" bIns="0" rtlCol="0" anchor="ctr"/>
          <a:lstStyle/>
          <a:p>
            <a:pPr indent="0" marL="0">
              <a:buNone/>
            </a:pPr>
            <a:r>
              <a:rPr lang="en-US" sz="950" spc="100" kern="0" dirty="0">
                <a:solidFill>
                  <a:srgbClr val="6B6D72"/>
                </a:solidFill>
                <a:latin typeface="Courier New" pitchFamily="34" charset="0"/>
                <a:ea typeface="Courier New" pitchFamily="34" charset="-122"/>
                <a:cs typeface="Courier New" pitchFamily="34" charset="-120"/>
              </a:rPr>
              <a:t>09</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77240" y="420624"/>
            <a:ext cx="8229600" cy="274320"/>
          </a:xfrm>
          <a:prstGeom prst="rect">
            <a:avLst/>
          </a:prstGeom>
          <a:noFill/>
          <a:ln/>
        </p:spPr>
        <p:txBody>
          <a:bodyPr wrap="square" lIns="0" tIns="0" rIns="0" bIns="0" rtlCol="0" anchor="ctr"/>
          <a:lstStyle/>
          <a:p>
            <a:pPr indent="0" marL="0">
              <a:buNone/>
            </a:pPr>
            <a:r>
              <a:rPr lang="en-US" sz="1100" spc="200" kern="0" dirty="0">
                <a:solidFill>
                  <a:srgbClr val="6055D8"/>
                </a:solidFill>
                <a:latin typeface="Courier New" pitchFamily="34" charset="0"/>
                <a:ea typeface="Courier New" pitchFamily="34" charset="-122"/>
                <a:cs typeface="Courier New" pitchFamily="34" charset="-120"/>
              </a:rPr>
              <a:t>CHECKPOINT</a:t>
            </a:r>
            <a:endParaRPr lang="en-US" sz="1100" dirty="0"/>
          </a:p>
        </p:txBody>
      </p:sp>
      <p:pic>
        <p:nvPicPr>
          <p:cNvPr id="3" name="Image 0" descr="/tmp/claude-0/-home-claude/e62a35b1-5075-553d-b086-acebfebc41ba/scratchpad/brand/meshpro-emblem-white.png">    </p:cNvPr>
          <p:cNvPicPr>
            <a:picLocks noChangeAspect="1"/>
          </p:cNvPicPr>
          <p:nvPr/>
        </p:nvPicPr>
        <p:blipFill>
          <a:blip r:embed="rId1"/>
          <a:stretch>
            <a:fillRect/>
          </a:stretch>
        </p:blipFill>
        <p:spPr>
          <a:xfrm>
            <a:off x="11140135" y="411480"/>
            <a:ext cx="384048" cy="374904"/>
          </a:xfrm>
          <a:prstGeom prst="rect">
            <a:avLst/>
          </a:prstGeom>
        </p:spPr>
      </p:pic>
      <p:sp>
        <p:nvSpPr>
          <p:cNvPr id="4" name="Text 1"/>
          <p:cNvSpPr txBox="1"/>
          <p:nvPr/>
        </p:nvSpPr>
        <p:spPr>
          <a:xfrm>
            <a:off x="777240" y="868680"/>
            <a:ext cx="9951415" cy="914400"/>
          </a:xfrm>
          <a:prstGeom prst="rect">
            <a:avLst/>
          </a:prstGeom>
          <a:noFill/>
          <a:ln/>
        </p:spPr>
        <p:txBody>
          <a:bodyPr wrap="square" lIns="0" tIns="0" rIns="0" bIns="0" rtlCol="0" anchor="ctr"/>
          <a:lstStyle/>
          <a:p>
            <a:pPr indent="0" marL="0">
              <a:lnSpc>
                <a:spcPts val="3480"/>
              </a:lnSpc>
              <a:buNone/>
            </a:pPr>
            <a:r>
              <a:rPr lang="en-US" sz="3000" b="1" dirty="0">
                <a:solidFill>
                  <a:srgbClr val="15171F"/>
                </a:solidFill>
                <a:latin typeface="Public Sans" pitchFamily="34" charset="0"/>
                <a:ea typeface="Public Sans" pitchFamily="34" charset="-122"/>
                <a:cs typeface="Public Sans" pitchFamily="34" charset="-120"/>
              </a:rPr>
              <a:t>Everyone should be looking at this</a:t>
            </a:r>
            <a:endParaRPr lang="en-US" sz="3000" dirty="0"/>
          </a:p>
        </p:txBody>
      </p:sp>
      <p:pic>
        <p:nvPicPr>
          <p:cNvPr id="5" name="Image 1" descr="/tmp/claude-0/-home-claude/e62a35b1-5075-553d-b086-acebfebc41ba/scratchpad/deck/n-dayone.png">    </p:cNvPr>
          <p:cNvPicPr>
            <a:picLocks noChangeAspect="1"/>
          </p:cNvPicPr>
          <p:nvPr/>
        </p:nvPicPr>
        <p:blipFill>
          <a:blip r:embed="rId2"/>
          <a:stretch>
            <a:fillRect/>
          </a:stretch>
        </p:blipFill>
        <p:spPr>
          <a:xfrm>
            <a:off x="777240" y="1719072"/>
            <a:ext cx="8129016" cy="4005072"/>
          </a:xfrm>
          <a:prstGeom prst="rect">
            <a:avLst/>
          </a:prstGeom>
        </p:spPr>
      </p:pic>
      <p:sp>
        <p:nvSpPr>
          <p:cNvPr id="6" name="Shape 2"/>
          <p:cNvSpPr/>
          <p:nvPr/>
        </p:nvSpPr>
        <p:spPr>
          <a:xfrm>
            <a:off x="9262872" y="1719072"/>
            <a:ext cx="2258568" cy="1669161"/>
          </a:xfrm>
          <a:prstGeom prst="roundRect">
            <a:avLst>
              <a:gd name="adj" fmla="val 3287"/>
            </a:avLst>
          </a:prstGeom>
          <a:solidFill>
            <a:srgbClr val="F4F5F8"/>
          </a:solidFill>
          <a:ln w="12700">
            <a:solidFill>
              <a:srgbClr val="E4E6EC"/>
            </a:solidFill>
            <a:prstDash val="solid"/>
          </a:ln>
        </p:spPr>
      </p:sp>
      <p:sp>
        <p:nvSpPr>
          <p:cNvPr id="7" name="Text 3"/>
          <p:cNvSpPr txBox="1"/>
          <p:nvPr/>
        </p:nvSpPr>
        <p:spPr>
          <a:xfrm>
            <a:off x="9537192" y="1993392"/>
            <a:ext cx="1709928" cy="243840"/>
          </a:xfrm>
          <a:prstGeom prst="rect">
            <a:avLst/>
          </a:prstGeom>
          <a:noFill/>
          <a:ln/>
        </p:spPr>
        <p:txBody>
          <a:bodyPr wrap="square" lIns="0" tIns="0" rIns="0" bIns="0" rtlCol="0" anchor="t"/>
          <a:lstStyle/>
          <a:p>
            <a:pPr indent="0" marL="0">
              <a:lnSpc>
                <a:spcPts val="1920"/>
              </a:lnSpc>
              <a:buNone/>
            </a:pPr>
            <a:r>
              <a:rPr lang="en-US" sz="1600" b="1" dirty="0">
                <a:solidFill>
                  <a:srgbClr val="15171F"/>
                </a:solidFill>
                <a:latin typeface="Public Sans" pitchFamily="34" charset="0"/>
                <a:ea typeface="Public Sans" pitchFamily="34" charset="-122"/>
                <a:cs typeface="Public Sans" pitchFamily="34" charset="-120"/>
              </a:rPr>
              <a:t>Five tabs</a:t>
            </a:r>
            <a:endParaRPr lang="en-US" sz="1600" dirty="0"/>
          </a:p>
        </p:txBody>
      </p:sp>
      <p:sp>
        <p:nvSpPr>
          <p:cNvPr id="8" name="Text 4"/>
          <p:cNvSpPr txBox="1"/>
          <p:nvPr/>
        </p:nvSpPr>
        <p:spPr>
          <a:xfrm>
            <a:off x="9537192" y="2365248"/>
            <a:ext cx="1709928" cy="766953"/>
          </a:xfrm>
          <a:prstGeom prst="rect">
            <a:avLst/>
          </a:prstGeom>
          <a:noFill/>
          <a:ln/>
        </p:spPr>
        <p:txBody>
          <a:bodyPr wrap="square" lIns="0" tIns="0" rIns="0" bIns="0" rtlCol="0" anchor="t"/>
          <a:lstStyle/>
          <a:p>
            <a:pPr indent="0" marL="0">
              <a:lnSpc>
                <a:spcPts val="1917"/>
              </a:lnSpc>
              <a:buNone/>
            </a:pPr>
            <a:r>
              <a:rPr lang="en-US" sz="1350" dirty="0">
                <a:solidFill>
                  <a:srgbClr val="5B6270"/>
                </a:solidFill>
                <a:latin typeface="Public Sans" pitchFamily="34" charset="0"/>
                <a:ea typeface="Public Sans" pitchFamily="34" charset="-122"/>
                <a:cs typeface="Public Sans" pitchFamily="34" charset="-120"/>
              </a:rPr>
              <a:t>Dashboard, agent organization, skills, workflows, projects.</a:t>
            </a:r>
            <a:endParaRPr lang="en-US" sz="1350" dirty="0"/>
          </a:p>
        </p:txBody>
      </p:sp>
      <p:sp>
        <p:nvSpPr>
          <p:cNvPr id="9" name="Shape 5"/>
          <p:cNvSpPr/>
          <p:nvPr/>
        </p:nvSpPr>
        <p:spPr>
          <a:xfrm>
            <a:off x="9262872" y="3680841"/>
            <a:ext cx="2258568" cy="2156460"/>
          </a:xfrm>
          <a:prstGeom prst="roundRect">
            <a:avLst>
              <a:gd name="adj" fmla="val 2544"/>
            </a:avLst>
          </a:prstGeom>
          <a:solidFill>
            <a:srgbClr val="F4F5F8"/>
          </a:solidFill>
          <a:ln w="12700">
            <a:solidFill>
              <a:srgbClr val="E4E6EC"/>
            </a:solidFill>
            <a:prstDash val="solid"/>
          </a:ln>
        </p:spPr>
      </p:sp>
      <p:sp>
        <p:nvSpPr>
          <p:cNvPr id="10" name="Text 6"/>
          <p:cNvSpPr txBox="1"/>
          <p:nvPr/>
        </p:nvSpPr>
        <p:spPr>
          <a:xfrm>
            <a:off x="9537192" y="3955161"/>
            <a:ext cx="1709928" cy="487680"/>
          </a:xfrm>
          <a:prstGeom prst="rect">
            <a:avLst/>
          </a:prstGeom>
          <a:noFill/>
          <a:ln/>
        </p:spPr>
        <p:txBody>
          <a:bodyPr wrap="square" lIns="0" tIns="0" rIns="0" bIns="0" rtlCol="0" anchor="t"/>
          <a:lstStyle/>
          <a:p>
            <a:pPr indent="0" marL="0">
              <a:lnSpc>
                <a:spcPts val="1920"/>
              </a:lnSpc>
              <a:buNone/>
            </a:pPr>
            <a:r>
              <a:rPr lang="en-US" sz="1600" b="1" dirty="0">
                <a:solidFill>
                  <a:srgbClr val="15171F"/>
                </a:solidFill>
                <a:latin typeface="Public Sans" pitchFamily="34" charset="0"/>
                <a:ea typeface="Public Sans" pitchFamily="34" charset="-122"/>
                <a:cs typeface="Public Sans" pitchFamily="34" charset="-120"/>
              </a:rPr>
              <a:t>Honest on day one</a:t>
            </a:r>
            <a:endParaRPr lang="en-US" sz="1600" dirty="0"/>
          </a:p>
        </p:txBody>
      </p:sp>
      <p:sp>
        <p:nvSpPr>
          <p:cNvPr id="11" name="Text 7"/>
          <p:cNvSpPr txBox="1"/>
          <p:nvPr/>
        </p:nvSpPr>
        <p:spPr>
          <a:xfrm>
            <a:off x="9537192" y="4570857"/>
            <a:ext cx="1709928" cy="1010412"/>
          </a:xfrm>
          <a:prstGeom prst="rect">
            <a:avLst/>
          </a:prstGeom>
          <a:noFill/>
          <a:ln/>
        </p:spPr>
        <p:txBody>
          <a:bodyPr wrap="square" lIns="0" tIns="0" rIns="0" bIns="0" rtlCol="0" anchor="t"/>
          <a:lstStyle/>
          <a:p>
            <a:pPr indent="0" marL="0">
              <a:lnSpc>
                <a:spcPts val="1917"/>
              </a:lnSpc>
              <a:buNone/>
            </a:pPr>
            <a:r>
              <a:rPr lang="en-US" sz="1350" dirty="0">
                <a:solidFill>
                  <a:srgbClr val="5B6270"/>
                </a:solidFill>
                <a:latin typeface="Public Sans" pitchFamily="34" charset="0"/>
                <a:ea typeface="Public Sans" pitchFamily="34" charset="-122"/>
                <a:cs typeface="Public Sans" pitchFamily="34" charset="-120"/>
              </a:rPr>
              <a:t>Two departments, three executives — and it says so. Your job is next.</a:t>
            </a:r>
            <a:endParaRPr lang="en-US" sz="1350" dirty="0"/>
          </a:p>
        </p:txBody>
      </p:sp>
      <p:sp>
        <p:nvSpPr>
          <p:cNvPr id="12" name="Text 8"/>
          <p:cNvSpPr txBox="1"/>
          <p:nvPr/>
        </p:nvSpPr>
        <p:spPr>
          <a:xfrm>
            <a:off x="777240" y="6291072"/>
            <a:ext cx="10637215" cy="274320"/>
          </a:xfrm>
          <a:prstGeom prst="rect">
            <a:avLst/>
          </a:prstGeom>
          <a:noFill/>
          <a:ln/>
        </p:spPr>
        <p:txBody>
          <a:bodyPr wrap="square" lIns="0" tIns="0" rIns="0" bIns="0" rtlCol="0" anchor="ctr"/>
          <a:lstStyle/>
          <a:p>
            <a:pPr indent="0" marL="0">
              <a:buNone/>
            </a:pPr>
            <a:r>
              <a:rPr lang="en-US" sz="950" spc="100" kern="0" dirty="0">
                <a:solidFill>
                  <a:srgbClr val="6B6D72"/>
                </a:solidFill>
                <a:latin typeface="Courier New" pitchFamily="34" charset="0"/>
                <a:ea typeface="Courier New" pitchFamily="34" charset="-122"/>
                <a:cs typeface="Courier New" pitchFamily="34" charset="-120"/>
              </a:rPr>
              <a:t>10</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77240" y="420624"/>
            <a:ext cx="8229600" cy="274320"/>
          </a:xfrm>
          <a:prstGeom prst="rect">
            <a:avLst/>
          </a:prstGeom>
          <a:noFill/>
          <a:ln/>
        </p:spPr>
        <p:txBody>
          <a:bodyPr wrap="square" lIns="0" tIns="0" rIns="0" bIns="0" rtlCol="0" anchor="ctr"/>
          <a:lstStyle/>
          <a:p>
            <a:pPr indent="0" marL="0">
              <a:buNone/>
            </a:pPr>
            <a:r>
              <a:rPr lang="en-US" sz="1100" spc="200" kern="0" dirty="0">
                <a:solidFill>
                  <a:srgbClr val="6055D8"/>
                </a:solidFill>
                <a:latin typeface="Courier New" pitchFamily="34" charset="0"/>
                <a:ea typeface="Courier New" pitchFamily="34" charset="-122"/>
                <a:cs typeface="Courier New" pitchFamily="34" charset="-120"/>
              </a:rPr>
              <a:t>HANDS ON · THE REAL FIRST STEP</a:t>
            </a:r>
            <a:endParaRPr lang="en-US" sz="1100" dirty="0"/>
          </a:p>
        </p:txBody>
      </p:sp>
      <p:pic>
        <p:nvPicPr>
          <p:cNvPr id="3" name="Image 0" descr="/tmp/claude-0/-home-claude/e62a35b1-5075-553d-b086-acebfebc41ba/scratchpad/brand/meshpro-emblem-white.png">    </p:cNvPr>
          <p:cNvPicPr>
            <a:picLocks noChangeAspect="1"/>
          </p:cNvPicPr>
          <p:nvPr/>
        </p:nvPicPr>
        <p:blipFill>
          <a:blip r:embed="rId1"/>
          <a:stretch>
            <a:fillRect/>
          </a:stretch>
        </p:blipFill>
        <p:spPr>
          <a:xfrm>
            <a:off x="11140135" y="411480"/>
            <a:ext cx="384048" cy="374904"/>
          </a:xfrm>
          <a:prstGeom prst="rect">
            <a:avLst/>
          </a:prstGeom>
        </p:spPr>
      </p:pic>
      <p:sp>
        <p:nvSpPr>
          <p:cNvPr id="4" name="Shape 1"/>
          <p:cNvSpPr/>
          <p:nvPr/>
        </p:nvSpPr>
        <p:spPr>
          <a:xfrm>
            <a:off x="777240" y="868680"/>
            <a:ext cx="868680" cy="868680"/>
          </a:xfrm>
          <a:prstGeom prst="ellipse">
            <a:avLst/>
          </a:prstGeom>
          <a:solidFill>
            <a:srgbClr val="7367F0"/>
          </a:solidFill>
          <a:ln/>
        </p:spPr>
      </p:sp>
      <p:sp>
        <p:nvSpPr>
          <p:cNvPr id="5" name="Text 2"/>
          <p:cNvSpPr txBox="1"/>
          <p:nvPr/>
        </p:nvSpPr>
        <p:spPr>
          <a:xfrm>
            <a:off x="777240" y="868680"/>
            <a:ext cx="868680" cy="868680"/>
          </a:xfrm>
          <a:prstGeom prst="rect">
            <a:avLst/>
          </a:prstGeom>
          <a:noFill/>
          <a:ln/>
        </p:spPr>
        <p:txBody>
          <a:bodyPr wrap="square" lIns="0" tIns="0" rIns="0" bIns="0" rtlCol="0" anchor="ctr"/>
          <a:lstStyle/>
          <a:p>
            <a:pPr algn="ctr" indent="0" marL="0">
              <a:buNone/>
            </a:pPr>
            <a:r>
              <a:rPr lang="en-US" sz="3400" b="1" dirty="0">
                <a:solidFill>
                  <a:srgbClr val="FFFFFF"/>
                </a:solidFill>
                <a:latin typeface="Public Sans" pitchFamily="34" charset="0"/>
                <a:ea typeface="Public Sans" pitchFamily="34" charset="-122"/>
                <a:cs typeface="Public Sans" pitchFamily="34" charset="-120"/>
              </a:rPr>
              <a:t>5</a:t>
            </a:r>
            <a:endParaRPr lang="en-US" sz="3400" dirty="0"/>
          </a:p>
        </p:txBody>
      </p:sp>
      <p:sp>
        <p:nvSpPr>
          <p:cNvPr id="6" name="Text 3"/>
          <p:cNvSpPr txBox="1"/>
          <p:nvPr/>
        </p:nvSpPr>
        <p:spPr>
          <a:xfrm>
            <a:off x="2011680" y="868680"/>
            <a:ext cx="9402775" cy="868680"/>
          </a:xfrm>
          <a:prstGeom prst="rect">
            <a:avLst/>
          </a:prstGeom>
          <a:noFill/>
          <a:ln/>
        </p:spPr>
        <p:txBody>
          <a:bodyPr wrap="square" lIns="0" tIns="0" rIns="0" bIns="0" rtlCol="0" anchor="ctr"/>
          <a:lstStyle/>
          <a:p>
            <a:pPr indent="0" marL="0">
              <a:lnSpc>
                <a:spcPts val="3600"/>
              </a:lnSpc>
              <a:buNone/>
            </a:pPr>
            <a:r>
              <a:rPr lang="en-US" sz="3100" b="1" dirty="0">
                <a:solidFill>
                  <a:srgbClr val="15171F"/>
                </a:solidFill>
                <a:latin typeface="Public Sans" pitchFamily="34" charset="0"/>
                <a:ea typeface="Public Sans" pitchFamily="34" charset="-122"/>
                <a:cs typeface="Public Sans" pitchFamily="34" charset="-120"/>
              </a:rPr>
              <a:t>Name your departments</a:t>
            </a:r>
            <a:endParaRPr lang="en-US" sz="3100" dirty="0"/>
          </a:p>
        </p:txBody>
      </p:sp>
      <p:sp>
        <p:nvSpPr>
          <p:cNvPr id="7" name="Shape 4"/>
          <p:cNvSpPr/>
          <p:nvPr/>
        </p:nvSpPr>
        <p:spPr>
          <a:xfrm>
            <a:off x="777240" y="1938528"/>
            <a:ext cx="10637215" cy="1236472"/>
          </a:xfrm>
          <a:prstGeom prst="roundRect">
            <a:avLst>
              <a:gd name="adj" fmla="val 4437"/>
            </a:avLst>
          </a:prstGeom>
          <a:solidFill>
            <a:srgbClr val="F0EEFC"/>
          </a:solidFill>
          <a:ln w="17780">
            <a:solidFill>
              <a:srgbClr val="C4BDFF"/>
            </a:solidFill>
            <a:prstDash val="solid"/>
          </a:ln>
        </p:spPr>
      </p:sp>
      <p:sp>
        <p:nvSpPr>
          <p:cNvPr id="8" name="Text 5"/>
          <p:cNvSpPr txBox="1"/>
          <p:nvPr/>
        </p:nvSpPr>
        <p:spPr>
          <a:xfrm>
            <a:off x="1143000" y="1938528"/>
            <a:ext cx="9905695" cy="1236472"/>
          </a:xfrm>
          <a:prstGeom prst="rect">
            <a:avLst/>
          </a:prstGeom>
          <a:noFill/>
          <a:ln/>
        </p:spPr>
        <p:txBody>
          <a:bodyPr wrap="square" lIns="0" tIns="0" rIns="0" bIns="0" rtlCol="0" anchor="ctr"/>
          <a:lstStyle/>
          <a:p>
            <a:pPr indent="0" marL="0">
              <a:lnSpc>
                <a:spcPts val="2600"/>
              </a:lnSpc>
              <a:buNone/>
            </a:pPr>
            <a:r>
              <a:rPr lang="en-US" sz="1050" spc="160" kern="0" dirty="0">
                <a:solidFill>
                  <a:srgbClr val="6055D8"/>
                </a:solidFill>
                <a:latin typeface="Courier New" pitchFamily="34" charset="0"/>
                <a:ea typeface="Courier New" pitchFamily="34" charset="-122"/>
                <a:cs typeface="Courier New" pitchFamily="34" charset="-120"/>
              </a:rPr>
              <a:t>DO THIS NOW   </a:t>
            </a:r>
            <a:pPr indent="0" marL="0">
              <a:lnSpc>
                <a:spcPts val="2600"/>
              </a:lnSpc>
              <a:buNone/>
            </a:pPr>
            <a:endParaRPr lang="en-US" sz="1050" dirty="0"/>
          </a:p>
          <a:p>
            <a:pPr indent="0" marL="0">
              <a:lnSpc>
                <a:spcPts val="2600"/>
              </a:lnSpc>
              <a:buNone/>
            </a:pPr>
            <a:r>
              <a:rPr lang="en-US" sz="1700" b="1" dirty="0">
                <a:solidFill>
                  <a:srgbClr val="15171F"/>
                </a:solidFill>
                <a:latin typeface="Public Sans" pitchFamily="34" charset="0"/>
                <a:ea typeface="Public Sans" pitchFamily="34" charset="-122"/>
                <a:cs typeface="Public Sans" pitchFamily="34" charset="-120"/>
              </a:rPr>
              <a:t>Tell Claude the parts of your job. Three to six, in your own words.</a:t>
            </a:r>
            <a:endParaRPr lang="en-US" sz="1050" dirty="0"/>
          </a:p>
        </p:txBody>
      </p:sp>
      <p:sp>
        <p:nvSpPr>
          <p:cNvPr id="9" name="Text 6"/>
          <p:cNvSpPr txBox="1"/>
          <p:nvPr/>
        </p:nvSpPr>
        <p:spPr>
          <a:xfrm>
            <a:off x="777240" y="3339592"/>
            <a:ext cx="10637215" cy="321564"/>
          </a:xfrm>
          <a:prstGeom prst="rect">
            <a:avLst/>
          </a:prstGeom>
          <a:noFill/>
          <a:ln/>
        </p:spPr>
        <p:txBody>
          <a:bodyPr wrap="square" lIns="0" tIns="0" rIns="0" bIns="0" rtlCol="0" anchor="ctr"/>
          <a:lstStyle/>
          <a:p>
            <a:pPr indent="0" marL="0">
              <a:lnSpc>
                <a:spcPts val="2100"/>
              </a:lnSpc>
              <a:buNone/>
            </a:pPr>
            <a:r>
              <a:rPr lang="en-US" sz="1450" b="1" dirty="0">
                <a:solidFill>
                  <a:srgbClr val="15171F"/>
                </a:solidFill>
                <a:latin typeface="Public Sans" pitchFamily="34" charset="0"/>
                <a:ea typeface="Public Sans" pitchFamily="34" charset="-122"/>
                <a:cs typeface="Public Sans" pitchFamily="34" charset="-120"/>
              </a:rPr>
              <a:t>You will know it worked when  </a:t>
            </a:r>
            <a:pPr indent="0" marL="0">
              <a:lnSpc>
                <a:spcPts val="2100"/>
              </a:lnSpc>
              <a:buNone/>
            </a:pPr>
            <a:r>
              <a:rPr lang="en-US" sz="1450" dirty="0">
                <a:solidFill>
                  <a:srgbClr val="5B6270"/>
                </a:solidFill>
                <a:latin typeface="Public Sans" pitchFamily="34" charset="0"/>
                <a:ea typeface="Public Sans" pitchFamily="34" charset="-122"/>
                <a:cs typeface="Public Sans" pitchFamily="34" charset="-120"/>
              </a:rPr>
              <a:t>one note per department appears, each with an executive attached to it.</a:t>
            </a:r>
            <a:endParaRPr lang="en-US" sz="1450" dirty="0"/>
          </a:p>
        </p:txBody>
      </p:sp>
      <p:sp>
        <p:nvSpPr>
          <p:cNvPr id="10" name="Text 7"/>
          <p:cNvSpPr txBox="1"/>
          <p:nvPr/>
        </p:nvSpPr>
        <p:spPr>
          <a:xfrm>
            <a:off x="777240" y="3752596"/>
            <a:ext cx="10637215" cy="274320"/>
          </a:xfrm>
          <a:prstGeom prst="rect">
            <a:avLst/>
          </a:prstGeom>
          <a:noFill/>
          <a:ln/>
        </p:spPr>
        <p:txBody>
          <a:bodyPr wrap="square" lIns="0" tIns="0" rIns="0" bIns="0" rtlCol="0" anchor="ctr"/>
          <a:lstStyle/>
          <a:p>
            <a:pPr indent="0" marL="0">
              <a:buNone/>
            </a:pPr>
            <a:r>
              <a:rPr lang="en-US" sz="1000" spc="140" kern="0" dirty="0">
                <a:solidFill>
                  <a:srgbClr val="6055D8"/>
                </a:solidFill>
                <a:latin typeface="Courier New" pitchFamily="34" charset="0"/>
                <a:ea typeface="Courier New" pitchFamily="34" charset="-122"/>
                <a:cs typeface="Courier New" pitchFamily="34" charset="-120"/>
              </a:rPr>
              <a:t>IT LANDS IN   </a:t>
            </a:r>
            <a:pPr indent="0" marL="0">
              <a:buNone/>
            </a:pPr>
            <a:r>
              <a:rPr lang="en-US" sz="1300" dirty="0">
                <a:solidFill>
                  <a:srgbClr val="5B6270"/>
                </a:solidFill>
                <a:latin typeface="Courier New" pitchFamily="34" charset="0"/>
                <a:ea typeface="Courier New" pitchFamily="34" charset="-122"/>
                <a:cs typeface="Courier New" pitchFamily="34" charset="-120"/>
              </a:rPr>
              <a:t>01 - Company/Departments/   ·   its executive in   01 - Company/Roles/</a:t>
            </a:r>
            <a:endParaRPr lang="en-US" sz="1000" dirty="0"/>
          </a:p>
        </p:txBody>
      </p:sp>
      <p:sp>
        <p:nvSpPr>
          <p:cNvPr id="11" name="Shape 8"/>
          <p:cNvSpPr/>
          <p:nvPr/>
        </p:nvSpPr>
        <p:spPr>
          <a:xfrm>
            <a:off x="777240" y="4246372"/>
            <a:ext cx="5029200" cy="1769618"/>
          </a:xfrm>
          <a:prstGeom prst="roundRect">
            <a:avLst>
              <a:gd name="adj" fmla="val 3100"/>
            </a:avLst>
          </a:prstGeom>
          <a:solidFill>
            <a:srgbClr val="F4F5F8"/>
          </a:solidFill>
          <a:ln w="12700">
            <a:solidFill>
              <a:srgbClr val="E4E6EC"/>
            </a:solidFill>
            <a:prstDash val="solid"/>
          </a:ln>
        </p:spPr>
      </p:sp>
      <p:sp>
        <p:nvSpPr>
          <p:cNvPr id="12" name="Text 9"/>
          <p:cNvSpPr txBox="1"/>
          <p:nvPr/>
        </p:nvSpPr>
        <p:spPr>
          <a:xfrm>
            <a:off x="1051560" y="4520692"/>
            <a:ext cx="4480560" cy="219456"/>
          </a:xfrm>
          <a:prstGeom prst="rect">
            <a:avLst/>
          </a:prstGeom>
          <a:noFill/>
          <a:ln/>
        </p:spPr>
        <p:txBody>
          <a:bodyPr wrap="square" lIns="0" tIns="0" rIns="0" bIns="0" rtlCol="0" anchor="ctr"/>
          <a:lstStyle/>
          <a:p>
            <a:pPr indent="0" marL="0">
              <a:buNone/>
            </a:pPr>
            <a:r>
              <a:rPr lang="en-US" sz="950" spc="140" kern="0" dirty="0">
                <a:solidFill>
                  <a:srgbClr val="6055D8"/>
                </a:solidFill>
                <a:latin typeface="Courier New" pitchFamily="34" charset="0"/>
                <a:ea typeface="Courier New" pitchFamily="34" charset="-122"/>
                <a:cs typeface="Courier New" pitchFamily="34" charset="-120"/>
              </a:rPr>
              <a:t>WHAT COUNTS AS ONE</a:t>
            </a:r>
            <a:endParaRPr lang="en-US" sz="950" dirty="0"/>
          </a:p>
        </p:txBody>
      </p:sp>
      <p:sp>
        <p:nvSpPr>
          <p:cNvPr id="13" name="Text 10"/>
          <p:cNvSpPr txBox="1"/>
          <p:nvPr/>
        </p:nvSpPr>
        <p:spPr>
          <a:xfrm>
            <a:off x="1051560" y="4813300"/>
            <a:ext cx="4480560" cy="259080"/>
          </a:xfrm>
          <a:prstGeom prst="rect">
            <a:avLst/>
          </a:prstGeom>
          <a:noFill/>
          <a:ln/>
        </p:spPr>
        <p:txBody>
          <a:bodyPr wrap="square" lIns="0" tIns="0" rIns="0" bIns="0" rtlCol="0" anchor="t"/>
          <a:lstStyle/>
          <a:p>
            <a:pPr indent="0" marL="0">
              <a:lnSpc>
                <a:spcPts val="2040"/>
              </a:lnSpc>
              <a:buNone/>
            </a:pPr>
            <a:r>
              <a:rPr lang="en-US" sz="1700" b="1" dirty="0">
                <a:solidFill>
                  <a:srgbClr val="15171F"/>
                </a:solidFill>
                <a:latin typeface="Public Sans" pitchFamily="34" charset="0"/>
                <a:ea typeface="Public Sans" pitchFamily="34" charset="-122"/>
                <a:cs typeface="Public Sans" pitchFamily="34" charset="-120"/>
              </a:rPr>
              <a:t>A part of your job you answer for</a:t>
            </a:r>
            <a:endParaRPr lang="en-US" sz="1700" dirty="0"/>
          </a:p>
        </p:txBody>
      </p:sp>
      <p:sp>
        <p:nvSpPr>
          <p:cNvPr id="14" name="Text 11"/>
          <p:cNvSpPr txBox="1"/>
          <p:nvPr/>
        </p:nvSpPr>
        <p:spPr>
          <a:xfrm>
            <a:off x="1051560" y="5200396"/>
            <a:ext cx="4480560" cy="559562"/>
          </a:xfrm>
          <a:prstGeom prst="rect">
            <a:avLst/>
          </a:prstGeom>
          <a:noFill/>
          <a:ln/>
        </p:spPr>
        <p:txBody>
          <a:bodyPr wrap="square" lIns="0" tIns="0" rIns="0" bIns="0" rtlCol="0" anchor="t"/>
          <a:lstStyle/>
          <a:p>
            <a:pPr indent="0" marL="0">
              <a:lnSpc>
                <a:spcPts val="2059"/>
              </a:lnSpc>
              <a:buNone/>
            </a:pPr>
            <a:r>
              <a:rPr lang="en-US" sz="1450" dirty="0">
                <a:solidFill>
                  <a:srgbClr val="5B6270"/>
                </a:solidFill>
                <a:latin typeface="Public Sans" pitchFamily="34" charset="0"/>
                <a:ea typeface="Public Sans" pitchFamily="34" charset="-122"/>
                <a:cs typeface="Public Sans" pitchFamily="34" charset="-120"/>
              </a:rPr>
              <a:t>The accounts. The reporting. The posting. The thing you inherited.</a:t>
            </a:r>
            <a:endParaRPr lang="en-US" sz="1450" dirty="0"/>
          </a:p>
        </p:txBody>
      </p:sp>
      <p:sp>
        <p:nvSpPr>
          <p:cNvPr id="15" name="Shape 12"/>
          <p:cNvSpPr/>
          <p:nvPr/>
        </p:nvSpPr>
        <p:spPr>
          <a:xfrm>
            <a:off x="6172200" y="4246372"/>
            <a:ext cx="5029200" cy="1769618"/>
          </a:xfrm>
          <a:prstGeom prst="roundRect">
            <a:avLst>
              <a:gd name="adj" fmla="val 3100"/>
            </a:avLst>
          </a:prstGeom>
          <a:solidFill>
            <a:srgbClr val="F4F5F8"/>
          </a:solidFill>
          <a:ln w="12700">
            <a:solidFill>
              <a:srgbClr val="E4E6EC"/>
            </a:solidFill>
            <a:prstDash val="solid"/>
          </a:ln>
        </p:spPr>
      </p:sp>
      <p:sp>
        <p:nvSpPr>
          <p:cNvPr id="16" name="Text 13"/>
          <p:cNvSpPr txBox="1"/>
          <p:nvPr/>
        </p:nvSpPr>
        <p:spPr>
          <a:xfrm>
            <a:off x="6446520" y="4520692"/>
            <a:ext cx="4480560" cy="219456"/>
          </a:xfrm>
          <a:prstGeom prst="rect">
            <a:avLst/>
          </a:prstGeom>
          <a:noFill/>
          <a:ln/>
        </p:spPr>
        <p:txBody>
          <a:bodyPr wrap="square" lIns="0" tIns="0" rIns="0" bIns="0" rtlCol="0" anchor="ctr"/>
          <a:lstStyle/>
          <a:p>
            <a:pPr indent="0" marL="0">
              <a:buNone/>
            </a:pPr>
            <a:r>
              <a:rPr lang="en-US" sz="950" spc="140" kern="0" dirty="0">
                <a:solidFill>
                  <a:srgbClr val="6055D8"/>
                </a:solidFill>
                <a:latin typeface="Courier New" pitchFamily="34" charset="0"/>
                <a:ea typeface="Courier New" pitchFamily="34" charset="-122"/>
                <a:cs typeface="Courier New" pitchFamily="34" charset="-120"/>
              </a:rPr>
              <a:t>THREE TO SIX</a:t>
            </a:r>
            <a:endParaRPr lang="en-US" sz="950" dirty="0"/>
          </a:p>
        </p:txBody>
      </p:sp>
      <p:sp>
        <p:nvSpPr>
          <p:cNvPr id="17" name="Text 14"/>
          <p:cNvSpPr txBox="1"/>
          <p:nvPr/>
        </p:nvSpPr>
        <p:spPr>
          <a:xfrm>
            <a:off x="6446520" y="4813300"/>
            <a:ext cx="4480560" cy="259080"/>
          </a:xfrm>
          <a:prstGeom prst="rect">
            <a:avLst/>
          </a:prstGeom>
          <a:noFill/>
          <a:ln/>
        </p:spPr>
        <p:txBody>
          <a:bodyPr wrap="square" lIns="0" tIns="0" rIns="0" bIns="0" rtlCol="0" anchor="t"/>
          <a:lstStyle/>
          <a:p>
            <a:pPr indent="0" marL="0">
              <a:lnSpc>
                <a:spcPts val="2040"/>
              </a:lnSpc>
              <a:buNone/>
            </a:pPr>
            <a:r>
              <a:rPr lang="en-US" sz="1700" b="1" dirty="0">
                <a:solidFill>
                  <a:srgbClr val="15171F"/>
                </a:solidFill>
                <a:latin typeface="Public Sans" pitchFamily="34" charset="0"/>
                <a:ea typeface="Public Sans" pitchFamily="34" charset="-122"/>
                <a:cs typeface="Public Sans" pitchFamily="34" charset="-120"/>
              </a:rPr>
              <a:t>Not twelve</a:t>
            </a:r>
            <a:endParaRPr lang="en-US" sz="1700" dirty="0"/>
          </a:p>
        </p:txBody>
      </p:sp>
      <p:sp>
        <p:nvSpPr>
          <p:cNvPr id="18" name="Text 15"/>
          <p:cNvSpPr txBox="1"/>
          <p:nvPr/>
        </p:nvSpPr>
        <p:spPr>
          <a:xfrm>
            <a:off x="6446520" y="5200396"/>
            <a:ext cx="4480560" cy="559562"/>
          </a:xfrm>
          <a:prstGeom prst="rect">
            <a:avLst/>
          </a:prstGeom>
          <a:noFill/>
          <a:ln/>
        </p:spPr>
        <p:txBody>
          <a:bodyPr wrap="square" lIns="0" tIns="0" rIns="0" bIns="0" rtlCol="0" anchor="t"/>
          <a:lstStyle/>
          <a:p>
            <a:pPr indent="0" marL="0">
              <a:lnSpc>
                <a:spcPts val="2059"/>
              </a:lnSpc>
              <a:buNone/>
            </a:pPr>
            <a:r>
              <a:rPr lang="en-US" sz="1450" dirty="0">
                <a:solidFill>
                  <a:srgbClr val="5B6270"/>
                </a:solidFill>
                <a:latin typeface="Public Sans" pitchFamily="34" charset="0"/>
                <a:ea typeface="Public Sans" pitchFamily="34" charset="-122"/>
                <a:cs typeface="Public Sans" pitchFamily="34" charset="-120"/>
              </a:rPr>
              <a:t>If two would never disagree, they are one. Add another next week in a sentence.</a:t>
            </a:r>
            <a:endParaRPr lang="en-US" sz="1450" dirty="0"/>
          </a:p>
        </p:txBody>
      </p:sp>
      <p:sp>
        <p:nvSpPr>
          <p:cNvPr id="19" name="Text 16"/>
          <p:cNvSpPr txBox="1"/>
          <p:nvPr/>
        </p:nvSpPr>
        <p:spPr>
          <a:xfrm>
            <a:off x="777240" y="6291072"/>
            <a:ext cx="10637215" cy="274320"/>
          </a:xfrm>
          <a:prstGeom prst="rect">
            <a:avLst/>
          </a:prstGeom>
          <a:noFill/>
          <a:ln/>
        </p:spPr>
        <p:txBody>
          <a:bodyPr wrap="square" lIns="0" tIns="0" rIns="0" bIns="0" rtlCol="0" anchor="ctr"/>
          <a:lstStyle/>
          <a:p>
            <a:pPr indent="0" marL="0">
              <a:buNone/>
            </a:pPr>
            <a:r>
              <a:rPr lang="en-US" sz="950" spc="100" kern="0" dirty="0">
                <a:solidFill>
                  <a:srgbClr val="6B6D72"/>
                </a:solidFill>
                <a:latin typeface="Courier New" pitchFamily="34" charset="0"/>
                <a:ea typeface="Courier New" pitchFamily="34" charset="-122"/>
                <a:cs typeface="Courier New" pitchFamily="34" charset="-120"/>
              </a:rPr>
              <a:t>11</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77240" y="420624"/>
            <a:ext cx="8229600" cy="274320"/>
          </a:xfrm>
          <a:prstGeom prst="rect">
            <a:avLst/>
          </a:prstGeom>
          <a:noFill/>
          <a:ln/>
        </p:spPr>
        <p:txBody>
          <a:bodyPr wrap="square" lIns="0" tIns="0" rIns="0" bIns="0" rtlCol="0" anchor="ctr"/>
          <a:lstStyle/>
          <a:p>
            <a:pPr indent="0" marL="0">
              <a:buNone/>
            </a:pPr>
            <a:r>
              <a:rPr lang="en-US" sz="1100" spc="200" kern="0" dirty="0">
                <a:solidFill>
                  <a:srgbClr val="6055D8"/>
                </a:solidFill>
                <a:latin typeface="Courier New" pitchFamily="34" charset="0"/>
                <a:ea typeface="Courier New" pitchFamily="34" charset="-122"/>
                <a:cs typeface="Courier New" pitchFamily="34" charset="-120"/>
              </a:rPr>
              <a:t>WHAT YOU JUST CREATED</a:t>
            </a:r>
            <a:endParaRPr lang="en-US" sz="1100" dirty="0"/>
          </a:p>
        </p:txBody>
      </p:sp>
      <p:pic>
        <p:nvPicPr>
          <p:cNvPr id="3" name="Image 0" descr="/tmp/claude-0/-home-claude/e62a35b1-5075-553d-b086-acebfebc41ba/scratchpad/brand/meshpro-emblem-white.png">    </p:cNvPr>
          <p:cNvPicPr>
            <a:picLocks noChangeAspect="1"/>
          </p:cNvPicPr>
          <p:nvPr/>
        </p:nvPicPr>
        <p:blipFill>
          <a:blip r:embed="rId1"/>
          <a:stretch>
            <a:fillRect/>
          </a:stretch>
        </p:blipFill>
        <p:spPr>
          <a:xfrm>
            <a:off x="11140135" y="411480"/>
            <a:ext cx="384048" cy="374904"/>
          </a:xfrm>
          <a:prstGeom prst="rect">
            <a:avLst/>
          </a:prstGeom>
        </p:spPr>
      </p:pic>
      <p:sp>
        <p:nvSpPr>
          <p:cNvPr id="4" name="Text 1"/>
          <p:cNvSpPr txBox="1"/>
          <p:nvPr/>
        </p:nvSpPr>
        <p:spPr>
          <a:xfrm>
            <a:off x="777240" y="868680"/>
            <a:ext cx="9951415" cy="914400"/>
          </a:xfrm>
          <a:prstGeom prst="rect">
            <a:avLst/>
          </a:prstGeom>
          <a:noFill/>
          <a:ln/>
        </p:spPr>
        <p:txBody>
          <a:bodyPr wrap="square" lIns="0" tIns="0" rIns="0" bIns="0" rtlCol="0" anchor="ctr"/>
          <a:lstStyle/>
          <a:p>
            <a:pPr indent="0" marL="0">
              <a:lnSpc>
                <a:spcPts val="3712"/>
              </a:lnSpc>
              <a:buNone/>
            </a:pPr>
            <a:r>
              <a:rPr lang="en-US" sz="3200" b="1" dirty="0">
                <a:solidFill>
                  <a:srgbClr val="15171F"/>
                </a:solidFill>
                <a:latin typeface="Public Sans" pitchFamily="34" charset="0"/>
                <a:ea typeface="Public Sans" pitchFamily="34" charset="-122"/>
                <a:cs typeface="Public Sans" pitchFamily="34" charset="-120"/>
              </a:rPr>
              <a:t>Executives own a department and operate it</a:t>
            </a:r>
            <a:endParaRPr lang="en-US" sz="3200" dirty="0"/>
          </a:p>
        </p:txBody>
      </p:sp>
      <p:sp>
        <p:nvSpPr>
          <p:cNvPr id="5" name="Text 2"/>
          <p:cNvSpPr txBox="1"/>
          <p:nvPr/>
        </p:nvSpPr>
        <p:spPr>
          <a:xfrm>
            <a:off x="777240" y="1737360"/>
            <a:ext cx="10637215" cy="566928"/>
          </a:xfrm>
          <a:prstGeom prst="rect">
            <a:avLst/>
          </a:prstGeom>
          <a:noFill/>
          <a:ln/>
        </p:spPr>
        <p:txBody>
          <a:bodyPr wrap="square" lIns="0" tIns="0" rIns="0" bIns="0" rtlCol="0" anchor="ctr"/>
          <a:lstStyle/>
          <a:p>
            <a:pPr indent="0" marL="0">
              <a:lnSpc>
                <a:spcPts val="2300"/>
              </a:lnSpc>
              <a:buNone/>
            </a:pPr>
            <a:r>
              <a:rPr lang="en-US" sz="1600" dirty="0">
                <a:solidFill>
                  <a:srgbClr val="5B6270"/>
                </a:solidFill>
                <a:latin typeface="Public Sans" pitchFamily="34" charset="0"/>
                <a:ea typeface="Public Sans" pitchFamily="34" charset="-122"/>
                <a:cs typeface="Public Sans" pitchFamily="34" charset="-120"/>
              </a:rPr>
              <a:t>Each department note compiles into an agent that answers for that department and nothing else.</a:t>
            </a:r>
            <a:endParaRPr lang="en-US" sz="1600" dirty="0"/>
          </a:p>
        </p:txBody>
      </p:sp>
      <p:sp>
        <p:nvSpPr>
          <p:cNvPr id="6" name="Shape 3"/>
          <p:cNvSpPr/>
          <p:nvPr/>
        </p:nvSpPr>
        <p:spPr>
          <a:xfrm>
            <a:off x="777240" y="2788920"/>
            <a:ext cx="3291840" cy="1977009"/>
          </a:xfrm>
          <a:prstGeom prst="roundRect">
            <a:avLst>
              <a:gd name="adj" fmla="val 2775"/>
            </a:avLst>
          </a:prstGeom>
          <a:solidFill>
            <a:srgbClr val="F4F5F8"/>
          </a:solidFill>
          <a:ln w="12700">
            <a:solidFill>
              <a:srgbClr val="E4E6EC"/>
            </a:solidFill>
            <a:prstDash val="solid"/>
          </a:ln>
        </p:spPr>
      </p:sp>
      <p:sp>
        <p:nvSpPr>
          <p:cNvPr id="7" name="Text 4"/>
          <p:cNvSpPr txBox="1"/>
          <p:nvPr/>
        </p:nvSpPr>
        <p:spPr>
          <a:xfrm>
            <a:off x="1051560" y="3063240"/>
            <a:ext cx="2743200" cy="219456"/>
          </a:xfrm>
          <a:prstGeom prst="rect">
            <a:avLst/>
          </a:prstGeom>
          <a:noFill/>
          <a:ln/>
        </p:spPr>
        <p:txBody>
          <a:bodyPr wrap="square" lIns="0" tIns="0" rIns="0" bIns="0" rtlCol="0" anchor="ctr"/>
          <a:lstStyle/>
          <a:p>
            <a:pPr indent="0" marL="0">
              <a:buNone/>
            </a:pPr>
            <a:r>
              <a:rPr lang="en-US" sz="950" spc="140" kern="0" dirty="0">
                <a:solidFill>
                  <a:srgbClr val="6055D8"/>
                </a:solidFill>
                <a:latin typeface="Courier New" pitchFamily="34" charset="0"/>
                <a:ea typeface="Courier New" pitchFamily="34" charset="-122"/>
                <a:cs typeface="Courier New" pitchFamily="34" charset="-120"/>
              </a:rPr>
              <a:t>IT ANSWERS</a:t>
            </a:r>
            <a:endParaRPr lang="en-US" sz="950" dirty="0"/>
          </a:p>
        </p:txBody>
      </p:sp>
      <p:sp>
        <p:nvSpPr>
          <p:cNvPr id="8" name="Text 5"/>
          <p:cNvSpPr txBox="1"/>
          <p:nvPr/>
        </p:nvSpPr>
        <p:spPr>
          <a:xfrm>
            <a:off x="1051560" y="3355848"/>
            <a:ext cx="2743200" cy="259080"/>
          </a:xfrm>
          <a:prstGeom prst="rect">
            <a:avLst/>
          </a:prstGeom>
          <a:noFill/>
          <a:ln/>
        </p:spPr>
        <p:txBody>
          <a:bodyPr wrap="square" lIns="0" tIns="0" rIns="0" bIns="0" rtlCol="0" anchor="t"/>
          <a:lstStyle/>
          <a:p>
            <a:pPr indent="0" marL="0">
              <a:lnSpc>
                <a:spcPts val="2040"/>
              </a:lnSpc>
              <a:buNone/>
            </a:pPr>
            <a:r>
              <a:rPr lang="en-US" sz="1700" b="1" dirty="0">
                <a:solidFill>
                  <a:srgbClr val="15171F"/>
                </a:solidFill>
                <a:latin typeface="Public Sans" pitchFamily="34" charset="0"/>
                <a:ea typeface="Public Sans" pitchFamily="34" charset="-122"/>
                <a:cs typeface="Public Sans" pitchFamily="34" charset="-120"/>
              </a:rPr>
              <a:t>For one department</a:t>
            </a:r>
            <a:endParaRPr lang="en-US" sz="1700" dirty="0"/>
          </a:p>
        </p:txBody>
      </p:sp>
      <p:sp>
        <p:nvSpPr>
          <p:cNvPr id="9" name="Text 6"/>
          <p:cNvSpPr txBox="1"/>
          <p:nvPr/>
        </p:nvSpPr>
        <p:spPr>
          <a:xfrm>
            <a:off x="1051560" y="3742944"/>
            <a:ext cx="2743200" cy="766953"/>
          </a:xfrm>
          <a:prstGeom prst="rect">
            <a:avLst/>
          </a:prstGeom>
          <a:noFill/>
          <a:ln/>
        </p:spPr>
        <p:txBody>
          <a:bodyPr wrap="square" lIns="0" tIns="0" rIns="0" bIns="0" rtlCol="0" anchor="t"/>
          <a:lstStyle/>
          <a:p>
            <a:pPr indent="0" marL="0">
              <a:lnSpc>
                <a:spcPts val="1917"/>
              </a:lnSpc>
              <a:buNone/>
            </a:pPr>
            <a:r>
              <a:rPr lang="en-US" sz="1350" dirty="0">
                <a:solidFill>
                  <a:srgbClr val="5B6270"/>
                </a:solidFill>
                <a:latin typeface="Public Sans" pitchFamily="34" charset="0"/>
                <a:ea typeface="Public Sans" pitchFamily="34" charset="-122"/>
                <a:cs typeface="Public Sans" pitchFamily="34" charset="-120"/>
              </a:rPr>
              <a:t>It knows its own notes, workflows and what is outstanding. Anything else, it hands back.</a:t>
            </a:r>
            <a:endParaRPr lang="en-US" sz="1350" dirty="0"/>
          </a:p>
        </p:txBody>
      </p:sp>
      <p:sp>
        <p:nvSpPr>
          <p:cNvPr id="10" name="Shape 7"/>
          <p:cNvSpPr/>
          <p:nvPr/>
        </p:nvSpPr>
        <p:spPr>
          <a:xfrm>
            <a:off x="4434840" y="2788920"/>
            <a:ext cx="3291840" cy="1977009"/>
          </a:xfrm>
          <a:prstGeom prst="roundRect">
            <a:avLst>
              <a:gd name="adj" fmla="val 2775"/>
            </a:avLst>
          </a:prstGeom>
          <a:solidFill>
            <a:srgbClr val="F4F5F8"/>
          </a:solidFill>
          <a:ln w="12700">
            <a:solidFill>
              <a:srgbClr val="E4E6EC"/>
            </a:solidFill>
            <a:prstDash val="solid"/>
          </a:ln>
        </p:spPr>
      </p:sp>
      <p:sp>
        <p:nvSpPr>
          <p:cNvPr id="11" name="Text 8"/>
          <p:cNvSpPr txBox="1"/>
          <p:nvPr/>
        </p:nvSpPr>
        <p:spPr>
          <a:xfrm>
            <a:off x="4709160" y="3063240"/>
            <a:ext cx="2743200" cy="219456"/>
          </a:xfrm>
          <a:prstGeom prst="rect">
            <a:avLst/>
          </a:prstGeom>
          <a:noFill/>
          <a:ln/>
        </p:spPr>
        <p:txBody>
          <a:bodyPr wrap="square" lIns="0" tIns="0" rIns="0" bIns="0" rtlCol="0" anchor="ctr"/>
          <a:lstStyle/>
          <a:p>
            <a:pPr indent="0" marL="0">
              <a:buNone/>
            </a:pPr>
            <a:r>
              <a:rPr lang="en-US" sz="950" spc="140" kern="0" dirty="0">
                <a:solidFill>
                  <a:srgbClr val="6055D8"/>
                </a:solidFill>
                <a:latin typeface="Courier New" pitchFamily="34" charset="0"/>
                <a:ea typeface="Courier New" pitchFamily="34" charset="-122"/>
                <a:cs typeface="Courier New" pitchFamily="34" charset="-120"/>
              </a:rPr>
              <a:t>IT PREPARES</a:t>
            </a:r>
            <a:endParaRPr lang="en-US" sz="950" dirty="0"/>
          </a:p>
        </p:txBody>
      </p:sp>
      <p:sp>
        <p:nvSpPr>
          <p:cNvPr id="12" name="Text 9"/>
          <p:cNvSpPr txBox="1"/>
          <p:nvPr/>
        </p:nvSpPr>
        <p:spPr>
          <a:xfrm>
            <a:off x="4709160" y="3355848"/>
            <a:ext cx="2743200" cy="259080"/>
          </a:xfrm>
          <a:prstGeom prst="rect">
            <a:avLst/>
          </a:prstGeom>
          <a:noFill/>
          <a:ln/>
        </p:spPr>
        <p:txBody>
          <a:bodyPr wrap="square" lIns="0" tIns="0" rIns="0" bIns="0" rtlCol="0" anchor="t"/>
          <a:lstStyle/>
          <a:p>
            <a:pPr indent="0" marL="0">
              <a:lnSpc>
                <a:spcPts val="2040"/>
              </a:lnSpc>
              <a:buNone/>
            </a:pPr>
            <a:r>
              <a:rPr lang="en-US" sz="1700" b="1" dirty="0">
                <a:solidFill>
                  <a:srgbClr val="15171F"/>
                </a:solidFill>
                <a:latin typeface="Public Sans" pitchFamily="34" charset="0"/>
                <a:ea typeface="Public Sans" pitchFamily="34" charset="-122"/>
                <a:cs typeface="Public Sans" pitchFamily="34" charset="-120"/>
              </a:rPr>
              <a:t>It does not decide</a:t>
            </a:r>
            <a:endParaRPr lang="en-US" sz="1700" dirty="0"/>
          </a:p>
        </p:txBody>
      </p:sp>
      <p:sp>
        <p:nvSpPr>
          <p:cNvPr id="13" name="Text 10"/>
          <p:cNvSpPr txBox="1"/>
          <p:nvPr/>
        </p:nvSpPr>
        <p:spPr>
          <a:xfrm>
            <a:off x="4709160" y="3742944"/>
            <a:ext cx="2743200" cy="766953"/>
          </a:xfrm>
          <a:prstGeom prst="rect">
            <a:avLst/>
          </a:prstGeom>
          <a:noFill/>
          <a:ln/>
        </p:spPr>
        <p:txBody>
          <a:bodyPr wrap="square" lIns="0" tIns="0" rIns="0" bIns="0" rtlCol="0" anchor="t"/>
          <a:lstStyle/>
          <a:p>
            <a:pPr indent="0" marL="0">
              <a:lnSpc>
                <a:spcPts val="1917"/>
              </a:lnSpc>
              <a:buNone/>
            </a:pPr>
            <a:r>
              <a:rPr lang="en-US" sz="1350" dirty="0">
                <a:solidFill>
                  <a:srgbClr val="5B6270"/>
                </a:solidFill>
                <a:latin typeface="Public Sans" pitchFamily="34" charset="0"/>
                <a:ea typeface="Public Sans" pitchFamily="34" charset="-122"/>
                <a:cs typeface="Public Sans" pitchFamily="34" charset="-120"/>
              </a:rPr>
              <a:t>Drafts and assessments. Publishing, sending and spending stay yours.</a:t>
            </a:r>
            <a:endParaRPr lang="en-US" sz="1350" dirty="0"/>
          </a:p>
        </p:txBody>
      </p:sp>
      <p:sp>
        <p:nvSpPr>
          <p:cNvPr id="14" name="Shape 11"/>
          <p:cNvSpPr/>
          <p:nvPr/>
        </p:nvSpPr>
        <p:spPr>
          <a:xfrm>
            <a:off x="8092440" y="2788920"/>
            <a:ext cx="3291840" cy="1977009"/>
          </a:xfrm>
          <a:prstGeom prst="roundRect">
            <a:avLst>
              <a:gd name="adj" fmla="val 2775"/>
            </a:avLst>
          </a:prstGeom>
          <a:solidFill>
            <a:srgbClr val="F4F5F8"/>
          </a:solidFill>
          <a:ln w="12700">
            <a:solidFill>
              <a:srgbClr val="E4E6EC"/>
            </a:solidFill>
            <a:prstDash val="solid"/>
          </a:ln>
        </p:spPr>
      </p:sp>
      <p:sp>
        <p:nvSpPr>
          <p:cNvPr id="15" name="Text 12"/>
          <p:cNvSpPr txBox="1"/>
          <p:nvPr/>
        </p:nvSpPr>
        <p:spPr>
          <a:xfrm>
            <a:off x="8366760" y="3063240"/>
            <a:ext cx="2743200" cy="219456"/>
          </a:xfrm>
          <a:prstGeom prst="rect">
            <a:avLst/>
          </a:prstGeom>
          <a:noFill/>
          <a:ln/>
        </p:spPr>
        <p:txBody>
          <a:bodyPr wrap="square" lIns="0" tIns="0" rIns="0" bIns="0" rtlCol="0" anchor="ctr"/>
          <a:lstStyle/>
          <a:p>
            <a:pPr indent="0" marL="0">
              <a:buNone/>
            </a:pPr>
            <a:r>
              <a:rPr lang="en-US" sz="950" spc="140" kern="0" dirty="0">
                <a:solidFill>
                  <a:srgbClr val="6055D8"/>
                </a:solidFill>
                <a:latin typeface="Courier New" pitchFamily="34" charset="0"/>
                <a:ea typeface="Courier New" pitchFamily="34" charset="-122"/>
                <a:cs typeface="Courier New" pitchFamily="34" charset="-120"/>
              </a:rPr>
              <a:t>IT STOPS</a:t>
            </a:r>
            <a:endParaRPr lang="en-US" sz="950" dirty="0"/>
          </a:p>
        </p:txBody>
      </p:sp>
      <p:sp>
        <p:nvSpPr>
          <p:cNvPr id="16" name="Text 13"/>
          <p:cNvSpPr txBox="1"/>
          <p:nvPr/>
        </p:nvSpPr>
        <p:spPr>
          <a:xfrm>
            <a:off x="8366760" y="3355848"/>
            <a:ext cx="2743200" cy="259080"/>
          </a:xfrm>
          <a:prstGeom prst="rect">
            <a:avLst/>
          </a:prstGeom>
          <a:noFill/>
          <a:ln/>
        </p:spPr>
        <p:txBody>
          <a:bodyPr wrap="square" lIns="0" tIns="0" rIns="0" bIns="0" rtlCol="0" anchor="t"/>
          <a:lstStyle/>
          <a:p>
            <a:pPr indent="0" marL="0">
              <a:lnSpc>
                <a:spcPts val="2040"/>
              </a:lnSpc>
              <a:buNone/>
            </a:pPr>
            <a:r>
              <a:rPr lang="en-US" sz="1700" b="1" dirty="0">
                <a:solidFill>
                  <a:srgbClr val="15171F"/>
                </a:solidFill>
                <a:latin typeface="Public Sans" pitchFamily="34" charset="0"/>
                <a:ea typeface="Public Sans" pitchFamily="34" charset="-122"/>
                <a:cs typeface="Public Sans" pitchFamily="34" charset="-120"/>
              </a:rPr>
              <a:t>Somewhere stated</a:t>
            </a:r>
            <a:endParaRPr lang="en-US" sz="1700" dirty="0"/>
          </a:p>
        </p:txBody>
      </p:sp>
      <p:sp>
        <p:nvSpPr>
          <p:cNvPr id="17" name="Text 14"/>
          <p:cNvSpPr txBox="1"/>
          <p:nvPr/>
        </p:nvSpPr>
        <p:spPr>
          <a:xfrm>
            <a:off x="8366760" y="3742944"/>
            <a:ext cx="2743200" cy="766953"/>
          </a:xfrm>
          <a:prstGeom prst="rect">
            <a:avLst/>
          </a:prstGeom>
          <a:noFill/>
          <a:ln/>
        </p:spPr>
        <p:txBody>
          <a:bodyPr wrap="square" lIns="0" tIns="0" rIns="0" bIns="0" rtlCol="0" anchor="t"/>
          <a:lstStyle/>
          <a:p>
            <a:pPr indent="0" marL="0">
              <a:lnSpc>
                <a:spcPts val="1917"/>
              </a:lnSpc>
              <a:buNone/>
            </a:pPr>
            <a:r>
              <a:rPr lang="en-US" sz="1350" dirty="0">
                <a:solidFill>
                  <a:srgbClr val="5B6270"/>
                </a:solidFill>
                <a:latin typeface="Public Sans" pitchFamily="34" charset="0"/>
                <a:ea typeface="Public Sans" pitchFamily="34" charset="-122"/>
                <a:cs typeface="Public Sans" pitchFamily="34" charset="-120"/>
              </a:rPr>
              <a:t>Every executive writes down what it does not own. That is what makes its answers worth having.</a:t>
            </a:r>
            <a:endParaRPr lang="en-US" sz="1350" dirty="0"/>
          </a:p>
        </p:txBody>
      </p:sp>
      <p:sp>
        <p:nvSpPr>
          <p:cNvPr id="18" name="Text 15"/>
          <p:cNvSpPr txBox="1"/>
          <p:nvPr/>
        </p:nvSpPr>
        <p:spPr>
          <a:xfrm>
            <a:off x="777240" y="5223129"/>
            <a:ext cx="10607040" cy="365760"/>
          </a:xfrm>
          <a:prstGeom prst="rect">
            <a:avLst/>
          </a:prstGeom>
          <a:noFill/>
          <a:ln/>
        </p:spPr>
        <p:txBody>
          <a:bodyPr wrap="square" lIns="0" tIns="0" rIns="0" bIns="0" rtlCol="0" anchor="ctr"/>
          <a:lstStyle/>
          <a:p>
            <a:pPr indent="0" marL="0">
              <a:buNone/>
            </a:pPr>
            <a:r>
              <a:rPr lang="en-US" sz="1450" dirty="0">
                <a:solidFill>
                  <a:srgbClr val="5B6270"/>
                </a:solidFill>
                <a:latin typeface="Public Sans" pitchFamily="34" charset="0"/>
                <a:ea typeface="Public Sans" pitchFamily="34" charset="-122"/>
                <a:cs typeface="Public Sans" pitchFamily="34" charset="-120"/>
              </a:rPr>
              <a:t>Add a department next month and you get another one — same sentence, no setup.</a:t>
            </a:r>
            <a:endParaRPr lang="en-US" sz="1450" dirty="0"/>
          </a:p>
        </p:txBody>
      </p:sp>
      <p:sp>
        <p:nvSpPr>
          <p:cNvPr id="19" name="Text 16"/>
          <p:cNvSpPr txBox="1"/>
          <p:nvPr/>
        </p:nvSpPr>
        <p:spPr>
          <a:xfrm>
            <a:off x="777240" y="6291072"/>
            <a:ext cx="10637215" cy="274320"/>
          </a:xfrm>
          <a:prstGeom prst="rect">
            <a:avLst/>
          </a:prstGeom>
          <a:noFill/>
          <a:ln/>
        </p:spPr>
        <p:txBody>
          <a:bodyPr wrap="square" lIns="0" tIns="0" rIns="0" bIns="0" rtlCol="0" anchor="ctr"/>
          <a:lstStyle/>
          <a:p>
            <a:pPr indent="0" marL="0">
              <a:buNone/>
            </a:pPr>
            <a:r>
              <a:rPr lang="en-US" sz="950" spc="100" kern="0" dirty="0">
                <a:solidFill>
                  <a:srgbClr val="6B6D72"/>
                </a:solidFill>
                <a:latin typeface="Courier New" pitchFamily="34" charset="0"/>
                <a:ea typeface="Courier New" pitchFamily="34" charset="-122"/>
                <a:cs typeface="Courier New" pitchFamily="34" charset="-120"/>
              </a:rPr>
              <a:t>12</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77240" y="420624"/>
            <a:ext cx="8229600" cy="274320"/>
          </a:xfrm>
          <a:prstGeom prst="rect">
            <a:avLst/>
          </a:prstGeom>
          <a:noFill/>
          <a:ln/>
        </p:spPr>
        <p:txBody>
          <a:bodyPr wrap="square" lIns="0" tIns="0" rIns="0" bIns="0" rtlCol="0" anchor="ctr"/>
          <a:lstStyle/>
          <a:p>
            <a:pPr indent="0" marL="0">
              <a:buNone/>
            </a:pPr>
            <a:r>
              <a:rPr lang="en-US" sz="1100" spc="200" kern="0" dirty="0">
                <a:solidFill>
                  <a:srgbClr val="6055D8"/>
                </a:solidFill>
                <a:latin typeface="Courier New" pitchFamily="34" charset="0"/>
                <a:ea typeface="Courier New" pitchFamily="34" charset="-122"/>
                <a:cs typeface="Courier New" pitchFamily="34" charset="-120"/>
              </a:rPr>
              <a:t>YOUR ORGANISATION</a:t>
            </a:r>
            <a:endParaRPr lang="en-US" sz="1100" dirty="0"/>
          </a:p>
        </p:txBody>
      </p:sp>
      <p:pic>
        <p:nvPicPr>
          <p:cNvPr id="3" name="Image 0" descr="/tmp/claude-0/-home-claude/e62a35b1-5075-553d-b086-acebfebc41ba/scratchpad/brand/meshpro-emblem-white.png">    </p:cNvPr>
          <p:cNvPicPr>
            <a:picLocks noChangeAspect="1"/>
          </p:cNvPicPr>
          <p:nvPr/>
        </p:nvPicPr>
        <p:blipFill>
          <a:blip r:embed="rId1"/>
          <a:stretch>
            <a:fillRect/>
          </a:stretch>
        </p:blipFill>
        <p:spPr>
          <a:xfrm>
            <a:off x="11140135" y="411480"/>
            <a:ext cx="384048" cy="374904"/>
          </a:xfrm>
          <a:prstGeom prst="rect">
            <a:avLst/>
          </a:prstGeom>
        </p:spPr>
      </p:pic>
      <p:sp>
        <p:nvSpPr>
          <p:cNvPr id="4" name="Text 1"/>
          <p:cNvSpPr txBox="1"/>
          <p:nvPr/>
        </p:nvSpPr>
        <p:spPr>
          <a:xfrm>
            <a:off x="777240" y="868680"/>
            <a:ext cx="9951415" cy="914400"/>
          </a:xfrm>
          <a:prstGeom prst="rect">
            <a:avLst/>
          </a:prstGeom>
          <a:noFill/>
          <a:ln/>
        </p:spPr>
        <p:txBody>
          <a:bodyPr wrap="square" lIns="0" tIns="0" rIns="0" bIns="0" rtlCol="0" anchor="ctr"/>
          <a:lstStyle/>
          <a:p>
            <a:pPr indent="0" marL="0">
              <a:lnSpc>
                <a:spcPts val="3596"/>
              </a:lnSpc>
              <a:buNone/>
            </a:pPr>
            <a:r>
              <a:rPr lang="en-US" sz="3100" b="1" dirty="0">
                <a:solidFill>
                  <a:srgbClr val="15171F"/>
                </a:solidFill>
                <a:latin typeface="Public Sans" pitchFamily="34" charset="0"/>
                <a:ea typeface="Public Sans" pitchFamily="34" charset="-122"/>
                <a:cs typeface="Public Sans" pitchFamily="34" charset="-120"/>
              </a:rPr>
              <a:t>That is an executive layer, and it is yours</a:t>
            </a:r>
            <a:endParaRPr lang="en-US" sz="3100" dirty="0"/>
          </a:p>
        </p:txBody>
      </p:sp>
      <p:sp>
        <p:nvSpPr>
          <p:cNvPr id="5" name="Text 2"/>
          <p:cNvSpPr txBox="1"/>
          <p:nvPr/>
        </p:nvSpPr>
        <p:spPr>
          <a:xfrm>
            <a:off x="777240" y="1572768"/>
            <a:ext cx="10637215" cy="566928"/>
          </a:xfrm>
          <a:prstGeom prst="rect">
            <a:avLst/>
          </a:prstGeom>
          <a:noFill/>
          <a:ln/>
        </p:spPr>
        <p:txBody>
          <a:bodyPr wrap="square" lIns="0" tIns="0" rIns="0" bIns="0" rtlCol="0" anchor="ctr"/>
          <a:lstStyle/>
          <a:p>
            <a:pPr indent="0" marL="0">
              <a:lnSpc>
                <a:spcPts val="2300"/>
              </a:lnSpc>
              <a:buNone/>
            </a:pPr>
            <a:r>
              <a:rPr lang="en-US" sz="1600" dirty="0">
                <a:solidFill>
                  <a:srgbClr val="5B6270"/>
                </a:solidFill>
                <a:latin typeface="Public Sans" pitchFamily="34" charset="0"/>
                <a:ea typeface="Public Sans" pitchFamily="34" charset="-122"/>
                <a:cs typeface="Public Sans" pitchFamily="34" charset="-120"/>
              </a:rPr>
              <a:t>Nobody drew this. It is read off the role notes and redrawn every time the site is built.</a:t>
            </a:r>
            <a:endParaRPr lang="en-US" sz="1600" dirty="0"/>
          </a:p>
        </p:txBody>
      </p:sp>
      <p:pic>
        <p:nvPicPr>
          <p:cNvPr id="6" name="Image 1" descr="/tmp/claude-0/-home-claude/e62a35b1-5075-553d-b086-acebfebc41ba/scratchpad/deck/n-org.png">    </p:cNvPr>
          <p:cNvPicPr>
            <a:picLocks noChangeAspect="1"/>
          </p:cNvPicPr>
          <p:nvPr/>
        </p:nvPicPr>
        <p:blipFill>
          <a:blip r:embed="rId2"/>
          <a:stretch>
            <a:fillRect/>
          </a:stretch>
        </p:blipFill>
        <p:spPr>
          <a:xfrm>
            <a:off x="1984248" y="2304288"/>
            <a:ext cx="8229600" cy="3703320"/>
          </a:xfrm>
          <a:prstGeom prst="rect">
            <a:avLst/>
          </a:prstGeom>
        </p:spPr>
      </p:pic>
      <p:sp>
        <p:nvSpPr>
          <p:cNvPr id="7" name="Text 3"/>
          <p:cNvSpPr txBox="1"/>
          <p:nvPr/>
        </p:nvSpPr>
        <p:spPr>
          <a:xfrm>
            <a:off x="777240" y="6291072"/>
            <a:ext cx="10637215" cy="274320"/>
          </a:xfrm>
          <a:prstGeom prst="rect">
            <a:avLst/>
          </a:prstGeom>
          <a:noFill/>
          <a:ln/>
        </p:spPr>
        <p:txBody>
          <a:bodyPr wrap="square" lIns="0" tIns="0" rIns="0" bIns="0" rtlCol="0" anchor="ctr"/>
          <a:lstStyle/>
          <a:p>
            <a:pPr indent="0" marL="0">
              <a:buNone/>
            </a:pPr>
            <a:r>
              <a:rPr lang="en-US" sz="950" spc="100" kern="0" dirty="0">
                <a:solidFill>
                  <a:srgbClr val="6B6D72"/>
                </a:solidFill>
                <a:latin typeface="Courier New" pitchFamily="34" charset="0"/>
                <a:ea typeface="Courier New" pitchFamily="34" charset="-122"/>
                <a:cs typeface="Courier New" pitchFamily="34" charset="-120"/>
              </a:rPr>
              <a:t>13</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77240" y="420624"/>
            <a:ext cx="8229600" cy="274320"/>
          </a:xfrm>
          <a:prstGeom prst="rect">
            <a:avLst/>
          </a:prstGeom>
          <a:noFill/>
          <a:ln/>
        </p:spPr>
        <p:txBody>
          <a:bodyPr wrap="square" lIns="0" tIns="0" rIns="0" bIns="0" rtlCol="0" anchor="ctr"/>
          <a:lstStyle/>
          <a:p>
            <a:pPr indent="0" marL="0">
              <a:buNone/>
            </a:pPr>
            <a:r>
              <a:rPr lang="en-US" sz="1100" spc="200" kern="0" dirty="0">
                <a:solidFill>
                  <a:srgbClr val="6055D8"/>
                </a:solidFill>
                <a:latin typeface="Courier New" pitchFamily="34" charset="0"/>
                <a:ea typeface="Courier New" pitchFamily="34" charset="-122"/>
                <a:cs typeface="Courier New" pitchFamily="34" charset="-120"/>
              </a:rPr>
              <a:t>HANDS ON</a:t>
            </a:r>
            <a:endParaRPr lang="en-US" sz="1100" dirty="0"/>
          </a:p>
        </p:txBody>
      </p:sp>
      <p:pic>
        <p:nvPicPr>
          <p:cNvPr id="3" name="Image 0" descr="/tmp/claude-0/-home-claude/e62a35b1-5075-553d-b086-acebfebc41ba/scratchpad/brand/meshpro-emblem-white.png">    </p:cNvPr>
          <p:cNvPicPr>
            <a:picLocks noChangeAspect="1"/>
          </p:cNvPicPr>
          <p:nvPr/>
        </p:nvPicPr>
        <p:blipFill>
          <a:blip r:embed="rId1"/>
          <a:stretch>
            <a:fillRect/>
          </a:stretch>
        </p:blipFill>
        <p:spPr>
          <a:xfrm>
            <a:off x="11140135" y="411480"/>
            <a:ext cx="384048" cy="374904"/>
          </a:xfrm>
          <a:prstGeom prst="rect">
            <a:avLst/>
          </a:prstGeom>
        </p:spPr>
      </p:pic>
      <p:sp>
        <p:nvSpPr>
          <p:cNvPr id="4" name="Shape 1"/>
          <p:cNvSpPr/>
          <p:nvPr/>
        </p:nvSpPr>
        <p:spPr>
          <a:xfrm>
            <a:off x="777240" y="868680"/>
            <a:ext cx="868680" cy="868680"/>
          </a:xfrm>
          <a:prstGeom prst="ellipse">
            <a:avLst/>
          </a:prstGeom>
          <a:solidFill>
            <a:srgbClr val="7367F0"/>
          </a:solidFill>
          <a:ln/>
        </p:spPr>
      </p:sp>
      <p:sp>
        <p:nvSpPr>
          <p:cNvPr id="5" name="Text 2"/>
          <p:cNvSpPr txBox="1"/>
          <p:nvPr/>
        </p:nvSpPr>
        <p:spPr>
          <a:xfrm>
            <a:off x="777240" y="868680"/>
            <a:ext cx="868680" cy="868680"/>
          </a:xfrm>
          <a:prstGeom prst="rect">
            <a:avLst/>
          </a:prstGeom>
          <a:noFill/>
          <a:ln/>
        </p:spPr>
        <p:txBody>
          <a:bodyPr wrap="square" lIns="0" tIns="0" rIns="0" bIns="0" rtlCol="0" anchor="ctr"/>
          <a:lstStyle/>
          <a:p>
            <a:pPr algn="ctr" indent="0" marL="0">
              <a:buNone/>
            </a:pPr>
            <a:r>
              <a:rPr lang="en-US" sz="3400" b="1" dirty="0">
                <a:solidFill>
                  <a:srgbClr val="FFFFFF"/>
                </a:solidFill>
                <a:latin typeface="Public Sans" pitchFamily="34" charset="0"/>
                <a:ea typeface="Public Sans" pitchFamily="34" charset="-122"/>
                <a:cs typeface="Public Sans" pitchFamily="34" charset="-120"/>
              </a:rPr>
              <a:t>6</a:t>
            </a:r>
            <a:endParaRPr lang="en-US" sz="3400" dirty="0"/>
          </a:p>
        </p:txBody>
      </p:sp>
      <p:sp>
        <p:nvSpPr>
          <p:cNvPr id="6" name="Text 3"/>
          <p:cNvSpPr txBox="1"/>
          <p:nvPr/>
        </p:nvSpPr>
        <p:spPr>
          <a:xfrm>
            <a:off x="2011680" y="868680"/>
            <a:ext cx="9402775" cy="868680"/>
          </a:xfrm>
          <a:prstGeom prst="rect">
            <a:avLst/>
          </a:prstGeom>
          <a:noFill/>
          <a:ln/>
        </p:spPr>
        <p:txBody>
          <a:bodyPr wrap="square" lIns="0" tIns="0" rIns="0" bIns="0" rtlCol="0" anchor="ctr"/>
          <a:lstStyle/>
          <a:p>
            <a:pPr indent="0" marL="0">
              <a:lnSpc>
                <a:spcPts val="3600"/>
              </a:lnSpc>
              <a:buNone/>
            </a:pPr>
            <a:r>
              <a:rPr lang="en-US" sz="3100" b="1" dirty="0">
                <a:solidFill>
                  <a:srgbClr val="15171F"/>
                </a:solidFill>
                <a:latin typeface="Public Sans" pitchFamily="34" charset="0"/>
                <a:ea typeface="Public Sans" pitchFamily="34" charset="-122"/>
                <a:cs typeface="Public Sans" pitchFamily="34" charset="-120"/>
              </a:rPr>
              <a:t>Teach an executive a skill</a:t>
            </a:r>
            <a:endParaRPr lang="en-US" sz="3100" dirty="0"/>
          </a:p>
        </p:txBody>
      </p:sp>
      <p:sp>
        <p:nvSpPr>
          <p:cNvPr id="7" name="Shape 4"/>
          <p:cNvSpPr/>
          <p:nvPr/>
        </p:nvSpPr>
        <p:spPr>
          <a:xfrm>
            <a:off x="777240" y="1938528"/>
            <a:ext cx="10637215" cy="1236472"/>
          </a:xfrm>
          <a:prstGeom prst="roundRect">
            <a:avLst>
              <a:gd name="adj" fmla="val 4437"/>
            </a:avLst>
          </a:prstGeom>
          <a:solidFill>
            <a:srgbClr val="F0EEFC"/>
          </a:solidFill>
          <a:ln w="17780">
            <a:solidFill>
              <a:srgbClr val="C4BDFF"/>
            </a:solidFill>
            <a:prstDash val="solid"/>
          </a:ln>
        </p:spPr>
      </p:sp>
      <p:sp>
        <p:nvSpPr>
          <p:cNvPr id="8" name="Text 5"/>
          <p:cNvSpPr txBox="1"/>
          <p:nvPr/>
        </p:nvSpPr>
        <p:spPr>
          <a:xfrm>
            <a:off x="1143000" y="1938528"/>
            <a:ext cx="9905695" cy="1236472"/>
          </a:xfrm>
          <a:prstGeom prst="rect">
            <a:avLst/>
          </a:prstGeom>
          <a:noFill/>
          <a:ln/>
        </p:spPr>
        <p:txBody>
          <a:bodyPr wrap="square" lIns="0" tIns="0" rIns="0" bIns="0" rtlCol="0" anchor="ctr"/>
          <a:lstStyle/>
          <a:p>
            <a:pPr indent="0" marL="0">
              <a:lnSpc>
                <a:spcPts val="2600"/>
              </a:lnSpc>
              <a:buNone/>
            </a:pPr>
            <a:r>
              <a:rPr lang="en-US" sz="1050" spc="160" kern="0" dirty="0">
                <a:solidFill>
                  <a:srgbClr val="6055D8"/>
                </a:solidFill>
                <a:latin typeface="Courier New" pitchFamily="34" charset="0"/>
                <a:ea typeface="Courier New" pitchFamily="34" charset="-122"/>
                <a:cs typeface="Courier New" pitchFamily="34" charset="-120"/>
              </a:rPr>
              <a:t>DO THIS NOW   </a:t>
            </a:r>
            <a:pPr indent="0" marL="0">
              <a:lnSpc>
                <a:spcPts val="2600"/>
              </a:lnSpc>
              <a:buNone/>
            </a:pPr>
            <a:endParaRPr lang="en-US" sz="1050" dirty="0"/>
          </a:p>
          <a:p>
            <a:pPr indent="0" marL="0">
              <a:lnSpc>
                <a:spcPts val="2600"/>
              </a:lnSpc>
              <a:buNone/>
            </a:pPr>
            <a:r>
              <a:rPr lang="en-US" sz="1700" b="1" dirty="0">
                <a:solidFill>
                  <a:srgbClr val="15171F"/>
                </a:solidFill>
                <a:latin typeface="Public Sans" pitchFamily="34" charset="0"/>
                <a:ea typeface="Public Sans" pitchFamily="34" charset="-122"/>
                <a:cs typeface="Public Sans" pitchFamily="34" charset="-120"/>
              </a:rPr>
              <a:t>Say: teach [executive] a skill for this. Then describe how you do it.</a:t>
            </a:r>
            <a:endParaRPr lang="en-US" sz="1050" dirty="0"/>
          </a:p>
        </p:txBody>
      </p:sp>
      <p:sp>
        <p:nvSpPr>
          <p:cNvPr id="9" name="Text 6"/>
          <p:cNvSpPr txBox="1"/>
          <p:nvPr/>
        </p:nvSpPr>
        <p:spPr>
          <a:xfrm>
            <a:off x="777240" y="3339592"/>
            <a:ext cx="10637215" cy="321564"/>
          </a:xfrm>
          <a:prstGeom prst="rect">
            <a:avLst/>
          </a:prstGeom>
          <a:noFill/>
          <a:ln/>
        </p:spPr>
        <p:txBody>
          <a:bodyPr wrap="square" lIns="0" tIns="0" rIns="0" bIns="0" rtlCol="0" anchor="ctr"/>
          <a:lstStyle/>
          <a:p>
            <a:pPr indent="0" marL="0">
              <a:lnSpc>
                <a:spcPts val="2100"/>
              </a:lnSpc>
              <a:buNone/>
            </a:pPr>
            <a:r>
              <a:rPr lang="en-US" sz="1450" b="1" dirty="0">
                <a:solidFill>
                  <a:srgbClr val="15171F"/>
                </a:solidFill>
                <a:latin typeface="Public Sans" pitchFamily="34" charset="0"/>
                <a:ea typeface="Public Sans" pitchFamily="34" charset="-122"/>
                <a:cs typeface="Public Sans" pitchFamily="34" charset="-120"/>
              </a:rPr>
              <a:t>You will know it worked when  </a:t>
            </a:r>
            <a:pPr indent="0" marL="0">
              <a:lnSpc>
                <a:spcPts val="2100"/>
              </a:lnSpc>
              <a:buNone/>
            </a:pPr>
            <a:r>
              <a:rPr lang="en-US" sz="1450" dirty="0">
                <a:solidFill>
                  <a:srgbClr val="5B6270"/>
                </a:solidFill>
                <a:latin typeface="Public Sans" pitchFamily="34" charset="0"/>
                <a:ea typeface="Public Sans" pitchFamily="34" charset="-122"/>
                <a:cs typeface="Public Sans" pitchFamily="34" charset="-120"/>
              </a:rPr>
              <a:t>a skill appears in your vault, and on the Skills tab under that executive.</a:t>
            </a:r>
            <a:endParaRPr lang="en-US" sz="1450" dirty="0"/>
          </a:p>
        </p:txBody>
      </p:sp>
      <p:sp>
        <p:nvSpPr>
          <p:cNvPr id="10" name="Text 7"/>
          <p:cNvSpPr txBox="1"/>
          <p:nvPr/>
        </p:nvSpPr>
        <p:spPr>
          <a:xfrm>
            <a:off x="777240" y="3752596"/>
            <a:ext cx="10637215" cy="274320"/>
          </a:xfrm>
          <a:prstGeom prst="rect">
            <a:avLst/>
          </a:prstGeom>
          <a:noFill/>
          <a:ln/>
        </p:spPr>
        <p:txBody>
          <a:bodyPr wrap="square" lIns="0" tIns="0" rIns="0" bIns="0" rtlCol="0" anchor="ctr"/>
          <a:lstStyle/>
          <a:p>
            <a:pPr indent="0" marL="0">
              <a:buNone/>
            </a:pPr>
            <a:r>
              <a:rPr lang="en-US" sz="1000" spc="140" kern="0" dirty="0">
                <a:solidFill>
                  <a:srgbClr val="6055D8"/>
                </a:solidFill>
                <a:latin typeface="Courier New" pitchFamily="34" charset="0"/>
                <a:ea typeface="Courier New" pitchFamily="34" charset="-122"/>
                <a:cs typeface="Courier New" pitchFamily="34" charset="-120"/>
              </a:rPr>
              <a:t>IT LANDS IN   </a:t>
            </a:r>
            <a:pPr indent="0" marL="0">
              <a:buNone/>
            </a:pPr>
            <a:r>
              <a:rPr lang="en-US" sz="1300" dirty="0">
                <a:solidFill>
                  <a:srgbClr val="5B6270"/>
                </a:solidFill>
                <a:latin typeface="Courier New" pitchFamily="34" charset="0"/>
                <a:ea typeface="Courier New" pitchFamily="34" charset="-122"/>
                <a:cs typeface="Courier New" pitchFamily="34" charset="-120"/>
              </a:rPr>
              <a:t>.claude/skills/{your-skill}/SKILL.md</a:t>
            </a:r>
            <a:endParaRPr lang="en-US" sz="1000" dirty="0"/>
          </a:p>
        </p:txBody>
      </p:sp>
      <p:sp>
        <p:nvSpPr>
          <p:cNvPr id="11" name="Shape 8"/>
          <p:cNvSpPr/>
          <p:nvPr/>
        </p:nvSpPr>
        <p:spPr>
          <a:xfrm>
            <a:off x="777240" y="4246372"/>
            <a:ext cx="5029200" cy="1751584"/>
          </a:xfrm>
          <a:prstGeom prst="roundRect">
            <a:avLst>
              <a:gd name="adj" fmla="val 3132"/>
            </a:avLst>
          </a:prstGeom>
          <a:solidFill>
            <a:srgbClr val="F4F5F8"/>
          </a:solidFill>
          <a:ln w="12700">
            <a:solidFill>
              <a:srgbClr val="E4E6EC"/>
            </a:solidFill>
            <a:prstDash val="solid"/>
          </a:ln>
        </p:spPr>
      </p:sp>
      <p:sp>
        <p:nvSpPr>
          <p:cNvPr id="12" name="Text 9"/>
          <p:cNvSpPr txBox="1"/>
          <p:nvPr/>
        </p:nvSpPr>
        <p:spPr>
          <a:xfrm>
            <a:off x="1051560" y="4520692"/>
            <a:ext cx="4480560" cy="219456"/>
          </a:xfrm>
          <a:prstGeom prst="rect">
            <a:avLst/>
          </a:prstGeom>
          <a:noFill/>
          <a:ln/>
        </p:spPr>
        <p:txBody>
          <a:bodyPr wrap="square" lIns="0" tIns="0" rIns="0" bIns="0" rtlCol="0" anchor="ctr"/>
          <a:lstStyle/>
          <a:p>
            <a:pPr indent="0" marL="0">
              <a:buNone/>
            </a:pPr>
            <a:r>
              <a:rPr lang="en-US" sz="950" spc="140" kern="0" dirty="0">
                <a:solidFill>
                  <a:srgbClr val="6055D8"/>
                </a:solidFill>
                <a:latin typeface="Courier New" pitchFamily="34" charset="0"/>
                <a:ea typeface="Courier New" pitchFamily="34" charset="-122"/>
                <a:cs typeface="Courier New" pitchFamily="34" charset="-120"/>
              </a:rPr>
              <a:t>WHAT A SKILL IS</a:t>
            </a:r>
            <a:endParaRPr lang="en-US" sz="950" dirty="0"/>
          </a:p>
        </p:txBody>
      </p:sp>
      <p:sp>
        <p:nvSpPr>
          <p:cNvPr id="13" name="Text 10"/>
          <p:cNvSpPr txBox="1"/>
          <p:nvPr/>
        </p:nvSpPr>
        <p:spPr>
          <a:xfrm>
            <a:off x="1051560" y="4813300"/>
            <a:ext cx="4480560" cy="259080"/>
          </a:xfrm>
          <a:prstGeom prst="rect">
            <a:avLst/>
          </a:prstGeom>
          <a:noFill/>
          <a:ln/>
        </p:spPr>
        <p:txBody>
          <a:bodyPr wrap="square" lIns="0" tIns="0" rIns="0" bIns="0" rtlCol="0" anchor="t"/>
          <a:lstStyle/>
          <a:p>
            <a:pPr indent="0" marL="0">
              <a:lnSpc>
                <a:spcPts val="2040"/>
              </a:lnSpc>
              <a:buNone/>
            </a:pPr>
            <a:r>
              <a:rPr lang="en-US" sz="1700" b="1" dirty="0">
                <a:solidFill>
                  <a:srgbClr val="15171F"/>
                </a:solidFill>
                <a:latin typeface="Public Sans" pitchFamily="34" charset="0"/>
                <a:ea typeface="Public Sans" pitchFamily="34" charset="-122"/>
                <a:cs typeface="Public Sans" pitchFamily="34" charset="-120"/>
              </a:rPr>
              <a:t>Your method, written once</a:t>
            </a:r>
            <a:endParaRPr lang="en-US" sz="1700" dirty="0"/>
          </a:p>
        </p:txBody>
      </p:sp>
      <p:sp>
        <p:nvSpPr>
          <p:cNvPr id="14" name="Text 11"/>
          <p:cNvSpPr txBox="1"/>
          <p:nvPr/>
        </p:nvSpPr>
        <p:spPr>
          <a:xfrm>
            <a:off x="1051560" y="5200396"/>
            <a:ext cx="4480560" cy="541528"/>
          </a:xfrm>
          <a:prstGeom prst="rect">
            <a:avLst/>
          </a:prstGeom>
          <a:noFill/>
          <a:ln/>
        </p:spPr>
        <p:txBody>
          <a:bodyPr wrap="square" lIns="0" tIns="0" rIns="0" bIns="0" rtlCol="0" anchor="t"/>
          <a:lstStyle/>
          <a:p>
            <a:pPr indent="0" marL="0">
              <a:lnSpc>
                <a:spcPts val="1988"/>
              </a:lnSpc>
              <a:buNone/>
            </a:pPr>
            <a:r>
              <a:rPr lang="en-US" sz="1400" dirty="0">
                <a:solidFill>
                  <a:srgbClr val="5B6270"/>
                </a:solidFill>
                <a:latin typeface="Public Sans" pitchFamily="34" charset="0"/>
                <a:ea typeface="Public Sans" pitchFamily="34" charset="-122"/>
                <a:cs typeface="Public Sans" pitchFamily="34" charset="-120"/>
              </a:rPr>
              <a:t>When to use it, the steps, where it stops. The catalog lists it the moment it exists.</a:t>
            </a:r>
            <a:endParaRPr lang="en-US" sz="1400" dirty="0"/>
          </a:p>
        </p:txBody>
      </p:sp>
      <p:sp>
        <p:nvSpPr>
          <p:cNvPr id="15" name="Shape 12"/>
          <p:cNvSpPr/>
          <p:nvPr/>
        </p:nvSpPr>
        <p:spPr>
          <a:xfrm>
            <a:off x="6172200" y="4246372"/>
            <a:ext cx="5029200" cy="1751584"/>
          </a:xfrm>
          <a:prstGeom prst="roundRect">
            <a:avLst>
              <a:gd name="adj" fmla="val 3132"/>
            </a:avLst>
          </a:prstGeom>
          <a:solidFill>
            <a:srgbClr val="F4F5F8"/>
          </a:solidFill>
          <a:ln w="12700">
            <a:solidFill>
              <a:srgbClr val="E4E6EC"/>
            </a:solidFill>
            <a:prstDash val="solid"/>
          </a:ln>
        </p:spPr>
      </p:sp>
      <p:sp>
        <p:nvSpPr>
          <p:cNvPr id="16" name="Text 13"/>
          <p:cNvSpPr txBox="1"/>
          <p:nvPr/>
        </p:nvSpPr>
        <p:spPr>
          <a:xfrm>
            <a:off x="6446520" y="4520692"/>
            <a:ext cx="4480560" cy="219456"/>
          </a:xfrm>
          <a:prstGeom prst="rect">
            <a:avLst/>
          </a:prstGeom>
          <a:noFill/>
          <a:ln/>
        </p:spPr>
        <p:txBody>
          <a:bodyPr wrap="square" lIns="0" tIns="0" rIns="0" bIns="0" rtlCol="0" anchor="ctr"/>
          <a:lstStyle/>
          <a:p>
            <a:pPr indent="0" marL="0">
              <a:buNone/>
            </a:pPr>
            <a:r>
              <a:rPr lang="en-US" sz="950" spc="140" kern="0" dirty="0">
                <a:solidFill>
                  <a:srgbClr val="6055D8"/>
                </a:solidFill>
                <a:latin typeface="Courier New" pitchFamily="34" charset="0"/>
                <a:ea typeface="Courier New" pitchFamily="34" charset="-122"/>
                <a:cs typeface="Courier New" pitchFamily="34" charset="-120"/>
              </a:rPr>
              <a:t>HOW YOU KNOW YOU NEED ONE</a:t>
            </a:r>
            <a:endParaRPr lang="en-US" sz="950" dirty="0"/>
          </a:p>
        </p:txBody>
      </p:sp>
      <p:sp>
        <p:nvSpPr>
          <p:cNvPr id="17" name="Text 14"/>
          <p:cNvSpPr txBox="1"/>
          <p:nvPr/>
        </p:nvSpPr>
        <p:spPr>
          <a:xfrm>
            <a:off x="6446520" y="4813300"/>
            <a:ext cx="4480560" cy="259080"/>
          </a:xfrm>
          <a:prstGeom prst="rect">
            <a:avLst/>
          </a:prstGeom>
          <a:noFill/>
          <a:ln/>
        </p:spPr>
        <p:txBody>
          <a:bodyPr wrap="square" lIns="0" tIns="0" rIns="0" bIns="0" rtlCol="0" anchor="t"/>
          <a:lstStyle/>
          <a:p>
            <a:pPr indent="0" marL="0">
              <a:lnSpc>
                <a:spcPts val="2040"/>
              </a:lnSpc>
              <a:buNone/>
            </a:pPr>
            <a:r>
              <a:rPr lang="en-US" sz="1700" b="1" dirty="0">
                <a:solidFill>
                  <a:srgbClr val="15171F"/>
                </a:solidFill>
                <a:latin typeface="Public Sans" pitchFamily="34" charset="0"/>
                <a:ea typeface="Public Sans" pitchFamily="34" charset="-122"/>
                <a:cs typeface="Public Sans" pitchFamily="34" charset="-120"/>
              </a:rPr>
              <a:t>You explained it twice</a:t>
            </a:r>
            <a:endParaRPr lang="en-US" sz="1700" dirty="0"/>
          </a:p>
        </p:txBody>
      </p:sp>
      <p:sp>
        <p:nvSpPr>
          <p:cNvPr id="18" name="Text 15"/>
          <p:cNvSpPr txBox="1"/>
          <p:nvPr/>
        </p:nvSpPr>
        <p:spPr>
          <a:xfrm>
            <a:off x="6446520" y="5200396"/>
            <a:ext cx="4480560" cy="541528"/>
          </a:xfrm>
          <a:prstGeom prst="rect">
            <a:avLst/>
          </a:prstGeom>
          <a:noFill/>
          <a:ln/>
        </p:spPr>
        <p:txBody>
          <a:bodyPr wrap="square" lIns="0" tIns="0" rIns="0" bIns="0" rtlCol="0" anchor="t"/>
          <a:lstStyle/>
          <a:p>
            <a:pPr indent="0" marL="0">
              <a:lnSpc>
                <a:spcPts val="1988"/>
              </a:lnSpc>
              <a:buNone/>
            </a:pPr>
            <a:r>
              <a:rPr lang="en-US" sz="1400" dirty="0">
                <a:solidFill>
                  <a:srgbClr val="5B6270"/>
                </a:solidFill>
                <a:latin typeface="Public Sans" pitchFamily="34" charset="0"/>
                <a:ea typeface="Public Sans" pitchFamily="34" charset="-122"/>
                <a:cs typeface="Public Sans" pitchFamily="34" charset="-120"/>
              </a:rPr>
              <a:t>The second time you type the same guidance, it should have been a skill the first time.</a:t>
            </a:r>
            <a:endParaRPr lang="en-US" sz="1400" dirty="0"/>
          </a:p>
        </p:txBody>
      </p:sp>
      <p:sp>
        <p:nvSpPr>
          <p:cNvPr id="19" name="Text 16"/>
          <p:cNvSpPr txBox="1"/>
          <p:nvPr/>
        </p:nvSpPr>
        <p:spPr>
          <a:xfrm>
            <a:off x="777240" y="6291072"/>
            <a:ext cx="10637215" cy="274320"/>
          </a:xfrm>
          <a:prstGeom prst="rect">
            <a:avLst/>
          </a:prstGeom>
          <a:noFill/>
          <a:ln/>
        </p:spPr>
        <p:txBody>
          <a:bodyPr wrap="square" lIns="0" tIns="0" rIns="0" bIns="0" rtlCol="0" anchor="ctr"/>
          <a:lstStyle/>
          <a:p>
            <a:pPr indent="0" marL="0">
              <a:buNone/>
            </a:pPr>
            <a:r>
              <a:rPr lang="en-US" sz="950" spc="100" kern="0" dirty="0">
                <a:solidFill>
                  <a:srgbClr val="6B6D72"/>
                </a:solidFill>
                <a:latin typeface="Courier New" pitchFamily="34" charset="0"/>
                <a:ea typeface="Courier New" pitchFamily="34" charset="-122"/>
                <a:cs typeface="Courier New" pitchFamily="34" charset="-120"/>
              </a:rPr>
              <a:t>14</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77240" y="420624"/>
            <a:ext cx="8229600" cy="274320"/>
          </a:xfrm>
          <a:prstGeom prst="rect">
            <a:avLst/>
          </a:prstGeom>
          <a:noFill/>
          <a:ln/>
        </p:spPr>
        <p:txBody>
          <a:bodyPr wrap="square" lIns="0" tIns="0" rIns="0" bIns="0" rtlCol="0" anchor="ctr"/>
          <a:lstStyle/>
          <a:p>
            <a:pPr indent="0" marL="0">
              <a:buNone/>
            </a:pPr>
            <a:r>
              <a:rPr lang="en-US" sz="1100" spc="200" kern="0" dirty="0">
                <a:solidFill>
                  <a:srgbClr val="6055D8"/>
                </a:solidFill>
                <a:latin typeface="Courier New" pitchFamily="34" charset="0"/>
                <a:ea typeface="Courier New" pitchFamily="34" charset="-122"/>
                <a:cs typeface="Courier New" pitchFamily="34" charset="-120"/>
              </a:rPr>
              <a:t>HANDS ON · THE LAST ONE</a:t>
            </a:r>
            <a:endParaRPr lang="en-US" sz="1100" dirty="0"/>
          </a:p>
        </p:txBody>
      </p:sp>
      <p:pic>
        <p:nvPicPr>
          <p:cNvPr id="3" name="Image 0" descr="/tmp/claude-0/-home-claude/e62a35b1-5075-553d-b086-acebfebc41ba/scratchpad/brand/meshpro-emblem-white.png">    </p:cNvPr>
          <p:cNvPicPr>
            <a:picLocks noChangeAspect="1"/>
          </p:cNvPicPr>
          <p:nvPr/>
        </p:nvPicPr>
        <p:blipFill>
          <a:blip r:embed="rId1"/>
          <a:stretch>
            <a:fillRect/>
          </a:stretch>
        </p:blipFill>
        <p:spPr>
          <a:xfrm>
            <a:off x="11140135" y="411480"/>
            <a:ext cx="384048" cy="374904"/>
          </a:xfrm>
          <a:prstGeom prst="rect">
            <a:avLst/>
          </a:prstGeom>
        </p:spPr>
      </p:pic>
      <p:sp>
        <p:nvSpPr>
          <p:cNvPr id="4" name="Shape 1"/>
          <p:cNvSpPr/>
          <p:nvPr/>
        </p:nvSpPr>
        <p:spPr>
          <a:xfrm>
            <a:off x="777240" y="868680"/>
            <a:ext cx="868680" cy="868680"/>
          </a:xfrm>
          <a:prstGeom prst="ellipse">
            <a:avLst/>
          </a:prstGeom>
          <a:solidFill>
            <a:srgbClr val="7367F0"/>
          </a:solidFill>
          <a:ln/>
        </p:spPr>
      </p:sp>
      <p:sp>
        <p:nvSpPr>
          <p:cNvPr id="5" name="Text 2"/>
          <p:cNvSpPr txBox="1"/>
          <p:nvPr/>
        </p:nvSpPr>
        <p:spPr>
          <a:xfrm>
            <a:off x="777240" y="868680"/>
            <a:ext cx="868680" cy="868680"/>
          </a:xfrm>
          <a:prstGeom prst="rect">
            <a:avLst/>
          </a:prstGeom>
          <a:noFill/>
          <a:ln/>
        </p:spPr>
        <p:txBody>
          <a:bodyPr wrap="square" lIns="0" tIns="0" rIns="0" bIns="0" rtlCol="0" anchor="ctr"/>
          <a:lstStyle/>
          <a:p>
            <a:pPr algn="ctr" indent="0" marL="0">
              <a:buNone/>
            </a:pPr>
            <a:r>
              <a:rPr lang="en-US" sz="3400" b="1" dirty="0">
                <a:solidFill>
                  <a:srgbClr val="FFFFFF"/>
                </a:solidFill>
                <a:latin typeface="Public Sans" pitchFamily="34" charset="0"/>
                <a:ea typeface="Public Sans" pitchFamily="34" charset="-122"/>
                <a:cs typeface="Public Sans" pitchFamily="34" charset="-120"/>
              </a:rPr>
              <a:t>7</a:t>
            </a:r>
            <a:endParaRPr lang="en-US" sz="3400" dirty="0"/>
          </a:p>
        </p:txBody>
      </p:sp>
      <p:sp>
        <p:nvSpPr>
          <p:cNvPr id="6" name="Text 3"/>
          <p:cNvSpPr txBox="1"/>
          <p:nvPr/>
        </p:nvSpPr>
        <p:spPr>
          <a:xfrm>
            <a:off x="2011680" y="868680"/>
            <a:ext cx="9402775" cy="868680"/>
          </a:xfrm>
          <a:prstGeom prst="rect">
            <a:avLst/>
          </a:prstGeom>
          <a:noFill/>
          <a:ln/>
        </p:spPr>
        <p:txBody>
          <a:bodyPr wrap="square" lIns="0" tIns="0" rIns="0" bIns="0" rtlCol="0" anchor="ctr"/>
          <a:lstStyle/>
          <a:p>
            <a:pPr indent="0" marL="0">
              <a:lnSpc>
                <a:spcPts val="3600"/>
              </a:lnSpc>
              <a:buNone/>
            </a:pPr>
            <a:r>
              <a:rPr lang="en-US" sz="3100" b="1" dirty="0">
                <a:solidFill>
                  <a:srgbClr val="15171F"/>
                </a:solidFill>
                <a:latin typeface="Public Sans" pitchFamily="34" charset="0"/>
                <a:ea typeface="Public Sans" pitchFamily="34" charset="-122"/>
                <a:cs typeface="Public Sans" pitchFamily="34" charset="-120"/>
              </a:rPr>
              <a:t>Give an executive a specialist</a:t>
            </a:r>
            <a:endParaRPr lang="en-US" sz="3100" dirty="0"/>
          </a:p>
        </p:txBody>
      </p:sp>
      <p:sp>
        <p:nvSpPr>
          <p:cNvPr id="7" name="Shape 4"/>
          <p:cNvSpPr/>
          <p:nvPr/>
        </p:nvSpPr>
        <p:spPr>
          <a:xfrm>
            <a:off x="777240" y="1938528"/>
            <a:ext cx="10637215" cy="1236472"/>
          </a:xfrm>
          <a:prstGeom prst="roundRect">
            <a:avLst>
              <a:gd name="adj" fmla="val 4437"/>
            </a:avLst>
          </a:prstGeom>
          <a:solidFill>
            <a:srgbClr val="F0EEFC"/>
          </a:solidFill>
          <a:ln w="17780">
            <a:solidFill>
              <a:srgbClr val="C4BDFF"/>
            </a:solidFill>
            <a:prstDash val="solid"/>
          </a:ln>
        </p:spPr>
      </p:sp>
      <p:sp>
        <p:nvSpPr>
          <p:cNvPr id="8" name="Text 5"/>
          <p:cNvSpPr txBox="1"/>
          <p:nvPr/>
        </p:nvSpPr>
        <p:spPr>
          <a:xfrm>
            <a:off x="1143000" y="1938528"/>
            <a:ext cx="9905695" cy="1236472"/>
          </a:xfrm>
          <a:prstGeom prst="rect">
            <a:avLst/>
          </a:prstGeom>
          <a:noFill/>
          <a:ln/>
        </p:spPr>
        <p:txBody>
          <a:bodyPr wrap="square" lIns="0" tIns="0" rIns="0" bIns="0" rtlCol="0" anchor="ctr"/>
          <a:lstStyle/>
          <a:p>
            <a:pPr indent="0" marL="0">
              <a:lnSpc>
                <a:spcPts val="2600"/>
              </a:lnSpc>
              <a:buNone/>
            </a:pPr>
            <a:r>
              <a:rPr lang="en-US" sz="1050" spc="160" kern="0" dirty="0">
                <a:solidFill>
                  <a:srgbClr val="6055D8"/>
                </a:solidFill>
                <a:latin typeface="Courier New" pitchFamily="34" charset="0"/>
                <a:ea typeface="Courier New" pitchFamily="34" charset="-122"/>
                <a:cs typeface="Courier New" pitchFamily="34" charset="-120"/>
              </a:rPr>
              <a:t>DO THIS NOW   </a:t>
            </a:r>
            <a:pPr indent="0" marL="0">
              <a:lnSpc>
                <a:spcPts val="2600"/>
              </a:lnSpc>
              <a:buNone/>
            </a:pPr>
            <a:endParaRPr lang="en-US" sz="1050" dirty="0"/>
          </a:p>
          <a:p>
            <a:pPr indent="0" marL="0">
              <a:lnSpc>
                <a:spcPts val="2600"/>
              </a:lnSpc>
              <a:buNone/>
            </a:pPr>
            <a:r>
              <a:rPr lang="en-US" sz="1700" b="1" dirty="0">
                <a:solidFill>
                  <a:srgbClr val="15171F"/>
                </a:solidFill>
                <a:latin typeface="Public Sans" pitchFamily="34" charset="0"/>
                <a:ea typeface="Public Sans" pitchFamily="34" charset="-122"/>
                <a:cs typeface="Public Sans" pitchFamily="34" charset="-120"/>
              </a:rPr>
              <a:t>Say: add a specialist under [executive] that does [one narrow job].</a:t>
            </a:r>
            <a:endParaRPr lang="en-US" sz="1050" dirty="0"/>
          </a:p>
        </p:txBody>
      </p:sp>
      <p:sp>
        <p:nvSpPr>
          <p:cNvPr id="9" name="Text 6"/>
          <p:cNvSpPr txBox="1"/>
          <p:nvPr/>
        </p:nvSpPr>
        <p:spPr>
          <a:xfrm>
            <a:off x="777240" y="3339592"/>
            <a:ext cx="10637215" cy="321564"/>
          </a:xfrm>
          <a:prstGeom prst="rect">
            <a:avLst/>
          </a:prstGeom>
          <a:noFill/>
          <a:ln/>
        </p:spPr>
        <p:txBody>
          <a:bodyPr wrap="square" lIns="0" tIns="0" rIns="0" bIns="0" rtlCol="0" anchor="ctr"/>
          <a:lstStyle/>
          <a:p>
            <a:pPr indent="0" marL="0">
              <a:lnSpc>
                <a:spcPts val="2100"/>
              </a:lnSpc>
              <a:buNone/>
            </a:pPr>
            <a:r>
              <a:rPr lang="en-US" sz="1450" b="1" dirty="0">
                <a:solidFill>
                  <a:srgbClr val="15171F"/>
                </a:solidFill>
                <a:latin typeface="Public Sans" pitchFamily="34" charset="0"/>
                <a:ea typeface="Public Sans" pitchFamily="34" charset="-122"/>
                <a:cs typeface="Public Sans" pitchFamily="34" charset="-120"/>
              </a:rPr>
              <a:t>You will know it worked when  </a:t>
            </a:r>
            <a:pPr indent="0" marL="0">
              <a:lnSpc>
                <a:spcPts val="2100"/>
              </a:lnSpc>
              <a:buNone/>
            </a:pPr>
            <a:r>
              <a:rPr lang="en-US" sz="1450" dirty="0">
                <a:solidFill>
                  <a:srgbClr val="5B6270"/>
                </a:solidFill>
                <a:latin typeface="Public Sans" pitchFamily="34" charset="0"/>
                <a:ea typeface="Public Sans" pitchFamily="34" charset="-122"/>
                <a:cs typeface="Public Sans" pitchFamily="34" charset="-120"/>
              </a:rPr>
              <a:t>a dashed box appears under that executive — its own agent, with one job.</a:t>
            </a:r>
            <a:endParaRPr lang="en-US" sz="1450" dirty="0"/>
          </a:p>
        </p:txBody>
      </p:sp>
      <p:sp>
        <p:nvSpPr>
          <p:cNvPr id="10" name="Text 7"/>
          <p:cNvSpPr txBox="1"/>
          <p:nvPr/>
        </p:nvSpPr>
        <p:spPr>
          <a:xfrm>
            <a:off x="777240" y="3752596"/>
            <a:ext cx="10637215" cy="274320"/>
          </a:xfrm>
          <a:prstGeom prst="rect">
            <a:avLst/>
          </a:prstGeom>
          <a:noFill/>
          <a:ln/>
        </p:spPr>
        <p:txBody>
          <a:bodyPr wrap="square" lIns="0" tIns="0" rIns="0" bIns="0" rtlCol="0" anchor="ctr"/>
          <a:lstStyle/>
          <a:p>
            <a:pPr indent="0" marL="0">
              <a:buNone/>
            </a:pPr>
            <a:r>
              <a:rPr lang="en-US" sz="1000" spc="140" kern="0" dirty="0">
                <a:solidFill>
                  <a:srgbClr val="6055D8"/>
                </a:solidFill>
                <a:latin typeface="Courier New" pitchFamily="34" charset="0"/>
                <a:ea typeface="Courier New" pitchFamily="34" charset="-122"/>
                <a:cs typeface="Courier New" pitchFamily="34" charset="-120"/>
              </a:rPr>
              <a:t>IT LANDS IN   </a:t>
            </a:r>
            <a:pPr indent="0" marL="0">
              <a:buNone/>
            </a:pPr>
            <a:r>
              <a:rPr lang="en-US" sz="1300" dirty="0">
                <a:solidFill>
                  <a:srgbClr val="5B6270"/>
                </a:solidFill>
                <a:latin typeface="Courier New" pitchFamily="34" charset="0"/>
                <a:ea typeface="Courier New" pitchFamily="34" charset="-122"/>
                <a:cs typeface="Courier New" pitchFamily="34" charset="-120"/>
              </a:rPr>
              <a:t>01 - Company/Roles/{Name}.md   with   kind: specialist</a:t>
            </a:r>
            <a:endParaRPr lang="en-US" sz="1000" dirty="0"/>
          </a:p>
        </p:txBody>
      </p:sp>
      <p:sp>
        <p:nvSpPr>
          <p:cNvPr id="11" name="Shape 8"/>
          <p:cNvSpPr/>
          <p:nvPr/>
        </p:nvSpPr>
        <p:spPr>
          <a:xfrm>
            <a:off x="777240" y="4246372"/>
            <a:ext cx="5029200" cy="1751584"/>
          </a:xfrm>
          <a:prstGeom prst="roundRect">
            <a:avLst>
              <a:gd name="adj" fmla="val 3132"/>
            </a:avLst>
          </a:prstGeom>
          <a:solidFill>
            <a:srgbClr val="F4F5F8"/>
          </a:solidFill>
          <a:ln w="12700">
            <a:solidFill>
              <a:srgbClr val="E4E6EC"/>
            </a:solidFill>
            <a:prstDash val="solid"/>
          </a:ln>
        </p:spPr>
      </p:sp>
      <p:sp>
        <p:nvSpPr>
          <p:cNvPr id="12" name="Text 9"/>
          <p:cNvSpPr txBox="1"/>
          <p:nvPr/>
        </p:nvSpPr>
        <p:spPr>
          <a:xfrm>
            <a:off x="1051560" y="4520692"/>
            <a:ext cx="4480560" cy="219456"/>
          </a:xfrm>
          <a:prstGeom prst="rect">
            <a:avLst/>
          </a:prstGeom>
          <a:noFill/>
          <a:ln/>
        </p:spPr>
        <p:txBody>
          <a:bodyPr wrap="square" lIns="0" tIns="0" rIns="0" bIns="0" rtlCol="0" anchor="ctr"/>
          <a:lstStyle/>
          <a:p>
            <a:pPr indent="0" marL="0">
              <a:buNone/>
            </a:pPr>
            <a:r>
              <a:rPr lang="en-US" sz="950" spc="140" kern="0" dirty="0">
                <a:solidFill>
                  <a:srgbClr val="6055D8"/>
                </a:solidFill>
                <a:latin typeface="Courier New" pitchFamily="34" charset="0"/>
                <a:ea typeface="Courier New" pitchFamily="34" charset="-122"/>
                <a:cs typeface="Courier New" pitchFamily="34" charset="-120"/>
              </a:rPr>
              <a:t>NARROW ON PURPOSE</a:t>
            </a:r>
            <a:endParaRPr lang="en-US" sz="950" dirty="0"/>
          </a:p>
        </p:txBody>
      </p:sp>
      <p:sp>
        <p:nvSpPr>
          <p:cNvPr id="13" name="Text 10"/>
          <p:cNvSpPr txBox="1"/>
          <p:nvPr/>
        </p:nvSpPr>
        <p:spPr>
          <a:xfrm>
            <a:off x="1051560" y="4813300"/>
            <a:ext cx="4480560" cy="259080"/>
          </a:xfrm>
          <a:prstGeom prst="rect">
            <a:avLst/>
          </a:prstGeom>
          <a:noFill/>
          <a:ln/>
        </p:spPr>
        <p:txBody>
          <a:bodyPr wrap="square" lIns="0" tIns="0" rIns="0" bIns="0" rtlCol="0" anchor="t"/>
          <a:lstStyle/>
          <a:p>
            <a:pPr indent="0" marL="0">
              <a:lnSpc>
                <a:spcPts val="2040"/>
              </a:lnSpc>
              <a:buNone/>
            </a:pPr>
            <a:r>
              <a:rPr lang="en-US" sz="1700" b="1" dirty="0">
                <a:solidFill>
                  <a:srgbClr val="15171F"/>
                </a:solidFill>
                <a:latin typeface="Public Sans" pitchFamily="34" charset="0"/>
                <a:ea typeface="Public Sans" pitchFamily="34" charset="-122"/>
                <a:cs typeface="Public Sans" pitchFamily="34" charset="-120"/>
              </a:rPr>
              <a:t>One job, done properly</a:t>
            </a:r>
            <a:endParaRPr lang="en-US" sz="1700" dirty="0"/>
          </a:p>
        </p:txBody>
      </p:sp>
      <p:sp>
        <p:nvSpPr>
          <p:cNvPr id="14" name="Text 11"/>
          <p:cNvSpPr txBox="1"/>
          <p:nvPr/>
        </p:nvSpPr>
        <p:spPr>
          <a:xfrm>
            <a:off x="1051560" y="5200396"/>
            <a:ext cx="4480560" cy="541528"/>
          </a:xfrm>
          <a:prstGeom prst="rect">
            <a:avLst/>
          </a:prstGeom>
          <a:noFill/>
          <a:ln/>
        </p:spPr>
        <p:txBody>
          <a:bodyPr wrap="square" lIns="0" tIns="0" rIns="0" bIns="0" rtlCol="0" anchor="t"/>
          <a:lstStyle/>
          <a:p>
            <a:pPr indent="0" marL="0">
              <a:lnSpc>
                <a:spcPts val="1988"/>
              </a:lnSpc>
              <a:buNone/>
            </a:pPr>
            <a:r>
              <a:rPr lang="en-US" sz="1400" dirty="0">
                <a:solidFill>
                  <a:srgbClr val="5B6270"/>
                </a:solidFill>
                <a:latin typeface="Public Sans" pitchFamily="34" charset="0"/>
                <a:ea typeface="Public Sans" pitchFamily="34" charset="-122"/>
                <a:cs typeface="Public Sans" pitchFamily="34" charset="-120"/>
              </a:rPr>
              <a:t>Spots quiet accounts. Drafts the post. Writes the first pass. Anything else, it hands straight back.</a:t>
            </a:r>
            <a:endParaRPr lang="en-US" sz="1400" dirty="0"/>
          </a:p>
        </p:txBody>
      </p:sp>
      <p:sp>
        <p:nvSpPr>
          <p:cNvPr id="15" name="Shape 12"/>
          <p:cNvSpPr/>
          <p:nvPr/>
        </p:nvSpPr>
        <p:spPr>
          <a:xfrm>
            <a:off x="6172200" y="4246372"/>
            <a:ext cx="5029200" cy="1751584"/>
          </a:xfrm>
          <a:prstGeom prst="roundRect">
            <a:avLst>
              <a:gd name="adj" fmla="val 3132"/>
            </a:avLst>
          </a:prstGeom>
          <a:solidFill>
            <a:srgbClr val="F4F5F8"/>
          </a:solidFill>
          <a:ln w="12700">
            <a:solidFill>
              <a:srgbClr val="E4E6EC"/>
            </a:solidFill>
            <a:prstDash val="solid"/>
          </a:ln>
        </p:spPr>
      </p:sp>
      <p:sp>
        <p:nvSpPr>
          <p:cNvPr id="16" name="Text 13"/>
          <p:cNvSpPr txBox="1"/>
          <p:nvPr/>
        </p:nvSpPr>
        <p:spPr>
          <a:xfrm>
            <a:off x="6446520" y="4520692"/>
            <a:ext cx="4480560" cy="219456"/>
          </a:xfrm>
          <a:prstGeom prst="rect">
            <a:avLst/>
          </a:prstGeom>
          <a:noFill/>
          <a:ln/>
        </p:spPr>
        <p:txBody>
          <a:bodyPr wrap="square" lIns="0" tIns="0" rIns="0" bIns="0" rtlCol="0" anchor="ctr"/>
          <a:lstStyle/>
          <a:p>
            <a:pPr indent="0" marL="0">
              <a:buNone/>
            </a:pPr>
            <a:r>
              <a:rPr lang="en-US" sz="950" spc="140" kern="0" dirty="0">
                <a:solidFill>
                  <a:srgbClr val="6055D8"/>
                </a:solidFill>
                <a:latin typeface="Courier New" pitchFamily="34" charset="0"/>
                <a:ea typeface="Courier New" pitchFamily="34" charset="-122"/>
                <a:cs typeface="Courier New" pitchFamily="34" charset="-120"/>
              </a:rPr>
              <a:t>THE TEST</a:t>
            </a:r>
            <a:endParaRPr lang="en-US" sz="950" dirty="0"/>
          </a:p>
        </p:txBody>
      </p:sp>
      <p:sp>
        <p:nvSpPr>
          <p:cNvPr id="17" name="Text 14"/>
          <p:cNvSpPr txBox="1"/>
          <p:nvPr/>
        </p:nvSpPr>
        <p:spPr>
          <a:xfrm>
            <a:off x="6446520" y="4813300"/>
            <a:ext cx="4480560" cy="259080"/>
          </a:xfrm>
          <a:prstGeom prst="rect">
            <a:avLst/>
          </a:prstGeom>
          <a:noFill/>
          <a:ln/>
        </p:spPr>
        <p:txBody>
          <a:bodyPr wrap="square" lIns="0" tIns="0" rIns="0" bIns="0" rtlCol="0" anchor="t"/>
          <a:lstStyle/>
          <a:p>
            <a:pPr indent="0" marL="0">
              <a:lnSpc>
                <a:spcPts val="2040"/>
              </a:lnSpc>
              <a:buNone/>
            </a:pPr>
            <a:r>
              <a:rPr lang="en-US" sz="1700" b="1" dirty="0">
                <a:solidFill>
                  <a:srgbClr val="15171F"/>
                </a:solidFill>
                <a:latin typeface="Public Sans" pitchFamily="34" charset="0"/>
                <a:ea typeface="Public Sans" pitchFamily="34" charset="-122"/>
                <a:cs typeface="Public Sans" pitchFamily="34" charset="-120"/>
              </a:rPr>
              <a:t>A task, not an area</a:t>
            </a:r>
            <a:endParaRPr lang="en-US" sz="1700" dirty="0"/>
          </a:p>
        </p:txBody>
      </p:sp>
      <p:sp>
        <p:nvSpPr>
          <p:cNvPr id="18" name="Text 15"/>
          <p:cNvSpPr txBox="1"/>
          <p:nvPr/>
        </p:nvSpPr>
        <p:spPr>
          <a:xfrm>
            <a:off x="6446520" y="5200396"/>
            <a:ext cx="4480560" cy="541528"/>
          </a:xfrm>
          <a:prstGeom prst="rect">
            <a:avLst/>
          </a:prstGeom>
          <a:noFill/>
          <a:ln/>
        </p:spPr>
        <p:txBody>
          <a:bodyPr wrap="square" lIns="0" tIns="0" rIns="0" bIns="0" rtlCol="0" anchor="t"/>
          <a:lstStyle/>
          <a:p>
            <a:pPr indent="0" marL="0">
              <a:lnSpc>
                <a:spcPts val="1988"/>
              </a:lnSpc>
              <a:buNone/>
            </a:pPr>
            <a:r>
              <a:rPr lang="en-US" sz="1400" dirty="0">
                <a:solidFill>
                  <a:srgbClr val="5B6270"/>
                </a:solidFill>
                <a:latin typeface="Public Sans" pitchFamily="34" charset="0"/>
                <a:ea typeface="Public Sans" pitchFamily="34" charset="-122"/>
                <a:cs typeface="Public Sans" pitchFamily="34" charset="-120"/>
              </a:rPr>
              <a:t>Several kinds of work? That is a department. One fiddly thing that keeps going wrong? That is this.</a:t>
            </a:r>
            <a:endParaRPr lang="en-US" sz="1400" dirty="0"/>
          </a:p>
        </p:txBody>
      </p:sp>
      <p:sp>
        <p:nvSpPr>
          <p:cNvPr id="19" name="Text 16"/>
          <p:cNvSpPr txBox="1"/>
          <p:nvPr/>
        </p:nvSpPr>
        <p:spPr>
          <a:xfrm>
            <a:off x="777240" y="6291072"/>
            <a:ext cx="10637215" cy="274320"/>
          </a:xfrm>
          <a:prstGeom prst="rect">
            <a:avLst/>
          </a:prstGeom>
          <a:noFill/>
          <a:ln/>
        </p:spPr>
        <p:txBody>
          <a:bodyPr wrap="square" lIns="0" tIns="0" rIns="0" bIns="0" rtlCol="0" anchor="ctr"/>
          <a:lstStyle/>
          <a:p>
            <a:pPr indent="0" marL="0">
              <a:buNone/>
            </a:pPr>
            <a:r>
              <a:rPr lang="en-US" sz="950" spc="100" kern="0" dirty="0">
                <a:solidFill>
                  <a:srgbClr val="6B6D72"/>
                </a:solidFill>
                <a:latin typeface="Courier New" pitchFamily="34" charset="0"/>
                <a:ea typeface="Courier New" pitchFamily="34" charset="-122"/>
                <a:cs typeface="Courier New" pitchFamily="34" charset="-120"/>
              </a:rPr>
              <a:t>15</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77240" y="420624"/>
            <a:ext cx="8229600" cy="274320"/>
          </a:xfrm>
          <a:prstGeom prst="rect">
            <a:avLst/>
          </a:prstGeom>
          <a:noFill/>
          <a:ln/>
        </p:spPr>
        <p:txBody>
          <a:bodyPr wrap="square" lIns="0" tIns="0" rIns="0" bIns="0" rtlCol="0" anchor="ctr"/>
          <a:lstStyle/>
          <a:p>
            <a:pPr indent="0" marL="0">
              <a:buNone/>
            </a:pPr>
            <a:r>
              <a:rPr lang="en-US" sz="1100" spc="200" kern="0" dirty="0">
                <a:solidFill>
                  <a:srgbClr val="6055D8"/>
                </a:solidFill>
                <a:latin typeface="Courier New" pitchFamily="34" charset="0"/>
                <a:ea typeface="Courier New" pitchFamily="34" charset="-122"/>
                <a:cs typeface="Courier New" pitchFamily="34" charset="-120"/>
              </a:rPr>
              <a:t>HANDS ON · TOGETHER</a:t>
            </a:r>
            <a:endParaRPr lang="en-US" sz="1100" dirty="0"/>
          </a:p>
        </p:txBody>
      </p:sp>
      <p:pic>
        <p:nvPicPr>
          <p:cNvPr id="3" name="Image 0" descr="/tmp/claude-0/-home-claude/e62a35b1-5075-553d-b086-acebfebc41ba/scratchpad/brand/meshpro-emblem-white.png">    </p:cNvPr>
          <p:cNvPicPr>
            <a:picLocks noChangeAspect="1"/>
          </p:cNvPicPr>
          <p:nvPr/>
        </p:nvPicPr>
        <p:blipFill>
          <a:blip r:embed="rId1"/>
          <a:stretch>
            <a:fillRect/>
          </a:stretch>
        </p:blipFill>
        <p:spPr>
          <a:xfrm>
            <a:off x="11140135" y="411480"/>
            <a:ext cx="384048" cy="374904"/>
          </a:xfrm>
          <a:prstGeom prst="rect">
            <a:avLst/>
          </a:prstGeom>
        </p:spPr>
      </p:pic>
      <p:sp>
        <p:nvSpPr>
          <p:cNvPr id="4" name="Shape 1"/>
          <p:cNvSpPr/>
          <p:nvPr/>
        </p:nvSpPr>
        <p:spPr>
          <a:xfrm>
            <a:off x="777240" y="868680"/>
            <a:ext cx="868680" cy="868680"/>
          </a:xfrm>
          <a:prstGeom prst="ellipse">
            <a:avLst/>
          </a:prstGeom>
          <a:solidFill>
            <a:srgbClr val="7367F0"/>
          </a:solidFill>
          <a:ln/>
        </p:spPr>
      </p:sp>
      <p:sp>
        <p:nvSpPr>
          <p:cNvPr id="5" name="Text 2"/>
          <p:cNvSpPr txBox="1"/>
          <p:nvPr/>
        </p:nvSpPr>
        <p:spPr>
          <a:xfrm>
            <a:off x="777240" y="868680"/>
            <a:ext cx="868680" cy="868680"/>
          </a:xfrm>
          <a:prstGeom prst="rect">
            <a:avLst/>
          </a:prstGeom>
          <a:noFill/>
          <a:ln/>
        </p:spPr>
        <p:txBody>
          <a:bodyPr wrap="square" lIns="0" tIns="0" rIns="0" bIns="0" rtlCol="0" anchor="ctr"/>
          <a:lstStyle/>
          <a:p>
            <a:pPr algn="ctr" indent="0" marL="0">
              <a:buNone/>
            </a:pPr>
            <a:r>
              <a:rPr lang="en-US" sz="3400" b="1" dirty="0">
                <a:solidFill>
                  <a:srgbClr val="FFFFFF"/>
                </a:solidFill>
                <a:latin typeface="Public Sans" pitchFamily="34" charset="0"/>
                <a:ea typeface="Public Sans" pitchFamily="34" charset="-122"/>
                <a:cs typeface="Public Sans" pitchFamily="34" charset="-120"/>
              </a:rPr>
              <a:t>8</a:t>
            </a:r>
            <a:endParaRPr lang="en-US" sz="3400" dirty="0"/>
          </a:p>
        </p:txBody>
      </p:sp>
      <p:sp>
        <p:nvSpPr>
          <p:cNvPr id="6" name="Text 3"/>
          <p:cNvSpPr txBox="1"/>
          <p:nvPr/>
        </p:nvSpPr>
        <p:spPr>
          <a:xfrm>
            <a:off x="2011680" y="868680"/>
            <a:ext cx="9402775" cy="868680"/>
          </a:xfrm>
          <a:prstGeom prst="rect">
            <a:avLst/>
          </a:prstGeom>
          <a:noFill/>
          <a:ln/>
        </p:spPr>
        <p:txBody>
          <a:bodyPr wrap="square" lIns="0" tIns="0" rIns="0" bIns="0" rtlCol="0" anchor="ctr"/>
          <a:lstStyle/>
          <a:p>
            <a:pPr indent="0" marL="0">
              <a:lnSpc>
                <a:spcPts val="3600"/>
              </a:lnSpc>
              <a:buNone/>
            </a:pPr>
            <a:r>
              <a:rPr lang="en-US" sz="3100" b="1" dirty="0">
                <a:solidFill>
                  <a:srgbClr val="15171F"/>
                </a:solidFill>
                <a:latin typeface="Public Sans" pitchFamily="34" charset="0"/>
                <a:ea typeface="Public Sans" pitchFamily="34" charset="-122"/>
                <a:cs typeface="Public Sans" pitchFamily="34" charset="-120"/>
              </a:rPr>
              <a:t>Write one workflow down</a:t>
            </a:r>
            <a:endParaRPr lang="en-US" sz="3100" dirty="0"/>
          </a:p>
        </p:txBody>
      </p:sp>
      <p:sp>
        <p:nvSpPr>
          <p:cNvPr id="7" name="Shape 4"/>
          <p:cNvSpPr/>
          <p:nvPr/>
        </p:nvSpPr>
        <p:spPr>
          <a:xfrm>
            <a:off x="777240" y="1938528"/>
            <a:ext cx="10637215" cy="1236472"/>
          </a:xfrm>
          <a:prstGeom prst="roundRect">
            <a:avLst>
              <a:gd name="adj" fmla="val 4437"/>
            </a:avLst>
          </a:prstGeom>
          <a:solidFill>
            <a:srgbClr val="F0EEFC"/>
          </a:solidFill>
          <a:ln w="17780">
            <a:solidFill>
              <a:srgbClr val="C4BDFF"/>
            </a:solidFill>
            <a:prstDash val="solid"/>
          </a:ln>
        </p:spPr>
      </p:sp>
      <p:sp>
        <p:nvSpPr>
          <p:cNvPr id="8" name="Text 5"/>
          <p:cNvSpPr txBox="1"/>
          <p:nvPr/>
        </p:nvSpPr>
        <p:spPr>
          <a:xfrm>
            <a:off x="1143000" y="1938528"/>
            <a:ext cx="9905695" cy="1236472"/>
          </a:xfrm>
          <a:prstGeom prst="rect">
            <a:avLst/>
          </a:prstGeom>
          <a:noFill/>
          <a:ln/>
        </p:spPr>
        <p:txBody>
          <a:bodyPr wrap="square" lIns="0" tIns="0" rIns="0" bIns="0" rtlCol="0" anchor="ctr"/>
          <a:lstStyle/>
          <a:p>
            <a:pPr indent="0" marL="0">
              <a:lnSpc>
                <a:spcPts val="2600"/>
              </a:lnSpc>
              <a:buNone/>
            </a:pPr>
            <a:r>
              <a:rPr lang="en-US" sz="1050" spc="160" kern="0" dirty="0">
                <a:solidFill>
                  <a:srgbClr val="6055D8"/>
                </a:solidFill>
                <a:latin typeface="Courier New" pitchFamily="34" charset="0"/>
                <a:ea typeface="Courier New" pitchFamily="34" charset="-122"/>
                <a:cs typeface="Courier New" pitchFamily="34" charset="-120"/>
              </a:rPr>
              <a:t>DO THIS NOW   </a:t>
            </a:r>
            <a:pPr indent="0" marL="0">
              <a:lnSpc>
                <a:spcPts val="2600"/>
              </a:lnSpc>
              <a:buNone/>
            </a:pPr>
            <a:endParaRPr lang="en-US" sz="1050" dirty="0"/>
          </a:p>
          <a:p>
            <a:pPr indent="0" marL="0">
              <a:lnSpc>
                <a:spcPts val="2600"/>
              </a:lnSpc>
              <a:buNone/>
            </a:pPr>
            <a:r>
              <a:rPr lang="en-US" sz="1700" b="1" dirty="0">
                <a:solidFill>
                  <a:srgbClr val="15171F"/>
                </a:solidFill>
                <a:latin typeface="Public Sans" pitchFamily="34" charset="0"/>
                <a:ea typeface="Public Sans" pitchFamily="34" charset="-122"/>
                <a:cs typeface="Public Sans" pitchFamily="34" charset="-120"/>
              </a:rPr>
              <a:t>Pick something you do the same way every time. Say: write down how it happens.</a:t>
            </a:r>
            <a:endParaRPr lang="en-US" sz="1050" dirty="0"/>
          </a:p>
        </p:txBody>
      </p:sp>
      <p:sp>
        <p:nvSpPr>
          <p:cNvPr id="9" name="Text 6"/>
          <p:cNvSpPr txBox="1"/>
          <p:nvPr/>
        </p:nvSpPr>
        <p:spPr>
          <a:xfrm>
            <a:off x="777240" y="3339592"/>
            <a:ext cx="10637215" cy="588264"/>
          </a:xfrm>
          <a:prstGeom prst="rect">
            <a:avLst/>
          </a:prstGeom>
          <a:noFill/>
          <a:ln/>
        </p:spPr>
        <p:txBody>
          <a:bodyPr wrap="square" lIns="0" tIns="0" rIns="0" bIns="0" rtlCol="0" anchor="ctr"/>
          <a:lstStyle/>
          <a:p>
            <a:pPr indent="0" marL="0">
              <a:lnSpc>
                <a:spcPts val="2100"/>
              </a:lnSpc>
              <a:buNone/>
            </a:pPr>
            <a:r>
              <a:rPr lang="en-US" sz="1450" b="1" dirty="0">
                <a:solidFill>
                  <a:srgbClr val="15171F"/>
                </a:solidFill>
                <a:latin typeface="Public Sans" pitchFamily="34" charset="0"/>
                <a:ea typeface="Public Sans" pitchFamily="34" charset="-122"/>
                <a:cs typeface="Public Sans" pitchFamily="34" charset="-120"/>
              </a:rPr>
              <a:t>You will know it worked when  </a:t>
            </a:r>
            <a:pPr indent="0" marL="0">
              <a:lnSpc>
                <a:spcPts val="2100"/>
              </a:lnSpc>
              <a:buNone/>
            </a:pPr>
            <a:r>
              <a:rPr lang="en-US" sz="1450" dirty="0">
                <a:solidFill>
                  <a:srgbClr val="5B6270"/>
                </a:solidFill>
                <a:latin typeface="Public Sans" pitchFamily="34" charset="0"/>
                <a:ea typeface="Public Sans" pitchFamily="34" charset="-122"/>
                <a:cs typeface="Public Sans" pitchFamily="34" charset="-120"/>
              </a:rPr>
              <a:t>a workflow note appears with a step table, both marks set, and the honest ones set to not-yet.</a:t>
            </a:r>
            <a:endParaRPr lang="en-US" sz="1450" dirty="0"/>
          </a:p>
        </p:txBody>
      </p:sp>
      <p:sp>
        <p:nvSpPr>
          <p:cNvPr id="10" name="Text 7"/>
          <p:cNvSpPr txBox="1"/>
          <p:nvPr/>
        </p:nvSpPr>
        <p:spPr>
          <a:xfrm>
            <a:off x="777240" y="4019296"/>
            <a:ext cx="10637215" cy="274320"/>
          </a:xfrm>
          <a:prstGeom prst="rect">
            <a:avLst/>
          </a:prstGeom>
          <a:noFill/>
          <a:ln/>
        </p:spPr>
        <p:txBody>
          <a:bodyPr wrap="square" lIns="0" tIns="0" rIns="0" bIns="0" rtlCol="0" anchor="ctr"/>
          <a:lstStyle/>
          <a:p>
            <a:pPr indent="0" marL="0">
              <a:buNone/>
            </a:pPr>
            <a:r>
              <a:rPr lang="en-US" sz="1000" spc="140" kern="0" dirty="0">
                <a:solidFill>
                  <a:srgbClr val="6055D8"/>
                </a:solidFill>
                <a:latin typeface="Courier New" pitchFamily="34" charset="0"/>
                <a:ea typeface="Courier New" pitchFamily="34" charset="-122"/>
                <a:cs typeface="Courier New" pitchFamily="34" charset="-120"/>
              </a:rPr>
              <a:t>IT LANDS IN   </a:t>
            </a:r>
            <a:pPr indent="0" marL="0">
              <a:buNone/>
            </a:pPr>
            <a:r>
              <a:rPr lang="en-US" sz="1300" dirty="0">
                <a:solidFill>
                  <a:srgbClr val="5B6270"/>
                </a:solidFill>
                <a:latin typeface="Courier New" pitchFamily="34" charset="0"/>
                <a:ea typeface="Courier New" pitchFamily="34" charset="-122"/>
                <a:cs typeface="Courier New" pitchFamily="34" charset="-120"/>
              </a:rPr>
              <a:t>01 - Company/Workflows/{What It Does}.md</a:t>
            </a:r>
            <a:endParaRPr lang="en-US" sz="1000" dirty="0"/>
          </a:p>
        </p:txBody>
      </p:sp>
      <p:sp>
        <p:nvSpPr>
          <p:cNvPr id="11" name="Shape 8"/>
          <p:cNvSpPr/>
          <p:nvPr/>
        </p:nvSpPr>
        <p:spPr>
          <a:xfrm>
            <a:off x="777240" y="4513072"/>
            <a:ext cx="5029200" cy="1751584"/>
          </a:xfrm>
          <a:prstGeom prst="roundRect">
            <a:avLst>
              <a:gd name="adj" fmla="val 3132"/>
            </a:avLst>
          </a:prstGeom>
          <a:solidFill>
            <a:srgbClr val="F4F5F8"/>
          </a:solidFill>
          <a:ln w="12700">
            <a:solidFill>
              <a:srgbClr val="E4E6EC"/>
            </a:solidFill>
            <a:prstDash val="solid"/>
          </a:ln>
        </p:spPr>
      </p:sp>
      <p:sp>
        <p:nvSpPr>
          <p:cNvPr id="12" name="Text 9"/>
          <p:cNvSpPr txBox="1"/>
          <p:nvPr/>
        </p:nvSpPr>
        <p:spPr>
          <a:xfrm>
            <a:off x="1051560" y="4787392"/>
            <a:ext cx="4480560" cy="219456"/>
          </a:xfrm>
          <a:prstGeom prst="rect">
            <a:avLst/>
          </a:prstGeom>
          <a:noFill/>
          <a:ln/>
        </p:spPr>
        <p:txBody>
          <a:bodyPr wrap="square" lIns="0" tIns="0" rIns="0" bIns="0" rtlCol="0" anchor="ctr"/>
          <a:lstStyle/>
          <a:p>
            <a:pPr indent="0" marL="0">
              <a:buNone/>
            </a:pPr>
            <a:r>
              <a:rPr lang="en-US" sz="950" spc="140" kern="0" dirty="0">
                <a:solidFill>
                  <a:srgbClr val="6055D8"/>
                </a:solidFill>
                <a:latin typeface="Courier New" pitchFamily="34" charset="0"/>
                <a:ea typeface="Courier New" pitchFamily="34" charset="-122"/>
                <a:cs typeface="Courier New" pitchFamily="34" charset="-120"/>
              </a:rPr>
              <a:t>IT ASKS FIVE QUESTIONS</a:t>
            </a:r>
            <a:endParaRPr lang="en-US" sz="950" dirty="0"/>
          </a:p>
        </p:txBody>
      </p:sp>
      <p:sp>
        <p:nvSpPr>
          <p:cNvPr id="13" name="Text 10"/>
          <p:cNvSpPr txBox="1"/>
          <p:nvPr/>
        </p:nvSpPr>
        <p:spPr>
          <a:xfrm>
            <a:off x="1051560" y="5080000"/>
            <a:ext cx="4480560" cy="259080"/>
          </a:xfrm>
          <a:prstGeom prst="rect">
            <a:avLst/>
          </a:prstGeom>
          <a:noFill/>
          <a:ln/>
        </p:spPr>
        <p:txBody>
          <a:bodyPr wrap="square" lIns="0" tIns="0" rIns="0" bIns="0" rtlCol="0" anchor="t"/>
          <a:lstStyle/>
          <a:p>
            <a:pPr indent="0" marL="0">
              <a:lnSpc>
                <a:spcPts val="2040"/>
              </a:lnSpc>
              <a:buNone/>
            </a:pPr>
            <a:r>
              <a:rPr lang="en-US" sz="1700" b="1" dirty="0">
                <a:solidFill>
                  <a:srgbClr val="15171F"/>
                </a:solidFill>
                <a:latin typeface="Public Sans" pitchFamily="34" charset="0"/>
                <a:ea typeface="Public Sans" pitchFamily="34" charset="-122"/>
                <a:cs typeface="Public Sans" pitchFamily="34" charset="-120"/>
              </a:rPr>
              <a:t>The fifth is the one that matters</a:t>
            </a:r>
            <a:endParaRPr lang="en-US" sz="1700" dirty="0"/>
          </a:p>
        </p:txBody>
      </p:sp>
      <p:sp>
        <p:nvSpPr>
          <p:cNvPr id="14" name="Text 11"/>
          <p:cNvSpPr txBox="1"/>
          <p:nvPr/>
        </p:nvSpPr>
        <p:spPr>
          <a:xfrm>
            <a:off x="1051560" y="5467096"/>
            <a:ext cx="4480560" cy="541528"/>
          </a:xfrm>
          <a:prstGeom prst="rect">
            <a:avLst/>
          </a:prstGeom>
          <a:noFill/>
          <a:ln/>
        </p:spPr>
        <p:txBody>
          <a:bodyPr wrap="square" lIns="0" tIns="0" rIns="0" bIns="0" rtlCol="0" anchor="t"/>
          <a:lstStyle/>
          <a:p>
            <a:pPr indent="0" marL="0">
              <a:lnSpc>
                <a:spcPts val="1988"/>
              </a:lnSpc>
              <a:buNone/>
            </a:pPr>
            <a:r>
              <a:rPr lang="en-US" sz="1400" dirty="0">
                <a:solidFill>
                  <a:srgbClr val="5B6270"/>
                </a:solidFill>
                <a:latin typeface="Public Sans" pitchFamily="34" charset="0"/>
                <a:ea typeface="Public Sans" pitchFamily="34" charset="-122"/>
                <a:cs typeface="Public Sans" pitchFamily="34" charset="-120"/>
              </a:rPr>
              <a:t>Who starts it · what they need · where it stops · who it waits on · what goes wrong.</a:t>
            </a:r>
            <a:endParaRPr lang="en-US" sz="1400" dirty="0"/>
          </a:p>
        </p:txBody>
      </p:sp>
      <p:sp>
        <p:nvSpPr>
          <p:cNvPr id="15" name="Shape 12"/>
          <p:cNvSpPr/>
          <p:nvPr/>
        </p:nvSpPr>
        <p:spPr>
          <a:xfrm>
            <a:off x="6172200" y="4513072"/>
            <a:ext cx="5029200" cy="1751584"/>
          </a:xfrm>
          <a:prstGeom prst="roundRect">
            <a:avLst>
              <a:gd name="adj" fmla="val 3132"/>
            </a:avLst>
          </a:prstGeom>
          <a:solidFill>
            <a:srgbClr val="F4F5F8"/>
          </a:solidFill>
          <a:ln w="12700">
            <a:solidFill>
              <a:srgbClr val="E4E6EC"/>
            </a:solidFill>
            <a:prstDash val="solid"/>
          </a:ln>
        </p:spPr>
      </p:sp>
      <p:sp>
        <p:nvSpPr>
          <p:cNvPr id="16" name="Text 13"/>
          <p:cNvSpPr txBox="1"/>
          <p:nvPr/>
        </p:nvSpPr>
        <p:spPr>
          <a:xfrm>
            <a:off x="6446520" y="4787392"/>
            <a:ext cx="4480560" cy="219456"/>
          </a:xfrm>
          <a:prstGeom prst="rect">
            <a:avLst/>
          </a:prstGeom>
          <a:noFill/>
          <a:ln/>
        </p:spPr>
        <p:txBody>
          <a:bodyPr wrap="square" lIns="0" tIns="0" rIns="0" bIns="0" rtlCol="0" anchor="ctr"/>
          <a:lstStyle/>
          <a:p>
            <a:pPr indent="0" marL="0">
              <a:buNone/>
            </a:pPr>
            <a:r>
              <a:rPr lang="en-US" sz="950" spc="140" kern="0" dirty="0">
                <a:solidFill>
                  <a:srgbClr val="6055D8"/>
                </a:solidFill>
                <a:latin typeface="Courier New" pitchFamily="34" charset="0"/>
                <a:ea typeface="Courier New" pitchFamily="34" charset="-122"/>
                <a:cs typeface="Courier New" pitchFamily="34" charset="-120"/>
              </a:rPr>
              <a:t>WRITE TODAY, NOT THE PLAN</a:t>
            </a:r>
            <a:endParaRPr lang="en-US" sz="950" dirty="0"/>
          </a:p>
        </p:txBody>
      </p:sp>
      <p:sp>
        <p:nvSpPr>
          <p:cNvPr id="17" name="Text 14"/>
          <p:cNvSpPr txBox="1"/>
          <p:nvPr/>
        </p:nvSpPr>
        <p:spPr>
          <a:xfrm>
            <a:off x="6446520" y="5080000"/>
            <a:ext cx="4480560" cy="259080"/>
          </a:xfrm>
          <a:prstGeom prst="rect">
            <a:avLst/>
          </a:prstGeom>
          <a:noFill/>
          <a:ln/>
        </p:spPr>
        <p:txBody>
          <a:bodyPr wrap="square" lIns="0" tIns="0" rIns="0" bIns="0" rtlCol="0" anchor="t"/>
          <a:lstStyle/>
          <a:p>
            <a:pPr indent="0" marL="0">
              <a:lnSpc>
                <a:spcPts val="2040"/>
              </a:lnSpc>
              <a:buNone/>
            </a:pPr>
            <a:r>
              <a:rPr lang="en-US" sz="1700" b="1" dirty="0">
                <a:solidFill>
                  <a:srgbClr val="15171F"/>
                </a:solidFill>
                <a:latin typeface="Public Sans" pitchFamily="34" charset="0"/>
                <a:ea typeface="Public Sans" pitchFamily="34" charset="-122"/>
                <a:cs typeface="Public Sans" pitchFamily="34" charset="-120"/>
              </a:rPr>
              <a:t>Including the messy step</a:t>
            </a:r>
            <a:endParaRPr lang="en-US" sz="1700" dirty="0"/>
          </a:p>
        </p:txBody>
      </p:sp>
      <p:sp>
        <p:nvSpPr>
          <p:cNvPr id="18" name="Text 15"/>
          <p:cNvSpPr txBox="1"/>
          <p:nvPr/>
        </p:nvSpPr>
        <p:spPr>
          <a:xfrm>
            <a:off x="6446520" y="5467096"/>
            <a:ext cx="4480560" cy="541528"/>
          </a:xfrm>
          <a:prstGeom prst="rect">
            <a:avLst/>
          </a:prstGeom>
          <a:noFill/>
          <a:ln/>
        </p:spPr>
        <p:txBody>
          <a:bodyPr wrap="square" lIns="0" tIns="0" rIns="0" bIns="0" rtlCol="0" anchor="t"/>
          <a:lstStyle/>
          <a:p>
            <a:pPr indent="0" marL="0">
              <a:lnSpc>
                <a:spcPts val="1988"/>
              </a:lnSpc>
              <a:buNone/>
            </a:pPr>
            <a:r>
              <a:rPr lang="en-US" sz="1400" dirty="0">
                <a:solidFill>
                  <a:srgbClr val="5B6270"/>
                </a:solidFill>
                <a:latin typeface="Public Sans" pitchFamily="34" charset="0"/>
                <a:ea typeface="Public Sans" pitchFamily="34" charset="-122"/>
                <a:cs typeface="Public Sans" pitchFamily="34" charset="-120"/>
              </a:rPr>
              <a:t>If a step is you copying a number between two screens, that is the step.</a:t>
            </a:r>
            <a:endParaRPr lang="en-US" sz="1400" dirty="0"/>
          </a:p>
        </p:txBody>
      </p:sp>
      <p:sp>
        <p:nvSpPr>
          <p:cNvPr id="19" name="Text 16"/>
          <p:cNvSpPr txBox="1"/>
          <p:nvPr/>
        </p:nvSpPr>
        <p:spPr>
          <a:xfrm>
            <a:off x="777240" y="6291072"/>
            <a:ext cx="10637215" cy="274320"/>
          </a:xfrm>
          <a:prstGeom prst="rect">
            <a:avLst/>
          </a:prstGeom>
          <a:noFill/>
          <a:ln/>
        </p:spPr>
        <p:txBody>
          <a:bodyPr wrap="square" lIns="0" tIns="0" rIns="0" bIns="0" rtlCol="0" anchor="ctr"/>
          <a:lstStyle/>
          <a:p>
            <a:pPr indent="0" marL="0">
              <a:buNone/>
            </a:pPr>
            <a:r>
              <a:rPr lang="en-US" sz="950" spc="100" kern="0" dirty="0">
                <a:solidFill>
                  <a:srgbClr val="6B6D72"/>
                </a:solidFill>
                <a:latin typeface="Courier New" pitchFamily="34" charset="0"/>
                <a:ea typeface="Courier New" pitchFamily="34" charset="-122"/>
                <a:cs typeface="Courier New" pitchFamily="34" charset="-120"/>
              </a:rPr>
              <a:t>16</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77240" y="420624"/>
            <a:ext cx="8229600" cy="274320"/>
          </a:xfrm>
          <a:prstGeom prst="rect">
            <a:avLst/>
          </a:prstGeom>
          <a:noFill/>
          <a:ln/>
        </p:spPr>
        <p:txBody>
          <a:bodyPr wrap="square" lIns="0" tIns="0" rIns="0" bIns="0" rtlCol="0" anchor="ctr"/>
          <a:lstStyle/>
          <a:p>
            <a:pPr indent="0" marL="0">
              <a:buNone/>
            </a:pPr>
            <a:r>
              <a:rPr lang="en-US" sz="1100" spc="200" kern="0" dirty="0">
                <a:solidFill>
                  <a:srgbClr val="6055D8"/>
                </a:solidFill>
                <a:latin typeface="Courier New" pitchFamily="34" charset="0"/>
                <a:ea typeface="Courier New" pitchFamily="34" charset="-122"/>
                <a:cs typeface="Courier New" pitchFamily="34" charset="-120"/>
              </a:rPr>
              <a:t>WHAT THE LAYER PRODUCES</a:t>
            </a:r>
            <a:endParaRPr lang="en-US" sz="1100" dirty="0"/>
          </a:p>
        </p:txBody>
      </p:sp>
      <p:pic>
        <p:nvPicPr>
          <p:cNvPr id="3" name="Image 0" descr="/tmp/claude-0/-home-claude/e62a35b1-5075-553d-b086-acebfebc41ba/scratchpad/brand/meshpro-emblem-white.png">    </p:cNvPr>
          <p:cNvPicPr>
            <a:picLocks noChangeAspect="1"/>
          </p:cNvPicPr>
          <p:nvPr/>
        </p:nvPicPr>
        <p:blipFill>
          <a:blip r:embed="rId1"/>
          <a:stretch>
            <a:fillRect/>
          </a:stretch>
        </p:blipFill>
        <p:spPr>
          <a:xfrm>
            <a:off x="11140135" y="411480"/>
            <a:ext cx="384048" cy="374904"/>
          </a:xfrm>
          <a:prstGeom prst="rect">
            <a:avLst/>
          </a:prstGeom>
        </p:spPr>
      </p:pic>
      <p:sp>
        <p:nvSpPr>
          <p:cNvPr id="4" name="Text 1"/>
          <p:cNvSpPr txBox="1"/>
          <p:nvPr/>
        </p:nvSpPr>
        <p:spPr>
          <a:xfrm>
            <a:off x="777240" y="868680"/>
            <a:ext cx="9951415" cy="914400"/>
          </a:xfrm>
          <a:prstGeom prst="rect">
            <a:avLst/>
          </a:prstGeom>
          <a:noFill/>
          <a:ln/>
        </p:spPr>
        <p:txBody>
          <a:bodyPr wrap="square" lIns="0" tIns="0" rIns="0" bIns="0" rtlCol="0" anchor="ctr"/>
          <a:lstStyle/>
          <a:p>
            <a:pPr indent="0" marL="0">
              <a:lnSpc>
                <a:spcPts val="3596"/>
              </a:lnSpc>
              <a:buNone/>
            </a:pPr>
            <a:r>
              <a:rPr lang="en-US" sz="3100" b="1" dirty="0">
                <a:solidFill>
                  <a:srgbClr val="15171F"/>
                </a:solidFill>
                <a:latin typeface="Public Sans" pitchFamily="34" charset="0"/>
                <a:ea typeface="Public Sans" pitchFamily="34" charset="-122"/>
                <a:cs typeface="Public Sans" pitchFamily="34" charset="-120"/>
              </a:rPr>
              <a:t>Workflows and projects belong to a department</a:t>
            </a:r>
            <a:endParaRPr lang="en-US" sz="3100" dirty="0"/>
          </a:p>
        </p:txBody>
      </p:sp>
      <p:sp>
        <p:nvSpPr>
          <p:cNvPr id="5" name="Text 2"/>
          <p:cNvSpPr txBox="1"/>
          <p:nvPr/>
        </p:nvSpPr>
        <p:spPr>
          <a:xfrm>
            <a:off x="777240" y="1627632"/>
            <a:ext cx="10637215" cy="566928"/>
          </a:xfrm>
          <a:prstGeom prst="rect">
            <a:avLst/>
          </a:prstGeom>
          <a:noFill/>
          <a:ln/>
        </p:spPr>
        <p:txBody>
          <a:bodyPr wrap="square" lIns="0" tIns="0" rIns="0" bIns="0" rtlCol="0" anchor="ctr"/>
          <a:lstStyle/>
          <a:p>
            <a:pPr indent="0" marL="0">
              <a:lnSpc>
                <a:spcPts val="2300"/>
              </a:lnSpc>
              <a:buNone/>
            </a:pPr>
            <a:r>
              <a:rPr lang="en-US" sz="1600" dirty="0">
                <a:solidFill>
                  <a:srgbClr val="5B6270"/>
                </a:solidFill>
                <a:latin typeface="Public Sans" pitchFamily="34" charset="0"/>
                <a:ea typeface="Public Sans" pitchFamily="34" charset="-122"/>
                <a:cs typeface="Public Sans" pitchFamily="34" charset="-120"/>
              </a:rPr>
              <a:t>A workflow is how work happens. A project is work with an end.</a:t>
            </a:r>
            <a:endParaRPr lang="en-US" sz="1600" dirty="0"/>
          </a:p>
        </p:txBody>
      </p:sp>
      <p:pic>
        <p:nvPicPr>
          <p:cNvPr id="6" name="Image 1" descr="/tmp/claude-0/-home-claude/e62a35b1-5075-553d-b086-acebfebc41ba/scratchpad/deck/n-steps.png">    </p:cNvPr>
          <p:cNvPicPr>
            <a:picLocks noChangeAspect="1"/>
          </p:cNvPicPr>
          <p:nvPr/>
        </p:nvPicPr>
        <p:blipFill>
          <a:blip r:embed="rId2"/>
          <a:stretch>
            <a:fillRect/>
          </a:stretch>
        </p:blipFill>
        <p:spPr>
          <a:xfrm>
            <a:off x="777240" y="2286000"/>
            <a:ext cx="6172200" cy="3794760"/>
          </a:xfrm>
          <a:prstGeom prst="rect">
            <a:avLst/>
          </a:prstGeom>
        </p:spPr>
      </p:pic>
      <p:sp>
        <p:nvSpPr>
          <p:cNvPr id="7" name="Shape 3"/>
          <p:cNvSpPr/>
          <p:nvPr/>
        </p:nvSpPr>
        <p:spPr>
          <a:xfrm>
            <a:off x="7242048" y="2231136"/>
            <a:ext cx="4169664" cy="1961769"/>
          </a:xfrm>
          <a:prstGeom prst="roundRect">
            <a:avLst>
              <a:gd name="adj" fmla="val 2797"/>
            </a:avLst>
          </a:prstGeom>
          <a:solidFill>
            <a:srgbClr val="F4F5F8"/>
          </a:solidFill>
          <a:ln w="12700">
            <a:solidFill>
              <a:srgbClr val="E4E6EC"/>
            </a:solidFill>
            <a:prstDash val="solid"/>
          </a:ln>
        </p:spPr>
      </p:sp>
      <p:sp>
        <p:nvSpPr>
          <p:cNvPr id="8" name="Text 4"/>
          <p:cNvSpPr txBox="1"/>
          <p:nvPr/>
        </p:nvSpPr>
        <p:spPr>
          <a:xfrm>
            <a:off x="7516368" y="2505456"/>
            <a:ext cx="3621024" cy="219456"/>
          </a:xfrm>
          <a:prstGeom prst="rect">
            <a:avLst/>
          </a:prstGeom>
          <a:noFill/>
          <a:ln/>
        </p:spPr>
        <p:txBody>
          <a:bodyPr wrap="square" lIns="0" tIns="0" rIns="0" bIns="0" rtlCol="0" anchor="ctr"/>
          <a:lstStyle/>
          <a:p>
            <a:pPr indent="0" marL="0">
              <a:buNone/>
            </a:pPr>
            <a:r>
              <a:rPr lang="en-US" sz="950" spc="140" kern="0" dirty="0">
                <a:solidFill>
                  <a:srgbClr val="6055D8"/>
                </a:solidFill>
                <a:latin typeface="Courier New" pitchFamily="34" charset="0"/>
                <a:ea typeface="Courier New" pitchFamily="34" charset="-122"/>
                <a:cs typeface="Courier New" pitchFamily="34" charset="-120"/>
              </a:rPr>
              <a:t>CLICK ONE OPEN</a:t>
            </a:r>
            <a:endParaRPr lang="en-US" sz="950" dirty="0"/>
          </a:p>
        </p:txBody>
      </p:sp>
      <p:sp>
        <p:nvSpPr>
          <p:cNvPr id="9" name="Text 5"/>
          <p:cNvSpPr txBox="1"/>
          <p:nvPr/>
        </p:nvSpPr>
        <p:spPr>
          <a:xfrm>
            <a:off x="7516368" y="2798064"/>
            <a:ext cx="3621024" cy="243840"/>
          </a:xfrm>
          <a:prstGeom prst="rect">
            <a:avLst/>
          </a:prstGeom>
          <a:noFill/>
          <a:ln/>
        </p:spPr>
        <p:txBody>
          <a:bodyPr wrap="square" lIns="0" tIns="0" rIns="0" bIns="0" rtlCol="0" anchor="t"/>
          <a:lstStyle/>
          <a:p>
            <a:pPr indent="0" marL="0">
              <a:lnSpc>
                <a:spcPts val="1920"/>
              </a:lnSpc>
              <a:buNone/>
            </a:pPr>
            <a:r>
              <a:rPr lang="en-US" sz="1600" b="1" dirty="0">
                <a:solidFill>
                  <a:srgbClr val="15171F"/>
                </a:solidFill>
                <a:latin typeface="Public Sans" pitchFamily="34" charset="0"/>
                <a:ea typeface="Public Sans" pitchFamily="34" charset="-122"/>
                <a:cs typeface="Public Sans" pitchFamily="34" charset="-120"/>
              </a:rPr>
              <a:t>The steps draw themselves</a:t>
            </a:r>
            <a:endParaRPr lang="en-US" sz="1600" dirty="0"/>
          </a:p>
        </p:txBody>
      </p:sp>
      <p:sp>
        <p:nvSpPr>
          <p:cNvPr id="10" name="Text 6"/>
          <p:cNvSpPr txBox="1"/>
          <p:nvPr/>
        </p:nvSpPr>
        <p:spPr>
          <a:xfrm>
            <a:off x="7516368" y="3169920"/>
            <a:ext cx="3621024" cy="766953"/>
          </a:xfrm>
          <a:prstGeom prst="rect">
            <a:avLst/>
          </a:prstGeom>
          <a:noFill/>
          <a:ln/>
        </p:spPr>
        <p:txBody>
          <a:bodyPr wrap="square" lIns="0" tIns="0" rIns="0" bIns="0" rtlCol="0" anchor="t"/>
          <a:lstStyle/>
          <a:p>
            <a:pPr indent="0" marL="0">
              <a:lnSpc>
                <a:spcPts val="1917"/>
              </a:lnSpc>
              <a:buNone/>
            </a:pPr>
            <a:r>
              <a:rPr lang="en-US" sz="1350" dirty="0">
                <a:solidFill>
                  <a:srgbClr val="5B6270"/>
                </a:solidFill>
                <a:latin typeface="Public Sans" pitchFamily="34" charset="0"/>
                <a:ea typeface="Public Sans" pitchFamily="34" charset="-122"/>
                <a:cs typeface="Public Sans" pitchFamily="34" charset="-120"/>
              </a:rPr>
              <a:t>Out of that note’s own step table. No diagram anywhere can say something the note does not.</a:t>
            </a:r>
            <a:endParaRPr lang="en-US" sz="1350" dirty="0"/>
          </a:p>
        </p:txBody>
      </p:sp>
      <p:sp>
        <p:nvSpPr>
          <p:cNvPr id="11" name="Shape 7"/>
          <p:cNvSpPr/>
          <p:nvPr/>
        </p:nvSpPr>
        <p:spPr>
          <a:xfrm>
            <a:off x="7242048" y="4412361"/>
            <a:ext cx="4169664" cy="1718310"/>
          </a:xfrm>
          <a:prstGeom prst="roundRect">
            <a:avLst>
              <a:gd name="adj" fmla="val 3193"/>
            </a:avLst>
          </a:prstGeom>
          <a:solidFill>
            <a:srgbClr val="F4F5F8"/>
          </a:solidFill>
          <a:ln w="12700">
            <a:solidFill>
              <a:srgbClr val="E4E6EC"/>
            </a:solidFill>
            <a:prstDash val="solid"/>
          </a:ln>
        </p:spPr>
      </p:sp>
      <p:sp>
        <p:nvSpPr>
          <p:cNvPr id="12" name="Text 8"/>
          <p:cNvSpPr txBox="1"/>
          <p:nvPr/>
        </p:nvSpPr>
        <p:spPr>
          <a:xfrm>
            <a:off x="7516368" y="4686681"/>
            <a:ext cx="3621024" cy="219456"/>
          </a:xfrm>
          <a:prstGeom prst="rect">
            <a:avLst/>
          </a:prstGeom>
          <a:noFill/>
          <a:ln/>
        </p:spPr>
        <p:txBody>
          <a:bodyPr wrap="square" lIns="0" tIns="0" rIns="0" bIns="0" rtlCol="0" anchor="ctr"/>
          <a:lstStyle/>
          <a:p>
            <a:pPr indent="0" marL="0">
              <a:buNone/>
            </a:pPr>
            <a:r>
              <a:rPr lang="en-US" sz="950" spc="140" kern="0" dirty="0">
                <a:solidFill>
                  <a:srgbClr val="6055D8"/>
                </a:solidFill>
                <a:latin typeface="Courier New" pitchFamily="34" charset="0"/>
                <a:ea typeface="Courier New" pitchFamily="34" charset="-122"/>
                <a:cs typeface="Courier New" pitchFamily="34" charset="-120"/>
              </a:rPr>
              <a:t>TWO MARKS, NOT ONE</a:t>
            </a:r>
            <a:endParaRPr lang="en-US" sz="950" dirty="0"/>
          </a:p>
        </p:txBody>
      </p:sp>
      <p:sp>
        <p:nvSpPr>
          <p:cNvPr id="13" name="Text 9"/>
          <p:cNvSpPr txBox="1"/>
          <p:nvPr/>
        </p:nvSpPr>
        <p:spPr>
          <a:xfrm>
            <a:off x="7516368" y="4979289"/>
            <a:ext cx="3621024" cy="243840"/>
          </a:xfrm>
          <a:prstGeom prst="rect">
            <a:avLst/>
          </a:prstGeom>
          <a:noFill/>
          <a:ln/>
        </p:spPr>
        <p:txBody>
          <a:bodyPr wrap="square" lIns="0" tIns="0" rIns="0" bIns="0" rtlCol="0" anchor="t"/>
          <a:lstStyle/>
          <a:p>
            <a:pPr indent="0" marL="0">
              <a:lnSpc>
                <a:spcPts val="1920"/>
              </a:lnSpc>
              <a:buNone/>
            </a:pPr>
            <a:r>
              <a:rPr lang="en-US" sz="1600" b="1" dirty="0">
                <a:solidFill>
                  <a:srgbClr val="15171F"/>
                </a:solidFill>
                <a:latin typeface="Public Sans" pitchFamily="34" charset="0"/>
                <a:ea typeface="Public Sans" pitchFamily="34" charset="-122"/>
                <a:cs typeface="Public Sans" pitchFamily="34" charset="-120"/>
              </a:rPr>
              <a:t>Written down is not working</a:t>
            </a:r>
            <a:endParaRPr lang="en-US" sz="1600" dirty="0"/>
          </a:p>
        </p:txBody>
      </p:sp>
      <p:sp>
        <p:nvSpPr>
          <p:cNvPr id="14" name="Text 10"/>
          <p:cNvSpPr txBox="1"/>
          <p:nvPr/>
        </p:nvSpPr>
        <p:spPr>
          <a:xfrm>
            <a:off x="7516368" y="5351145"/>
            <a:ext cx="3621024" cy="523494"/>
          </a:xfrm>
          <a:prstGeom prst="rect">
            <a:avLst/>
          </a:prstGeom>
          <a:noFill/>
          <a:ln/>
        </p:spPr>
        <p:txBody>
          <a:bodyPr wrap="square" lIns="0" tIns="0" rIns="0" bIns="0" rtlCol="0" anchor="t"/>
          <a:lstStyle/>
          <a:p>
            <a:pPr indent="0" marL="0">
              <a:lnSpc>
                <a:spcPts val="1917"/>
              </a:lnSpc>
              <a:buNone/>
            </a:pPr>
            <a:r>
              <a:rPr lang="en-US" sz="1350" dirty="0">
                <a:solidFill>
                  <a:srgbClr val="5B6270"/>
                </a:solidFill>
                <a:latin typeface="Public Sans" pitchFamily="34" charset="0"/>
                <a:ea typeface="Public Sans" pitchFamily="34" charset="-122"/>
                <a:cs typeface="Public Sans" pitchFamily="34" charset="-120"/>
              </a:rPr>
              <a:t>Is the note true? Only after one real case. Does it run end to end? A different question.</a:t>
            </a:r>
            <a:endParaRPr lang="en-US" sz="1350" dirty="0"/>
          </a:p>
        </p:txBody>
      </p:sp>
      <p:sp>
        <p:nvSpPr>
          <p:cNvPr id="15" name="Text 11"/>
          <p:cNvSpPr txBox="1"/>
          <p:nvPr/>
        </p:nvSpPr>
        <p:spPr>
          <a:xfrm>
            <a:off x="777240" y="6291072"/>
            <a:ext cx="10637215" cy="274320"/>
          </a:xfrm>
          <a:prstGeom prst="rect">
            <a:avLst/>
          </a:prstGeom>
          <a:noFill/>
          <a:ln/>
        </p:spPr>
        <p:txBody>
          <a:bodyPr wrap="square" lIns="0" tIns="0" rIns="0" bIns="0" rtlCol="0" anchor="ctr"/>
          <a:lstStyle/>
          <a:p>
            <a:pPr indent="0" marL="0">
              <a:buNone/>
            </a:pPr>
            <a:r>
              <a:rPr lang="en-US" sz="950" spc="100" kern="0" dirty="0">
                <a:solidFill>
                  <a:srgbClr val="6B6D72"/>
                </a:solidFill>
                <a:latin typeface="Courier New" pitchFamily="34" charset="0"/>
                <a:ea typeface="Courier New" pitchFamily="34" charset="-122"/>
                <a:cs typeface="Courier New" pitchFamily="34" charset="-120"/>
              </a:rPr>
              <a:t>17</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77240" y="420624"/>
            <a:ext cx="8229600" cy="274320"/>
          </a:xfrm>
          <a:prstGeom prst="rect">
            <a:avLst/>
          </a:prstGeom>
          <a:noFill/>
          <a:ln/>
        </p:spPr>
        <p:txBody>
          <a:bodyPr wrap="square" lIns="0" tIns="0" rIns="0" bIns="0" rtlCol="0" anchor="ctr"/>
          <a:lstStyle/>
          <a:p>
            <a:pPr indent="0" marL="0">
              <a:buNone/>
            </a:pPr>
            <a:r>
              <a:rPr lang="en-US" sz="1100" spc="200" kern="0" dirty="0">
                <a:solidFill>
                  <a:srgbClr val="6055D8"/>
                </a:solidFill>
                <a:latin typeface="Courier New" pitchFamily="34" charset="0"/>
                <a:ea typeface="Courier New" pitchFamily="34" charset="-122"/>
                <a:cs typeface="Courier New" pitchFamily="34" charset="-120"/>
              </a:rPr>
              <a:t>THE MAP</a:t>
            </a:r>
            <a:endParaRPr lang="en-US" sz="1100" dirty="0"/>
          </a:p>
        </p:txBody>
      </p:sp>
      <p:pic>
        <p:nvPicPr>
          <p:cNvPr id="3" name="Image 0" descr="/tmp/claude-0/-home-claude/e62a35b1-5075-553d-b086-acebfebc41ba/scratchpad/brand/meshpro-emblem-white.png">    </p:cNvPr>
          <p:cNvPicPr>
            <a:picLocks noChangeAspect="1"/>
          </p:cNvPicPr>
          <p:nvPr/>
        </p:nvPicPr>
        <p:blipFill>
          <a:blip r:embed="rId1"/>
          <a:stretch>
            <a:fillRect/>
          </a:stretch>
        </p:blipFill>
        <p:spPr>
          <a:xfrm>
            <a:off x="11140135" y="411480"/>
            <a:ext cx="384048" cy="374904"/>
          </a:xfrm>
          <a:prstGeom prst="rect">
            <a:avLst/>
          </a:prstGeom>
        </p:spPr>
      </p:pic>
      <p:sp>
        <p:nvSpPr>
          <p:cNvPr id="4" name="Text 1"/>
          <p:cNvSpPr txBox="1"/>
          <p:nvPr/>
        </p:nvSpPr>
        <p:spPr>
          <a:xfrm>
            <a:off x="777240" y="868680"/>
            <a:ext cx="9951415" cy="914400"/>
          </a:xfrm>
          <a:prstGeom prst="rect">
            <a:avLst/>
          </a:prstGeom>
          <a:noFill/>
          <a:ln/>
        </p:spPr>
        <p:txBody>
          <a:bodyPr wrap="square" lIns="0" tIns="0" rIns="0" bIns="0" rtlCol="0" anchor="ctr"/>
          <a:lstStyle/>
          <a:p>
            <a:pPr indent="0" marL="0">
              <a:lnSpc>
                <a:spcPts val="3712"/>
              </a:lnSpc>
              <a:buNone/>
            </a:pPr>
            <a:r>
              <a:rPr lang="en-US" sz="3200" b="1" dirty="0">
                <a:solidFill>
                  <a:srgbClr val="15171F"/>
                </a:solidFill>
                <a:latin typeface="Public Sans" pitchFamily="34" charset="0"/>
                <a:ea typeface="Public Sans" pitchFamily="34" charset="-122"/>
                <a:cs typeface="Public Sans" pitchFamily="34" charset="-120"/>
              </a:rPr>
              <a:t>Where all of it lives</a:t>
            </a:r>
            <a:endParaRPr lang="en-US" sz="3200" dirty="0"/>
          </a:p>
        </p:txBody>
      </p:sp>
      <p:sp>
        <p:nvSpPr>
          <p:cNvPr id="5" name="Text 2"/>
          <p:cNvSpPr txBox="1"/>
          <p:nvPr/>
        </p:nvSpPr>
        <p:spPr>
          <a:xfrm>
            <a:off x="777240" y="1664208"/>
            <a:ext cx="10637215" cy="566928"/>
          </a:xfrm>
          <a:prstGeom prst="rect">
            <a:avLst/>
          </a:prstGeom>
          <a:noFill/>
          <a:ln/>
        </p:spPr>
        <p:txBody>
          <a:bodyPr wrap="square" lIns="0" tIns="0" rIns="0" bIns="0" rtlCol="0" anchor="ctr"/>
          <a:lstStyle/>
          <a:p>
            <a:pPr indent="0" marL="0">
              <a:lnSpc>
                <a:spcPts val="2300"/>
              </a:lnSpc>
              <a:buNone/>
            </a:pPr>
            <a:r>
              <a:rPr lang="en-US" sz="1600" dirty="0">
                <a:solidFill>
                  <a:srgbClr val="5B6270"/>
                </a:solidFill>
                <a:latin typeface="Public Sans" pitchFamily="34" charset="0"/>
                <a:ea typeface="Public Sans" pitchFamily="34" charset="-122"/>
                <a:cs typeface="Public Sans" pitchFamily="34" charset="-120"/>
              </a:rPr>
              <a:t>Plain files in your folder. Two kinds: the ones you and your agents write, and the ones that are written for you.</a:t>
            </a:r>
            <a:endParaRPr lang="en-US" sz="1600" dirty="0"/>
          </a:p>
        </p:txBody>
      </p:sp>
      <p:sp>
        <p:nvSpPr>
          <p:cNvPr id="6" name="Text 3"/>
          <p:cNvSpPr txBox="1"/>
          <p:nvPr/>
        </p:nvSpPr>
        <p:spPr>
          <a:xfrm>
            <a:off x="777240" y="2359152"/>
            <a:ext cx="5257800" cy="237744"/>
          </a:xfrm>
          <a:prstGeom prst="rect">
            <a:avLst/>
          </a:prstGeom>
          <a:noFill/>
          <a:ln/>
        </p:spPr>
        <p:txBody>
          <a:bodyPr wrap="square" lIns="0" tIns="0" rIns="0" bIns="0" rtlCol="0" anchor="ctr"/>
          <a:lstStyle/>
          <a:p>
            <a:pPr indent="0" marL="0">
              <a:buNone/>
            </a:pPr>
            <a:r>
              <a:rPr lang="en-US" sz="1400" b="1" dirty="0">
                <a:solidFill>
                  <a:srgbClr val="15171F"/>
                </a:solidFill>
                <a:latin typeface="Public Sans" pitchFamily="34" charset="0"/>
                <a:ea typeface="Public Sans" pitchFamily="34" charset="-122"/>
                <a:cs typeface="Public Sans" pitchFamily="34" charset="-120"/>
              </a:rPr>
              <a:t>A department</a:t>
            </a:r>
            <a:endParaRPr lang="en-US" sz="1400" dirty="0"/>
          </a:p>
        </p:txBody>
      </p:sp>
      <p:sp>
        <p:nvSpPr>
          <p:cNvPr id="7" name="Text 4"/>
          <p:cNvSpPr txBox="1"/>
          <p:nvPr/>
        </p:nvSpPr>
        <p:spPr>
          <a:xfrm>
            <a:off x="777240" y="2592324"/>
            <a:ext cx="5257800" cy="237744"/>
          </a:xfrm>
          <a:prstGeom prst="rect">
            <a:avLst/>
          </a:prstGeom>
          <a:noFill/>
          <a:ln/>
        </p:spPr>
        <p:txBody>
          <a:bodyPr wrap="square" lIns="0" tIns="0" rIns="0" bIns="0" rtlCol="0" anchor="ctr"/>
          <a:lstStyle/>
          <a:p>
            <a:pPr indent="0" marL="0">
              <a:buNone/>
            </a:pPr>
            <a:r>
              <a:rPr lang="en-US" sz="1150" dirty="0">
                <a:solidFill>
                  <a:srgbClr val="6055D8"/>
                </a:solidFill>
                <a:latin typeface="Courier New" pitchFamily="34" charset="0"/>
                <a:ea typeface="Courier New" pitchFamily="34" charset="-122"/>
                <a:cs typeface="Courier New" pitchFamily="34" charset="-120"/>
              </a:rPr>
              <a:t>01 - Company/Departments/{Name}.md</a:t>
            </a:r>
            <a:endParaRPr lang="en-US" sz="1150" dirty="0"/>
          </a:p>
        </p:txBody>
      </p:sp>
      <p:sp>
        <p:nvSpPr>
          <p:cNvPr id="8" name="Text 5"/>
          <p:cNvSpPr txBox="1"/>
          <p:nvPr/>
        </p:nvSpPr>
        <p:spPr>
          <a:xfrm>
            <a:off x="777240" y="2980944"/>
            <a:ext cx="5257800" cy="237744"/>
          </a:xfrm>
          <a:prstGeom prst="rect">
            <a:avLst/>
          </a:prstGeom>
          <a:noFill/>
          <a:ln/>
        </p:spPr>
        <p:txBody>
          <a:bodyPr wrap="square" lIns="0" tIns="0" rIns="0" bIns="0" rtlCol="0" anchor="ctr"/>
          <a:lstStyle/>
          <a:p>
            <a:pPr indent="0" marL="0">
              <a:buNone/>
            </a:pPr>
            <a:r>
              <a:rPr lang="en-US" sz="1400" b="1" dirty="0">
                <a:solidFill>
                  <a:srgbClr val="15171F"/>
                </a:solidFill>
                <a:latin typeface="Public Sans" pitchFamily="34" charset="0"/>
                <a:ea typeface="Public Sans" pitchFamily="34" charset="-122"/>
                <a:cs typeface="Public Sans" pitchFamily="34" charset="-120"/>
              </a:rPr>
              <a:t>An executive</a:t>
            </a:r>
            <a:endParaRPr lang="en-US" sz="1400" dirty="0"/>
          </a:p>
        </p:txBody>
      </p:sp>
      <p:sp>
        <p:nvSpPr>
          <p:cNvPr id="9" name="Text 6"/>
          <p:cNvSpPr txBox="1"/>
          <p:nvPr/>
        </p:nvSpPr>
        <p:spPr>
          <a:xfrm>
            <a:off x="777240" y="3214116"/>
            <a:ext cx="5257800" cy="237744"/>
          </a:xfrm>
          <a:prstGeom prst="rect">
            <a:avLst/>
          </a:prstGeom>
          <a:noFill/>
          <a:ln/>
        </p:spPr>
        <p:txBody>
          <a:bodyPr wrap="square" lIns="0" tIns="0" rIns="0" bIns="0" rtlCol="0" anchor="ctr"/>
          <a:lstStyle/>
          <a:p>
            <a:pPr indent="0" marL="0">
              <a:buNone/>
            </a:pPr>
            <a:r>
              <a:rPr lang="en-US" sz="1150" dirty="0">
                <a:solidFill>
                  <a:srgbClr val="6055D8"/>
                </a:solidFill>
                <a:latin typeface="Courier New" pitchFamily="34" charset="0"/>
                <a:ea typeface="Courier New" pitchFamily="34" charset="-122"/>
                <a:cs typeface="Courier New" pitchFamily="34" charset="-120"/>
              </a:rPr>
              <a:t>01 - Company/Roles/{Name}.md</a:t>
            </a:r>
            <a:endParaRPr lang="en-US" sz="1150" dirty="0"/>
          </a:p>
        </p:txBody>
      </p:sp>
      <p:sp>
        <p:nvSpPr>
          <p:cNvPr id="10" name="Text 7"/>
          <p:cNvSpPr txBox="1"/>
          <p:nvPr/>
        </p:nvSpPr>
        <p:spPr>
          <a:xfrm>
            <a:off x="777240" y="3602736"/>
            <a:ext cx="5257800" cy="237744"/>
          </a:xfrm>
          <a:prstGeom prst="rect">
            <a:avLst/>
          </a:prstGeom>
          <a:noFill/>
          <a:ln/>
        </p:spPr>
        <p:txBody>
          <a:bodyPr wrap="square" lIns="0" tIns="0" rIns="0" bIns="0" rtlCol="0" anchor="ctr"/>
          <a:lstStyle/>
          <a:p>
            <a:pPr indent="0" marL="0">
              <a:buNone/>
            </a:pPr>
            <a:r>
              <a:rPr lang="en-US" sz="1400" b="1" dirty="0">
                <a:solidFill>
                  <a:srgbClr val="15171F"/>
                </a:solidFill>
                <a:latin typeface="Public Sans" pitchFamily="34" charset="0"/>
                <a:ea typeface="Public Sans" pitchFamily="34" charset="-122"/>
                <a:cs typeface="Public Sans" pitchFamily="34" charset="-120"/>
              </a:rPr>
              <a:t>A specialist</a:t>
            </a:r>
            <a:endParaRPr lang="en-US" sz="1400" dirty="0"/>
          </a:p>
        </p:txBody>
      </p:sp>
      <p:sp>
        <p:nvSpPr>
          <p:cNvPr id="11" name="Text 8"/>
          <p:cNvSpPr txBox="1"/>
          <p:nvPr/>
        </p:nvSpPr>
        <p:spPr>
          <a:xfrm>
            <a:off x="777240" y="3835908"/>
            <a:ext cx="5257800" cy="237744"/>
          </a:xfrm>
          <a:prstGeom prst="rect">
            <a:avLst/>
          </a:prstGeom>
          <a:noFill/>
          <a:ln/>
        </p:spPr>
        <p:txBody>
          <a:bodyPr wrap="square" lIns="0" tIns="0" rIns="0" bIns="0" rtlCol="0" anchor="ctr"/>
          <a:lstStyle/>
          <a:p>
            <a:pPr indent="0" marL="0">
              <a:buNone/>
            </a:pPr>
            <a:r>
              <a:rPr lang="en-US" sz="1150" dirty="0">
                <a:solidFill>
                  <a:srgbClr val="6055D8"/>
                </a:solidFill>
                <a:latin typeface="Courier New" pitchFamily="34" charset="0"/>
                <a:ea typeface="Courier New" pitchFamily="34" charset="-122"/>
                <a:cs typeface="Courier New" pitchFamily="34" charset="-120"/>
              </a:rPr>
              <a:t>01 - Company/Roles/{Name}.md</a:t>
            </a:r>
            <a:pPr indent="0" marL="0">
              <a:buNone/>
            </a:pPr>
            <a:r>
              <a:rPr lang="en-US" sz="1150" dirty="0">
                <a:solidFill>
                  <a:srgbClr val="9AA1AD"/>
                </a:solidFill>
                <a:latin typeface="Courier New" pitchFamily="34" charset="0"/>
                <a:ea typeface="Courier New" pitchFamily="34" charset="-122"/>
                <a:cs typeface="Courier New" pitchFamily="34" charset="-120"/>
              </a:rPr>
              <a:t>   kind: specialist</a:t>
            </a:r>
            <a:endParaRPr lang="en-US" sz="1150" dirty="0"/>
          </a:p>
        </p:txBody>
      </p:sp>
      <p:sp>
        <p:nvSpPr>
          <p:cNvPr id="12" name="Text 9"/>
          <p:cNvSpPr txBox="1"/>
          <p:nvPr/>
        </p:nvSpPr>
        <p:spPr>
          <a:xfrm>
            <a:off x="777240" y="4224528"/>
            <a:ext cx="5257800" cy="237744"/>
          </a:xfrm>
          <a:prstGeom prst="rect">
            <a:avLst/>
          </a:prstGeom>
          <a:noFill/>
          <a:ln/>
        </p:spPr>
        <p:txBody>
          <a:bodyPr wrap="square" lIns="0" tIns="0" rIns="0" bIns="0" rtlCol="0" anchor="ctr"/>
          <a:lstStyle/>
          <a:p>
            <a:pPr indent="0" marL="0">
              <a:buNone/>
            </a:pPr>
            <a:r>
              <a:rPr lang="en-US" sz="1400" b="1" dirty="0">
                <a:solidFill>
                  <a:srgbClr val="15171F"/>
                </a:solidFill>
                <a:latin typeface="Public Sans" pitchFamily="34" charset="0"/>
                <a:ea typeface="Public Sans" pitchFamily="34" charset="-122"/>
                <a:cs typeface="Public Sans" pitchFamily="34" charset="-120"/>
              </a:rPr>
              <a:t>A skill</a:t>
            </a:r>
            <a:endParaRPr lang="en-US" sz="1400" dirty="0"/>
          </a:p>
        </p:txBody>
      </p:sp>
      <p:sp>
        <p:nvSpPr>
          <p:cNvPr id="13" name="Text 10"/>
          <p:cNvSpPr txBox="1"/>
          <p:nvPr/>
        </p:nvSpPr>
        <p:spPr>
          <a:xfrm>
            <a:off x="777240" y="4457700"/>
            <a:ext cx="5257800" cy="237744"/>
          </a:xfrm>
          <a:prstGeom prst="rect">
            <a:avLst/>
          </a:prstGeom>
          <a:noFill/>
          <a:ln/>
        </p:spPr>
        <p:txBody>
          <a:bodyPr wrap="square" lIns="0" tIns="0" rIns="0" bIns="0" rtlCol="0" anchor="ctr"/>
          <a:lstStyle/>
          <a:p>
            <a:pPr indent="0" marL="0">
              <a:buNone/>
            </a:pPr>
            <a:r>
              <a:rPr lang="en-US" sz="1150" dirty="0">
                <a:solidFill>
                  <a:srgbClr val="6055D8"/>
                </a:solidFill>
                <a:latin typeface="Courier New" pitchFamily="34" charset="0"/>
                <a:ea typeface="Courier New" pitchFamily="34" charset="-122"/>
                <a:cs typeface="Courier New" pitchFamily="34" charset="-120"/>
              </a:rPr>
              <a:t>.claude/skills/{name}/SKILL.md</a:t>
            </a:r>
            <a:endParaRPr lang="en-US" sz="1150" dirty="0"/>
          </a:p>
        </p:txBody>
      </p:sp>
      <p:sp>
        <p:nvSpPr>
          <p:cNvPr id="14" name="Text 11"/>
          <p:cNvSpPr txBox="1"/>
          <p:nvPr/>
        </p:nvSpPr>
        <p:spPr>
          <a:xfrm>
            <a:off x="777240" y="4846320"/>
            <a:ext cx="5257800" cy="237744"/>
          </a:xfrm>
          <a:prstGeom prst="rect">
            <a:avLst/>
          </a:prstGeom>
          <a:noFill/>
          <a:ln/>
        </p:spPr>
        <p:txBody>
          <a:bodyPr wrap="square" lIns="0" tIns="0" rIns="0" bIns="0" rtlCol="0" anchor="ctr"/>
          <a:lstStyle/>
          <a:p>
            <a:pPr indent="0" marL="0">
              <a:buNone/>
            </a:pPr>
            <a:r>
              <a:rPr lang="en-US" sz="1400" b="1" dirty="0">
                <a:solidFill>
                  <a:srgbClr val="15171F"/>
                </a:solidFill>
                <a:latin typeface="Public Sans" pitchFamily="34" charset="0"/>
                <a:ea typeface="Public Sans" pitchFamily="34" charset="-122"/>
                <a:cs typeface="Public Sans" pitchFamily="34" charset="-120"/>
              </a:rPr>
              <a:t>A workflow</a:t>
            </a:r>
            <a:endParaRPr lang="en-US" sz="1400" dirty="0"/>
          </a:p>
        </p:txBody>
      </p:sp>
      <p:sp>
        <p:nvSpPr>
          <p:cNvPr id="15" name="Text 12"/>
          <p:cNvSpPr txBox="1"/>
          <p:nvPr/>
        </p:nvSpPr>
        <p:spPr>
          <a:xfrm>
            <a:off x="777240" y="5079492"/>
            <a:ext cx="5257800" cy="237744"/>
          </a:xfrm>
          <a:prstGeom prst="rect">
            <a:avLst/>
          </a:prstGeom>
          <a:noFill/>
          <a:ln/>
        </p:spPr>
        <p:txBody>
          <a:bodyPr wrap="square" lIns="0" tIns="0" rIns="0" bIns="0" rtlCol="0" anchor="ctr"/>
          <a:lstStyle/>
          <a:p>
            <a:pPr indent="0" marL="0">
              <a:buNone/>
            </a:pPr>
            <a:r>
              <a:rPr lang="en-US" sz="1150" dirty="0">
                <a:solidFill>
                  <a:srgbClr val="6055D8"/>
                </a:solidFill>
                <a:latin typeface="Courier New" pitchFamily="34" charset="0"/>
                <a:ea typeface="Courier New" pitchFamily="34" charset="-122"/>
                <a:cs typeface="Courier New" pitchFamily="34" charset="-120"/>
              </a:rPr>
              <a:t>01 - Company/Workflows/{Name}.md</a:t>
            </a:r>
            <a:endParaRPr lang="en-US" sz="1150" dirty="0"/>
          </a:p>
        </p:txBody>
      </p:sp>
      <p:sp>
        <p:nvSpPr>
          <p:cNvPr id="16" name="Text 13"/>
          <p:cNvSpPr txBox="1"/>
          <p:nvPr/>
        </p:nvSpPr>
        <p:spPr>
          <a:xfrm>
            <a:off x="777240" y="5468112"/>
            <a:ext cx="5257800" cy="237744"/>
          </a:xfrm>
          <a:prstGeom prst="rect">
            <a:avLst/>
          </a:prstGeom>
          <a:noFill/>
          <a:ln/>
        </p:spPr>
        <p:txBody>
          <a:bodyPr wrap="square" lIns="0" tIns="0" rIns="0" bIns="0" rtlCol="0" anchor="ctr"/>
          <a:lstStyle/>
          <a:p>
            <a:pPr indent="0" marL="0">
              <a:buNone/>
            </a:pPr>
            <a:r>
              <a:rPr lang="en-US" sz="1400" b="1" dirty="0">
                <a:solidFill>
                  <a:srgbClr val="15171F"/>
                </a:solidFill>
                <a:latin typeface="Public Sans" pitchFamily="34" charset="0"/>
                <a:ea typeface="Public Sans" pitchFamily="34" charset="-122"/>
                <a:cs typeface="Public Sans" pitchFamily="34" charset="-120"/>
              </a:rPr>
              <a:t>A project</a:t>
            </a:r>
            <a:endParaRPr lang="en-US" sz="1400" dirty="0"/>
          </a:p>
        </p:txBody>
      </p:sp>
      <p:sp>
        <p:nvSpPr>
          <p:cNvPr id="17" name="Text 14"/>
          <p:cNvSpPr txBox="1"/>
          <p:nvPr/>
        </p:nvSpPr>
        <p:spPr>
          <a:xfrm>
            <a:off x="777240" y="5701284"/>
            <a:ext cx="5257800" cy="237744"/>
          </a:xfrm>
          <a:prstGeom prst="rect">
            <a:avLst/>
          </a:prstGeom>
          <a:noFill/>
          <a:ln/>
        </p:spPr>
        <p:txBody>
          <a:bodyPr wrap="square" lIns="0" tIns="0" rIns="0" bIns="0" rtlCol="0" anchor="ctr"/>
          <a:lstStyle/>
          <a:p>
            <a:pPr indent="0" marL="0">
              <a:buNone/>
            </a:pPr>
            <a:r>
              <a:rPr lang="en-US" sz="1150" dirty="0">
                <a:solidFill>
                  <a:srgbClr val="6055D8"/>
                </a:solidFill>
                <a:latin typeface="Courier New" pitchFamily="34" charset="0"/>
                <a:ea typeface="Courier New" pitchFamily="34" charset="-122"/>
                <a:cs typeface="Courier New" pitchFamily="34" charset="-120"/>
              </a:rPr>
              <a:t>02 - Work/{Name}.md</a:t>
            </a:r>
            <a:endParaRPr lang="en-US" sz="1150" dirty="0"/>
          </a:p>
        </p:txBody>
      </p:sp>
      <p:sp>
        <p:nvSpPr>
          <p:cNvPr id="18" name="Text 15"/>
          <p:cNvSpPr txBox="1"/>
          <p:nvPr/>
        </p:nvSpPr>
        <p:spPr>
          <a:xfrm>
            <a:off x="6583680" y="2359152"/>
            <a:ext cx="5257800" cy="237744"/>
          </a:xfrm>
          <a:prstGeom prst="rect">
            <a:avLst/>
          </a:prstGeom>
          <a:noFill/>
          <a:ln/>
        </p:spPr>
        <p:txBody>
          <a:bodyPr wrap="square" lIns="0" tIns="0" rIns="0" bIns="0" rtlCol="0" anchor="ctr"/>
          <a:lstStyle/>
          <a:p>
            <a:pPr indent="0" marL="0">
              <a:buNone/>
            </a:pPr>
            <a:r>
              <a:rPr lang="en-US" sz="1400" b="1" dirty="0">
                <a:solidFill>
                  <a:srgbClr val="15171F"/>
                </a:solidFill>
                <a:latin typeface="Public Sans" pitchFamily="34" charset="0"/>
                <a:ea typeface="Public Sans" pitchFamily="34" charset="-122"/>
                <a:cs typeface="Public Sans" pitchFamily="34" charset="-120"/>
              </a:rPr>
              <a:t>A decision</a:t>
            </a:r>
            <a:endParaRPr lang="en-US" sz="1400" dirty="0"/>
          </a:p>
        </p:txBody>
      </p:sp>
      <p:sp>
        <p:nvSpPr>
          <p:cNvPr id="19" name="Text 16"/>
          <p:cNvSpPr txBox="1"/>
          <p:nvPr/>
        </p:nvSpPr>
        <p:spPr>
          <a:xfrm>
            <a:off x="6583680" y="2592324"/>
            <a:ext cx="5257800" cy="237744"/>
          </a:xfrm>
          <a:prstGeom prst="rect">
            <a:avLst/>
          </a:prstGeom>
          <a:noFill/>
          <a:ln/>
        </p:spPr>
        <p:txBody>
          <a:bodyPr wrap="square" lIns="0" tIns="0" rIns="0" bIns="0" rtlCol="0" anchor="ctr"/>
          <a:lstStyle/>
          <a:p>
            <a:pPr indent="0" marL="0">
              <a:buNone/>
            </a:pPr>
            <a:r>
              <a:rPr lang="en-US" sz="1150" dirty="0">
                <a:solidFill>
                  <a:srgbClr val="6055D8"/>
                </a:solidFill>
                <a:latin typeface="Courier New" pitchFamily="34" charset="0"/>
                <a:ea typeface="Courier New" pitchFamily="34" charset="-122"/>
                <a:cs typeface="Courier New" pitchFamily="34" charset="-120"/>
              </a:rPr>
              <a:t>01 - Company/Decisions/{Name}.md</a:t>
            </a:r>
            <a:endParaRPr lang="en-US" sz="1150" dirty="0"/>
          </a:p>
        </p:txBody>
      </p:sp>
      <p:sp>
        <p:nvSpPr>
          <p:cNvPr id="20" name="Text 17"/>
          <p:cNvSpPr txBox="1"/>
          <p:nvPr/>
        </p:nvSpPr>
        <p:spPr>
          <a:xfrm>
            <a:off x="6583680" y="2980944"/>
            <a:ext cx="5257800" cy="237744"/>
          </a:xfrm>
          <a:prstGeom prst="rect">
            <a:avLst/>
          </a:prstGeom>
          <a:noFill/>
          <a:ln/>
        </p:spPr>
        <p:txBody>
          <a:bodyPr wrap="square" lIns="0" tIns="0" rIns="0" bIns="0" rtlCol="0" anchor="ctr"/>
          <a:lstStyle/>
          <a:p>
            <a:pPr indent="0" marL="0">
              <a:buNone/>
            </a:pPr>
            <a:r>
              <a:rPr lang="en-US" sz="1400" b="1" dirty="0">
                <a:solidFill>
                  <a:srgbClr val="15171F"/>
                </a:solidFill>
                <a:latin typeface="Public Sans" pitchFamily="34" charset="0"/>
                <a:ea typeface="Public Sans" pitchFamily="34" charset="-122"/>
                <a:cs typeface="Public Sans" pitchFamily="34" charset="-120"/>
              </a:rPr>
              <a:t>The rules they all inherit</a:t>
            </a:r>
            <a:endParaRPr lang="en-US" sz="1400" dirty="0"/>
          </a:p>
        </p:txBody>
      </p:sp>
      <p:sp>
        <p:nvSpPr>
          <p:cNvPr id="21" name="Text 18"/>
          <p:cNvSpPr txBox="1"/>
          <p:nvPr/>
        </p:nvSpPr>
        <p:spPr>
          <a:xfrm>
            <a:off x="6583680" y="3214116"/>
            <a:ext cx="5257800" cy="237744"/>
          </a:xfrm>
          <a:prstGeom prst="rect">
            <a:avLst/>
          </a:prstGeom>
          <a:noFill/>
          <a:ln/>
        </p:spPr>
        <p:txBody>
          <a:bodyPr wrap="square" lIns="0" tIns="0" rIns="0" bIns="0" rtlCol="0" anchor="ctr"/>
          <a:lstStyle/>
          <a:p>
            <a:pPr indent="0" marL="0">
              <a:buNone/>
            </a:pPr>
            <a:r>
              <a:rPr lang="en-US" sz="1150" dirty="0">
                <a:solidFill>
                  <a:srgbClr val="6055D8"/>
                </a:solidFill>
                <a:latin typeface="Courier New" pitchFamily="34" charset="0"/>
                <a:ea typeface="Courier New" pitchFamily="34" charset="-122"/>
                <a:cs typeface="Courier New" pitchFamily="34" charset="-120"/>
              </a:rPr>
              <a:t>CLAUDE.md</a:t>
            </a:r>
            <a:pPr indent="0" marL="0">
              <a:buNone/>
            </a:pPr>
            <a:r>
              <a:rPr lang="en-US" sz="1150" dirty="0">
                <a:solidFill>
                  <a:srgbClr val="9AA1AD"/>
                </a:solidFill>
                <a:latin typeface="Courier New" pitchFamily="34" charset="0"/>
                <a:ea typeface="Courier New" pitchFamily="34" charset="-122"/>
                <a:cs typeface="Courier New" pitchFamily="34" charset="-120"/>
              </a:rPr>
              <a:t>   at the top of the folder</a:t>
            </a:r>
            <a:endParaRPr lang="en-US" sz="1150" dirty="0"/>
          </a:p>
        </p:txBody>
      </p:sp>
      <p:sp>
        <p:nvSpPr>
          <p:cNvPr id="22" name="Text 19"/>
          <p:cNvSpPr txBox="1"/>
          <p:nvPr/>
        </p:nvSpPr>
        <p:spPr>
          <a:xfrm>
            <a:off x="6583680" y="3602736"/>
            <a:ext cx="5257800" cy="237744"/>
          </a:xfrm>
          <a:prstGeom prst="rect">
            <a:avLst/>
          </a:prstGeom>
          <a:noFill/>
          <a:ln/>
        </p:spPr>
        <p:txBody>
          <a:bodyPr wrap="square" lIns="0" tIns="0" rIns="0" bIns="0" rtlCol="0" anchor="ctr"/>
          <a:lstStyle/>
          <a:p>
            <a:pPr indent="0" marL="0">
              <a:buNone/>
            </a:pPr>
            <a:r>
              <a:rPr lang="en-US" sz="1400" b="1" dirty="0">
                <a:solidFill>
                  <a:srgbClr val="5B6270"/>
                </a:solidFill>
                <a:latin typeface="Public Sans" pitchFamily="34" charset="0"/>
                <a:ea typeface="Public Sans" pitchFamily="34" charset="-122"/>
                <a:cs typeface="Public Sans" pitchFamily="34" charset="-120"/>
              </a:rPr>
              <a:t>The agents that actually run</a:t>
            </a:r>
            <a:endParaRPr lang="en-US" sz="1400" dirty="0"/>
          </a:p>
        </p:txBody>
      </p:sp>
      <p:sp>
        <p:nvSpPr>
          <p:cNvPr id="23" name="Text 20"/>
          <p:cNvSpPr txBox="1"/>
          <p:nvPr/>
        </p:nvSpPr>
        <p:spPr>
          <a:xfrm>
            <a:off x="6583680" y="3835908"/>
            <a:ext cx="5257800" cy="237744"/>
          </a:xfrm>
          <a:prstGeom prst="rect">
            <a:avLst/>
          </a:prstGeom>
          <a:noFill/>
          <a:ln/>
        </p:spPr>
        <p:txBody>
          <a:bodyPr wrap="square" lIns="0" tIns="0" rIns="0" bIns="0" rtlCol="0" anchor="ctr"/>
          <a:lstStyle/>
          <a:p>
            <a:pPr indent="0" marL="0">
              <a:buNone/>
            </a:pPr>
            <a:r>
              <a:rPr lang="en-US" sz="1150" dirty="0">
                <a:solidFill>
                  <a:srgbClr val="5B6270"/>
                </a:solidFill>
                <a:latin typeface="Courier New" pitchFamily="34" charset="0"/>
                <a:ea typeface="Courier New" pitchFamily="34" charset="-122"/>
                <a:cs typeface="Courier New" pitchFamily="34" charset="-120"/>
              </a:rPr>
              <a:t>.claude/agents/{name}.md</a:t>
            </a:r>
            <a:pPr indent="0" marL="0">
              <a:buNone/>
            </a:pPr>
            <a:r>
              <a:rPr lang="en-US" sz="1150" dirty="0">
                <a:solidFill>
                  <a:srgbClr val="9AA1AD"/>
                </a:solidFill>
                <a:latin typeface="Courier New" pitchFamily="34" charset="0"/>
                <a:ea typeface="Courier New" pitchFamily="34" charset="-122"/>
                <a:cs typeface="Courier New" pitchFamily="34" charset="-120"/>
              </a:rPr>
              <a:t>   compiled from the roles</a:t>
            </a:r>
            <a:endParaRPr lang="en-US" sz="1150" dirty="0"/>
          </a:p>
        </p:txBody>
      </p:sp>
      <p:sp>
        <p:nvSpPr>
          <p:cNvPr id="24" name="Text 21"/>
          <p:cNvSpPr txBox="1"/>
          <p:nvPr/>
        </p:nvSpPr>
        <p:spPr>
          <a:xfrm>
            <a:off x="6583680" y="4224528"/>
            <a:ext cx="5257800" cy="237744"/>
          </a:xfrm>
          <a:prstGeom prst="rect">
            <a:avLst/>
          </a:prstGeom>
          <a:noFill/>
          <a:ln/>
        </p:spPr>
        <p:txBody>
          <a:bodyPr wrap="square" lIns="0" tIns="0" rIns="0" bIns="0" rtlCol="0" anchor="ctr"/>
          <a:lstStyle/>
          <a:p>
            <a:pPr indent="0" marL="0">
              <a:buNone/>
            </a:pPr>
            <a:r>
              <a:rPr lang="en-US" sz="1400" b="1" dirty="0">
                <a:solidFill>
                  <a:srgbClr val="5B6270"/>
                </a:solidFill>
                <a:latin typeface="Public Sans" pitchFamily="34" charset="0"/>
                <a:ea typeface="Public Sans" pitchFamily="34" charset="-122"/>
                <a:cs typeface="Public Sans" pitchFamily="34" charset="-120"/>
              </a:rPr>
              <a:t>The workflow register</a:t>
            </a:r>
            <a:endParaRPr lang="en-US" sz="1400" dirty="0"/>
          </a:p>
        </p:txBody>
      </p:sp>
      <p:sp>
        <p:nvSpPr>
          <p:cNvPr id="25" name="Text 22"/>
          <p:cNvSpPr txBox="1"/>
          <p:nvPr/>
        </p:nvSpPr>
        <p:spPr>
          <a:xfrm>
            <a:off x="6583680" y="4457700"/>
            <a:ext cx="5257800" cy="237744"/>
          </a:xfrm>
          <a:prstGeom prst="rect">
            <a:avLst/>
          </a:prstGeom>
          <a:noFill/>
          <a:ln/>
        </p:spPr>
        <p:txBody>
          <a:bodyPr wrap="square" lIns="0" tIns="0" rIns="0" bIns="0" rtlCol="0" anchor="ctr"/>
          <a:lstStyle/>
          <a:p>
            <a:pPr indent="0" marL="0">
              <a:buNone/>
            </a:pPr>
            <a:r>
              <a:rPr lang="en-US" sz="1150" dirty="0">
                <a:solidFill>
                  <a:srgbClr val="5B6270"/>
                </a:solidFill>
                <a:latin typeface="Courier New" pitchFamily="34" charset="0"/>
                <a:ea typeface="Courier New" pitchFamily="34" charset="-122"/>
                <a:cs typeface="Courier New" pitchFamily="34" charset="-120"/>
              </a:rPr>
              <a:t>01 - Company/Workflows/Workflows.md</a:t>
            </a:r>
            <a:endParaRPr lang="en-US" sz="1150" dirty="0"/>
          </a:p>
        </p:txBody>
      </p:sp>
      <p:sp>
        <p:nvSpPr>
          <p:cNvPr id="26" name="Text 23"/>
          <p:cNvSpPr txBox="1"/>
          <p:nvPr/>
        </p:nvSpPr>
        <p:spPr>
          <a:xfrm>
            <a:off x="6583680" y="4846320"/>
            <a:ext cx="5257800" cy="237744"/>
          </a:xfrm>
          <a:prstGeom prst="rect">
            <a:avLst/>
          </a:prstGeom>
          <a:noFill/>
          <a:ln/>
        </p:spPr>
        <p:txBody>
          <a:bodyPr wrap="square" lIns="0" tIns="0" rIns="0" bIns="0" rtlCol="0" anchor="ctr"/>
          <a:lstStyle/>
          <a:p>
            <a:pPr indent="0" marL="0">
              <a:buNone/>
            </a:pPr>
            <a:r>
              <a:rPr lang="en-US" sz="1400" b="1" dirty="0">
                <a:solidFill>
                  <a:srgbClr val="5B6270"/>
                </a:solidFill>
                <a:latin typeface="Public Sans" pitchFamily="34" charset="0"/>
                <a:ea typeface="Public Sans" pitchFamily="34" charset="-122"/>
                <a:cs typeface="Public Sans" pitchFamily="34" charset="-120"/>
              </a:rPr>
              <a:t>Your five-page site</a:t>
            </a:r>
            <a:endParaRPr lang="en-US" sz="1400" dirty="0"/>
          </a:p>
        </p:txBody>
      </p:sp>
      <p:sp>
        <p:nvSpPr>
          <p:cNvPr id="27" name="Text 24"/>
          <p:cNvSpPr txBox="1"/>
          <p:nvPr/>
        </p:nvSpPr>
        <p:spPr>
          <a:xfrm>
            <a:off x="6583680" y="5079492"/>
            <a:ext cx="5257800" cy="237744"/>
          </a:xfrm>
          <a:prstGeom prst="rect">
            <a:avLst/>
          </a:prstGeom>
          <a:noFill/>
          <a:ln/>
        </p:spPr>
        <p:txBody>
          <a:bodyPr wrap="square" lIns="0" tIns="0" rIns="0" bIns="0" rtlCol="0" anchor="ctr"/>
          <a:lstStyle/>
          <a:p>
            <a:pPr indent="0" marL="0">
              <a:buNone/>
            </a:pPr>
            <a:r>
              <a:rPr lang="en-US" sz="1150" dirty="0">
                <a:solidFill>
                  <a:srgbClr val="5B6270"/>
                </a:solidFill>
                <a:latin typeface="Courier New" pitchFamily="34" charset="0"/>
                <a:ea typeface="Courier New" pitchFamily="34" charset="-122"/>
                <a:cs typeface="Courier New" pitchFamily="34" charset="-120"/>
              </a:rPr>
              <a:t>05 - Operations/picture/</a:t>
            </a:r>
            <a:pPr indent="0" marL="0">
              <a:buNone/>
            </a:pPr>
            <a:r>
              <a:rPr lang="en-US" sz="1150" dirty="0">
                <a:solidFill>
                  <a:srgbClr val="9AA1AD"/>
                </a:solidFill>
                <a:latin typeface="Courier New" pitchFamily="34" charset="0"/>
                <a:ea typeface="Courier New" pitchFamily="34" charset="-122"/>
                <a:cs typeface="Courier New" pitchFamily="34" charset="-120"/>
              </a:rPr>
              <a:t>   open ai_operations.html</a:t>
            </a:r>
            <a:endParaRPr lang="en-US" sz="1150" dirty="0"/>
          </a:p>
        </p:txBody>
      </p:sp>
      <p:sp>
        <p:nvSpPr>
          <p:cNvPr id="28" name="Shape 25"/>
          <p:cNvSpPr/>
          <p:nvPr/>
        </p:nvSpPr>
        <p:spPr>
          <a:xfrm>
            <a:off x="6583680" y="5504688"/>
            <a:ext cx="5257800" cy="640080"/>
          </a:xfrm>
          <a:prstGeom prst="roundRect">
            <a:avLst>
              <a:gd name="adj" fmla="val 8571"/>
            </a:avLst>
          </a:prstGeom>
          <a:solidFill>
            <a:srgbClr val="F4F5F8"/>
          </a:solidFill>
          <a:ln w="12700">
            <a:solidFill>
              <a:srgbClr val="E4E6EC"/>
            </a:solidFill>
            <a:prstDash val="solid"/>
          </a:ln>
        </p:spPr>
      </p:sp>
      <p:sp>
        <p:nvSpPr>
          <p:cNvPr id="29" name="Text 26"/>
          <p:cNvSpPr txBox="1"/>
          <p:nvPr/>
        </p:nvSpPr>
        <p:spPr>
          <a:xfrm>
            <a:off x="6858000" y="5504688"/>
            <a:ext cx="4709160" cy="640080"/>
          </a:xfrm>
          <a:prstGeom prst="rect">
            <a:avLst/>
          </a:prstGeom>
          <a:noFill/>
          <a:ln/>
        </p:spPr>
        <p:txBody>
          <a:bodyPr wrap="square" lIns="0" tIns="0" rIns="0" bIns="0" rtlCol="0" anchor="ctr"/>
          <a:lstStyle/>
          <a:p>
            <a:pPr indent="0" marL="0">
              <a:lnSpc>
                <a:spcPts val="1800"/>
              </a:lnSpc>
              <a:buNone/>
            </a:pPr>
            <a:r>
              <a:rPr lang="en-US" sz="1300" b="1" dirty="0">
                <a:solidFill>
                  <a:srgbClr val="15171F"/>
                </a:solidFill>
                <a:latin typeface="Public Sans" pitchFamily="34" charset="0"/>
                <a:ea typeface="Public Sans" pitchFamily="34" charset="-122"/>
                <a:cs typeface="Public Sans" pitchFamily="34" charset="-120"/>
              </a:rPr>
              <a:t>Grey means generated. </a:t>
            </a:r>
            <a:pPr indent="0" marL="0">
              <a:lnSpc>
                <a:spcPts val="1800"/>
              </a:lnSpc>
              <a:buNone/>
            </a:pPr>
            <a:r>
              <a:rPr lang="en-US" sz="1300" dirty="0">
                <a:solidFill>
                  <a:srgbClr val="5B6270"/>
                </a:solidFill>
                <a:latin typeface="Public Sans" pitchFamily="34" charset="0"/>
                <a:ea typeface="Public Sans" pitchFamily="34" charset="-122"/>
                <a:cs typeface="Public Sans" pitchFamily="34" charset="-120"/>
              </a:rPr>
              <a:t>Never edit one of those — edit the note that owns the fact, and build again.</a:t>
            </a:r>
            <a:endParaRPr lang="en-US" sz="1300" dirty="0"/>
          </a:p>
        </p:txBody>
      </p:sp>
      <p:sp>
        <p:nvSpPr>
          <p:cNvPr id="30" name="Text 27"/>
          <p:cNvSpPr txBox="1"/>
          <p:nvPr/>
        </p:nvSpPr>
        <p:spPr>
          <a:xfrm>
            <a:off x="777240" y="6291072"/>
            <a:ext cx="10637215" cy="274320"/>
          </a:xfrm>
          <a:prstGeom prst="rect">
            <a:avLst/>
          </a:prstGeom>
          <a:noFill/>
          <a:ln/>
        </p:spPr>
        <p:txBody>
          <a:bodyPr wrap="square" lIns="0" tIns="0" rIns="0" bIns="0" rtlCol="0" anchor="ctr"/>
          <a:lstStyle/>
          <a:p>
            <a:pPr indent="0" marL="0">
              <a:buNone/>
            </a:pPr>
            <a:r>
              <a:rPr lang="en-US" sz="950" spc="100" kern="0" dirty="0">
                <a:solidFill>
                  <a:srgbClr val="6B6D72"/>
                </a:solidFill>
                <a:latin typeface="Courier New" pitchFamily="34" charset="0"/>
                <a:ea typeface="Courier New" pitchFamily="34" charset="-122"/>
                <a:cs typeface="Courier New" pitchFamily="34" charset="-120"/>
              </a:rPr>
              <a:t>18</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5171F"/>
        </a:solidFill>
      </p:bgPr>
    </p:bg>
    <p:spTree>
      <p:nvGrpSpPr>
        <p:cNvPr id="1" name=""/>
        <p:cNvGrpSpPr/>
        <p:nvPr/>
      </p:nvGrpSpPr>
      <p:grpSpPr>
        <a:xfrm>
          <a:off x="0" y="0"/>
          <a:ext cx="0" cy="0"/>
          <a:chOff x="0" y="0"/>
          <a:chExt cx="0" cy="0"/>
        </a:xfrm>
      </p:grpSpPr>
      <p:sp>
        <p:nvSpPr>
          <p:cNvPr id="2" name="Text 0"/>
          <p:cNvSpPr txBox="1"/>
          <p:nvPr/>
        </p:nvSpPr>
        <p:spPr>
          <a:xfrm>
            <a:off x="777240" y="420624"/>
            <a:ext cx="8229600" cy="274320"/>
          </a:xfrm>
          <a:prstGeom prst="rect">
            <a:avLst/>
          </a:prstGeom>
          <a:noFill/>
          <a:ln/>
        </p:spPr>
        <p:txBody>
          <a:bodyPr wrap="square" lIns="0" tIns="0" rIns="0" bIns="0" rtlCol="0" anchor="ctr"/>
          <a:lstStyle/>
          <a:p>
            <a:pPr indent="0" marL="0">
              <a:buNone/>
            </a:pPr>
            <a:r>
              <a:rPr lang="en-US" sz="1100" spc="200" kern="0" dirty="0">
                <a:solidFill>
                  <a:srgbClr val="A59CFF"/>
                </a:solidFill>
                <a:latin typeface="Courier New" pitchFamily="34" charset="0"/>
                <a:ea typeface="Courier New" pitchFamily="34" charset="-122"/>
                <a:cs typeface="Courier New" pitchFamily="34" charset="-120"/>
              </a:rPr>
              <a:t>AN HOUR AGO THIS WAS AN EMPTY FOLDER</a:t>
            </a:r>
            <a:endParaRPr lang="en-US" sz="1100" dirty="0"/>
          </a:p>
        </p:txBody>
      </p:sp>
      <p:pic>
        <p:nvPicPr>
          <p:cNvPr id="3" name="Image 0" descr="/tmp/claude-0/-home-claude/e62a35b1-5075-553d-b086-acebfebc41ba/scratchpad/brand/meshpro-emblem-navy.png">    </p:cNvPr>
          <p:cNvPicPr>
            <a:picLocks noChangeAspect="1"/>
          </p:cNvPicPr>
          <p:nvPr/>
        </p:nvPicPr>
        <p:blipFill>
          <a:blip r:embed="rId1"/>
          <a:stretch>
            <a:fillRect/>
          </a:stretch>
        </p:blipFill>
        <p:spPr>
          <a:xfrm>
            <a:off x="11140135" y="411480"/>
            <a:ext cx="384048" cy="374904"/>
          </a:xfrm>
          <a:prstGeom prst="rect">
            <a:avLst/>
          </a:prstGeom>
        </p:spPr>
      </p:pic>
      <p:sp>
        <p:nvSpPr>
          <p:cNvPr id="4" name="Text 1"/>
          <p:cNvSpPr txBox="1"/>
          <p:nvPr/>
        </p:nvSpPr>
        <p:spPr>
          <a:xfrm>
            <a:off x="777240" y="868680"/>
            <a:ext cx="9951415" cy="914400"/>
          </a:xfrm>
          <a:prstGeom prst="rect">
            <a:avLst/>
          </a:prstGeom>
          <a:noFill/>
          <a:ln/>
        </p:spPr>
        <p:txBody>
          <a:bodyPr wrap="square" lIns="0" tIns="0" rIns="0" bIns="0" rtlCol="0" anchor="ctr"/>
          <a:lstStyle/>
          <a:p>
            <a:pPr indent="0" marL="0">
              <a:lnSpc>
                <a:spcPts val="3944"/>
              </a:lnSpc>
              <a:buNone/>
            </a:pPr>
            <a:r>
              <a:rPr lang="en-US" sz="3400" b="1" dirty="0">
                <a:solidFill>
                  <a:srgbClr val="FFFFFF"/>
                </a:solidFill>
                <a:latin typeface="Public Sans" pitchFamily="34" charset="0"/>
                <a:ea typeface="Public Sans" pitchFamily="34" charset="-122"/>
                <a:cs typeface="Public Sans" pitchFamily="34" charset="-120"/>
              </a:rPr>
              <a:t>Look at what is on your laptop</a:t>
            </a:r>
            <a:endParaRPr lang="en-US" sz="3400" dirty="0"/>
          </a:p>
        </p:txBody>
      </p:sp>
      <p:sp>
        <p:nvSpPr>
          <p:cNvPr id="5" name="Shape 2"/>
          <p:cNvSpPr/>
          <p:nvPr/>
        </p:nvSpPr>
        <p:spPr>
          <a:xfrm>
            <a:off x="777240" y="2103120"/>
            <a:ext cx="3337560" cy="1325880"/>
          </a:xfrm>
          <a:prstGeom prst="roundRect">
            <a:avLst>
              <a:gd name="adj" fmla="val 4138"/>
            </a:avLst>
          </a:prstGeom>
          <a:solidFill>
            <a:srgbClr val="1B1D29"/>
          </a:solidFill>
          <a:ln w="12700">
            <a:solidFill>
              <a:srgbClr val="2B2E3C"/>
            </a:solidFill>
            <a:prstDash val="solid"/>
          </a:ln>
        </p:spPr>
      </p:sp>
      <p:sp>
        <p:nvSpPr>
          <p:cNvPr id="6" name="Text 3"/>
          <p:cNvSpPr txBox="1"/>
          <p:nvPr/>
        </p:nvSpPr>
        <p:spPr>
          <a:xfrm>
            <a:off x="1051560" y="2331720"/>
            <a:ext cx="2788920" cy="411480"/>
          </a:xfrm>
          <a:prstGeom prst="rect">
            <a:avLst/>
          </a:prstGeom>
          <a:noFill/>
          <a:ln/>
        </p:spPr>
        <p:txBody>
          <a:bodyPr wrap="square" lIns="0" tIns="0" rIns="0" bIns="0" rtlCol="0" anchor="ctr"/>
          <a:lstStyle/>
          <a:p>
            <a:pPr indent="0" marL="0">
              <a:buNone/>
            </a:pPr>
            <a:r>
              <a:rPr lang="en-US" sz="1900" b="1" dirty="0">
                <a:solidFill>
                  <a:srgbClr val="FFFFFF"/>
                </a:solidFill>
                <a:latin typeface="Public Sans" pitchFamily="34" charset="0"/>
                <a:ea typeface="Public Sans" pitchFamily="34" charset="-122"/>
                <a:cs typeface="Public Sans" pitchFamily="34" charset="-120"/>
              </a:rPr>
              <a:t>A vault</a:t>
            </a:r>
            <a:endParaRPr lang="en-US" sz="1900" dirty="0"/>
          </a:p>
        </p:txBody>
      </p:sp>
      <p:sp>
        <p:nvSpPr>
          <p:cNvPr id="7" name="Text 4"/>
          <p:cNvSpPr txBox="1"/>
          <p:nvPr/>
        </p:nvSpPr>
        <p:spPr>
          <a:xfrm>
            <a:off x="1051560" y="2788920"/>
            <a:ext cx="2788920" cy="457200"/>
          </a:xfrm>
          <a:prstGeom prst="rect">
            <a:avLst/>
          </a:prstGeom>
          <a:noFill/>
          <a:ln/>
        </p:spPr>
        <p:txBody>
          <a:bodyPr wrap="square" lIns="0" tIns="0" rIns="0" bIns="0" rtlCol="0" anchor="ctr"/>
          <a:lstStyle/>
          <a:p>
            <a:pPr indent="0" marL="0">
              <a:buNone/>
            </a:pPr>
            <a:r>
              <a:rPr lang="en-US" sz="1300" dirty="0">
                <a:solidFill>
                  <a:srgbClr val="A8ADBA"/>
                </a:solidFill>
                <a:latin typeface="Public Sans" pitchFamily="34" charset="0"/>
                <a:ea typeface="Public Sans" pitchFamily="34" charset="-122"/>
                <a:cs typeface="Public Sans" pitchFamily="34" charset="-120"/>
              </a:rPr>
              <a:t>plain text, yours</a:t>
            </a:r>
            <a:endParaRPr lang="en-US" sz="1300" dirty="0"/>
          </a:p>
        </p:txBody>
      </p:sp>
      <p:sp>
        <p:nvSpPr>
          <p:cNvPr id="8" name="Shape 5"/>
          <p:cNvSpPr/>
          <p:nvPr/>
        </p:nvSpPr>
        <p:spPr>
          <a:xfrm>
            <a:off x="4389120" y="2103120"/>
            <a:ext cx="3337560" cy="1325880"/>
          </a:xfrm>
          <a:prstGeom prst="roundRect">
            <a:avLst>
              <a:gd name="adj" fmla="val 4138"/>
            </a:avLst>
          </a:prstGeom>
          <a:solidFill>
            <a:srgbClr val="1B1D29"/>
          </a:solidFill>
          <a:ln w="12700">
            <a:solidFill>
              <a:srgbClr val="2B2E3C"/>
            </a:solidFill>
            <a:prstDash val="solid"/>
          </a:ln>
        </p:spPr>
      </p:sp>
      <p:sp>
        <p:nvSpPr>
          <p:cNvPr id="9" name="Text 6"/>
          <p:cNvSpPr txBox="1"/>
          <p:nvPr/>
        </p:nvSpPr>
        <p:spPr>
          <a:xfrm>
            <a:off x="4663440" y="2331720"/>
            <a:ext cx="2788920" cy="411480"/>
          </a:xfrm>
          <a:prstGeom prst="rect">
            <a:avLst/>
          </a:prstGeom>
          <a:noFill/>
          <a:ln/>
        </p:spPr>
        <p:txBody>
          <a:bodyPr wrap="square" lIns="0" tIns="0" rIns="0" bIns="0" rtlCol="0" anchor="ctr"/>
          <a:lstStyle/>
          <a:p>
            <a:pPr indent="0" marL="0">
              <a:buNone/>
            </a:pPr>
            <a:r>
              <a:rPr lang="en-US" sz="1900" b="1" dirty="0">
                <a:solidFill>
                  <a:srgbClr val="FFFFFF"/>
                </a:solidFill>
                <a:latin typeface="Public Sans" pitchFamily="34" charset="0"/>
                <a:ea typeface="Public Sans" pitchFamily="34" charset="-122"/>
                <a:cs typeface="Public Sans" pitchFamily="34" charset="-120"/>
              </a:rPr>
              <a:t>Departments</a:t>
            </a:r>
            <a:endParaRPr lang="en-US" sz="1900" dirty="0"/>
          </a:p>
        </p:txBody>
      </p:sp>
      <p:sp>
        <p:nvSpPr>
          <p:cNvPr id="10" name="Text 7"/>
          <p:cNvSpPr txBox="1"/>
          <p:nvPr/>
        </p:nvSpPr>
        <p:spPr>
          <a:xfrm>
            <a:off x="4663440" y="2788920"/>
            <a:ext cx="2788920" cy="457200"/>
          </a:xfrm>
          <a:prstGeom prst="rect">
            <a:avLst/>
          </a:prstGeom>
          <a:noFill/>
          <a:ln/>
        </p:spPr>
        <p:txBody>
          <a:bodyPr wrap="square" lIns="0" tIns="0" rIns="0" bIns="0" rtlCol="0" anchor="ctr"/>
          <a:lstStyle/>
          <a:p>
            <a:pPr indent="0" marL="0">
              <a:buNone/>
            </a:pPr>
            <a:r>
              <a:rPr lang="en-US" sz="1300" dirty="0">
                <a:solidFill>
                  <a:srgbClr val="A8ADBA"/>
                </a:solidFill>
                <a:latin typeface="Public Sans" pitchFamily="34" charset="0"/>
                <a:ea typeface="Public Sans" pitchFamily="34" charset="-122"/>
                <a:cs typeface="Public Sans" pitchFamily="34" charset="-120"/>
              </a:rPr>
              <a:t>the parts of your job</a:t>
            </a:r>
            <a:endParaRPr lang="en-US" sz="1300" dirty="0"/>
          </a:p>
        </p:txBody>
      </p:sp>
      <p:sp>
        <p:nvSpPr>
          <p:cNvPr id="11" name="Shape 8"/>
          <p:cNvSpPr/>
          <p:nvPr/>
        </p:nvSpPr>
        <p:spPr>
          <a:xfrm>
            <a:off x="8001000" y="2103120"/>
            <a:ext cx="3337560" cy="1325880"/>
          </a:xfrm>
          <a:prstGeom prst="roundRect">
            <a:avLst>
              <a:gd name="adj" fmla="val 4138"/>
            </a:avLst>
          </a:prstGeom>
          <a:solidFill>
            <a:srgbClr val="1B1D29"/>
          </a:solidFill>
          <a:ln w="12700">
            <a:solidFill>
              <a:srgbClr val="2B2E3C"/>
            </a:solidFill>
            <a:prstDash val="solid"/>
          </a:ln>
        </p:spPr>
      </p:sp>
      <p:sp>
        <p:nvSpPr>
          <p:cNvPr id="12" name="Text 9"/>
          <p:cNvSpPr txBox="1"/>
          <p:nvPr/>
        </p:nvSpPr>
        <p:spPr>
          <a:xfrm>
            <a:off x="8275320" y="2331720"/>
            <a:ext cx="2788920" cy="411480"/>
          </a:xfrm>
          <a:prstGeom prst="rect">
            <a:avLst/>
          </a:prstGeom>
          <a:noFill/>
          <a:ln/>
        </p:spPr>
        <p:txBody>
          <a:bodyPr wrap="square" lIns="0" tIns="0" rIns="0" bIns="0" rtlCol="0" anchor="ctr"/>
          <a:lstStyle/>
          <a:p>
            <a:pPr indent="0" marL="0">
              <a:buNone/>
            </a:pPr>
            <a:r>
              <a:rPr lang="en-US" sz="1900" b="1" dirty="0">
                <a:solidFill>
                  <a:srgbClr val="FFFFFF"/>
                </a:solidFill>
                <a:latin typeface="Public Sans" pitchFamily="34" charset="0"/>
                <a:ea typeface="Public Sans" pitchFamily="34" charset="-122"/>
                <a:cs typeface="Public Sans" pitchFamily="34" charset="-120"/>
              </a:rPr>
              <a:t>Executives</a:t>
            </a:r>
            <a:endParaRPr lang="en-US" sz="1900" dirty="0"/>
          </a:p>
        </p:txBody>
      </p:sp>
      <p:sp>
        <p:nvSpPr>
          <p:cNvPr id="13" name="Text 10"/>
          <p:cNvSpPr txBox="1"/>
          <p:nvPr/>
        </p:nvSpPr>
        <p:spPr>
          <a:xfrm>
            <a:off x="8275320" y="2788920"/>
            <a:ext cx="2788920" cy="457200"/>
          </a:xfrm>
          <a:prstGeom prst="rect">
            <a:avLst/>
          </a:prstGeom>
          <a:noFill/>
          <a:ln/>
        </p:spPr>
        <p:txBody>
          <a:bodyPr wrap="square" lIns="0" tIns="0" rIns="0" bIns="0" rtlCol="0" anchor="ctr"/>
          <a:lstStyle/>
          <a:p>
            <a:pPr indent="0" marL="0">
              <a:buNone/>
            </a:pPr>
            <a:r>
              <a:rPr lang="en-US" sz="1300" dirty="0">
                <a:solidFill>
                  <a:srgbClr val="A8ADBA"/>
                </a:solidFill>
                <a:latin typeface="Public Sans" pitchFamily="34" charset="0"/>
                <a:ea typeface="Public Sans" pitchFamily="34" charset="-122"/>
                <a:cs typeface="Public Sans" pitchFamily="34" charset="-120"/>
              </a:rPr>
              <a:t>one answering for each</a:t>
            </a:r>
            <a:endParaRPr lang="en-US" sz="1300" dirty="0"/>
          </a:p>
        </p:txBody>
      </p:sp>
      <p:sp>
        <p:nvSpPr>
          <p:cNvPr id="14" name="Shape 11"/>
          <p:cNvSpPr/>
          <p:nvPr/>
        </p:nvSpPr>
        <p:spPr>
          <a:xfrm>
            <a:off x="777240" y="3703320"/>
            <a:ext cx="3337560" cy="1325880"/>
          </a:xfrm>
          <a:prstGeom prst="roundRect">
            <a:avLst>
              <a:gd name="adj" fmla="val 4138"/>
            </a:avLst>
          </a:prstGeom>
          <a:solidFill>
            <a:srgbClr val="1B1D29"/>
          </a:solidFill>
          <a:ln w="12700">
            <a:solidFill>
              <a:srgbClr val="2B2E3C"/>
            </a:solidFill>
            <a:prstDash val="solid"/>
          </a:ln>
        </p:spPr>
      </p:sp>
      <p:sp>
        <p:nvSpPr>
          <p:cNvPr id="15" name="Text 12"/>
          <p:cNvSpPr txBox="1"/>
          <p:nvPr/>
        </p:nvSpPr>
        <p:spPr>
          <a:xfrm>
            <a:off x="1051560" y="3931920"/>
            <a:ext cx="2788920" cy="411480"/>
          </a:xfrm>
          <a:prstGeom prst="rect">
            <a:avLst/>
          </a:prstGeom>
          <a:noFill/>
          <a:ln/>
        </p:spPr>
        <p:txBody>
          <a:bodyPr wrap="square" lIns="0" tIns="0" rIns="0" bIns="0" rtlCol="0" anchor="ctr"/>
          <a:lstStyle/>
          <a:p>
            <a:pPr indent="0" marL="0">
              <a:buNone/>
            </a:pPr>
            <a:r>
              <a:rPr lang="en-US" sz="1900" b="1" dirty="0">
                <a:solidFill>
                  <a:srgbClr val="FFFFFF"/>
                </a:solidFill>
                <a:latin typeface="Public Sans" pitchFamily="34" charset="0"/>
                <a:ea typeface="Public Sans" pitchFamily="34" charset="-122"/>
                <a:cs typeface="Public Sans" pitchFamily="34" charset="-120"/>
              </a:rPr>
              <a:t>A specialist</a:t>
            </a:r>
            <a:endParaRPr lang="en-US" sz="1900" dirty="0"/>
          </a:p>
        </p:txBody>
      </p:sp>
      <p:sp>
        <p:nvSpPr>
          <p:cNvPr id="16" name="Text 13"/>
          <p:cNvSpPr txBox="1"/>
          <p:nvPr/>
        </p:nvSpPr>
        <p:spPr>
          <a:xfrm>
            <a:off x="1051560" y="4389120"/>
            <a:ext cx="2788920" cy="457200"/>
          </a:xfrm>
          <a:prstGeom prst="rect">
            <a:avLst/>
          </a:prstGeom>
          <a:noFill/>
          <a:ln/>
        </p:spPr>
        <p:txBody>
          <a:bodyPr wrap="square" lIns="0" tIns="0" rIns="0" bIns="0" rtlCol="0" anchor="ctr"/>
          <a:lstStyle/>
          <a:p>
            <a:pPr indent="0" marL="0">
              <a:buNone/>
            </a:pPr>
            <a:r>
              <a:rPr lang="en-US" sz="1300" dirty="0">
                <a:solidFill>
                  <a:srgbClr val="A8ADBA"/>
                </a:solidFill>
                <a:latin typeface="Public Sans" pitchFamily="34" charset="0"/>
                <a:ea typeface="Public Sans" pitchFamily="34" charset="-122"/>
                <a:cs typeface="Public Sans" pitchFamily="34" charset="-120"/>
              </a:rPr>
              <a:t>one job, done properly</a:t>
            </a:r>
            <a:endParaRPr lang="en-US" sz="1300" dirty="0"/>
          </a:p>
        </p:txBody>
      </p:sp>
      <p:sp>
        <p:nvSpPr>
          <p:cNvPr id="17" name="Shape 14"/>
          <p:cNvSpPr/>
          <p:nvPr/>
        </p:nvSpPr>
        <p:spPr>
          <a:xfrm>
            <a:off x="4389120" y="3703320"/>
            <a:ext cx="3337560" cy="1325880"/>
          </a:xfrm>
          <a:prstGeom prst="roundRect">
            <a:avLst>
              <a:gd name="adj" fmla="val 4138"/>
            </a:avLst>
          </a:prstGeom>
          <a:solidFill>
            <a:srgbClr val="1B1D29"/>
          </a:solidFill>
          <a:ln w="12700">
            <a:solidFill>
              <a:srgbClr val="2B2E3C"/>
            </a:solidFill>
            <a:prstDash val="solid"/>
          </a:ln>
        </p:spPr>
      </p:sp>
      <p:sp>
        <p:nvSpPr>
          <p:cNvPr id="18" name="Text 15"/>
          <p:cNvSpPr txBox="1"/>
          <p:nvPr/>
        </p:nvSpPr>
        <p:spPr>
          <a:xfrm>
            <a:off x="4663440" y="3931920"/>
            <a:ext cx="2788920" cy="411480"/>
          </a:xfrm>
          <a:prstGeom prst="rect">
            <a:avLst/>
          </a:prstGeom>
          <a:noFill/>
          <a:ln/>
        </p:spPr>
        <p:txBody>
          <a:bodyPr wrap="square" lIns="0" tIns="0" rIns="0" bIns="0" rtlCol="0" anchor="ctr"/>
          <a:lstStyle/>
          <a:p>
            <a:pPr indent="0" marL="0">
              <a:buNone/>
            </a:pPr>
            <a:r>
              <a:rPr lang="en-US" sz="1900" b="1" dirty="0">
                <a:solidFill>
                  <a:srgbClr val="FFFFFF"/>
                </a:solidFill>
                <a:latin typeface="Public Sans" pitchFamily="34" charset="0"/>
                <a:ea typeface="Public Sans" pitchFamily="34" charset="-122"/>
                <a:cs typeface="Public Sans" pitchFamily="34" charset="-120"/>
              </a:rPr>
              <a:t>A skill</a:t>
            </a:r>
            <a:endParaRPr lang="en-US" sz="1900" dirty="0"/>
          </a:p>
        </p:txBody>
      </p:sp>
      <p:sp>
        <p:nvSpPr>
          <p:cNvPr id="19" name="Text 16"/>
          <p:cNvSpPr txBox="1"/>
          <p:nvPr/>
        </p:nvSpPr>
        <p:spPr>
          <a:xfrm>
            <a:off x="4663440" y="4389120"/>
            <a:ext cx="2788920" cy="457200"/>
          </a:xfrm>
          <a:prstGeom prst="rect">
            <a:avLst/>
          </a:prstGeom>
          <a:noFill/>
          <a:ln/>
        </p:spPr>
        <p:txBody>
          <a:bodyPr wrap="square" lIns="0" tIns="0" rIns="0" bIns="0" rtlCol="0" anchor="ctr"/>
          <a:lstStyle/>
          <a:p>
            <a:pPr indent="0" marL="0">
              <a:buNone/>
            </a:pPr>
            <a:r>
              <a:rPr lang="en-US" sz="1300" dirty="0">
                <a:solidFill>
                  <a:srgbClr val="A8ADBA"/>
                </a:solidFill>
                <a:latin typeface="Public Sans" pitchFamily="34" charset="0"/>
                <a:ea typeface="Public Sans" pitchFamily="34" charset="-122"/>
                <a:cs typeface="Public Sans" pitchFamily="34" charset="-120"/>
              </a:rPr>
              <a:t>your method, written once</a:t>
            </a:r>
            <a:endParaRPr lang="en-US" sz="1300" dirty="0"/>
          </a:p>
        </p:txBody>
      </p:sp>
      <p:sp>
        <p:nvSpPr>
          <p:cNvPr id="20" name="Shape 17"/>
          <p:cNvSpPr/>
          <p:nvPr/>
        </p:nvSpPr>
        <p:spPr>
          <a:xfrm>
            <a:off x="8001000" y="3703320"/>
            <a:ext cx="3337560" cy="1325880"/>
          </a:xfrm>
          <a:prstGeom prst="roundRect">
            <a:avLst>
              <a:gd name="adj" fmla="val 4138"/>
            </a:avLst>
          </a:prstGeom>
          <a:solidFill>
            <a:srgbClr val="1B1D29"/>
          </a:solidFill>
          <a:ln w="12700">
            <a:solidFill>
              <a:srgbClr val="2B2E3C"/>
            </a:solidFill>
            <a:prstDash val="solid"/>
          </a:ln>
        </p:spPr>
      </p:sp>
      <p:sp>
        <p:nvSpPr>
          <p:cNvPr id="21" name="Text 18"/>
          <p:cNvSpPr txBox="1"/>
          <p:nvPr/>
        </p:nvSpPr>
        <p:spPr>
          <a:xfrm>
            <a:off x="8275320" y="3931920"/>
            <a:ext cx="2788920" cy="411480"/>
          </a:xfrm>
          <a:prstGeom prst="rect">
            <a:avLst/>
          </a:prstGeom>
          <a:noFill/>
          <a:ln/>
        </p:spPr>
        <p:txBody>
          <a:bodyPr wrap="square" lIns="0" tIns="0" rIns="0" bIns="0" rtlCol="0" anchor="ctr"/>
          <a:lstStyle/>
          <a:p>
            <a:pPr indent="0" marL="0">
              <a:buNone/>
            </a:pPr>
            <a:r>
              <a:rPr lang="en-US" sz="1900" b="1" dirty="0">
                <a:solidFill>
                  <a:srgbClr val="FFFFFF"/>
                </a:solidFill>
                <a:latin typeface="Public Sans" pitchFamily="34" charset="0"/>
                <a:ea typeface="Public Sans" pitchFamily="34" charset="-122"/>
                <a:cs typeface="Public Sans" pitchFamily="34" charset="-120"/>
              </a:rPr>
              <a:t>A dashboard</a:t>
            </a:r>
            <a:endParaRPr lang="en-US" sz="1900" dirty="0"/>
          </a:p>
        </p:txBody>
      </p:sp>
      <p:sp>
        <p:nvSpPr>
          <p:cNvPr id="22" name="Text 19"/>
          <p:cNvSpPr txBox="1"/>
          <p:nvPr/>
        </p:nvSpPr>
        <p:spPr>
          <a:xfrm>
            <a:off x="8275320" y="4389120"/>
            <a:ext cx="2788920" cy="457200"/>
          </a:xfrm>
          <a:prstGeom prst="rect">
            <a:avLst/>
          </a:prstGeom>
          <a:noFill/>
          <a:ln/>
        </p:spPr>
        <p:txBody>
          <a:bodyPr wrap="square" lIns="0" tIns="0" rIns="0" bIns="0" rtlCol="0" anchor="ctr"/>
          <a:lstStyle/>
          <a:p>
            <a:pPr indent="0" marL="0">
              <a:buNone/>
            </a:pPr>
            <a:r>
              <a:rPr lang="en-US" sz="1300" dirty="0">
                <a:solidFill>
                  <a:srgbClr val="A8ADBA"/>
                </a:solidFill>
                <a:latin typeface="Public Sans" pitchFamily="34" charset="0"/>
                <a:ea typeface="Public Sans" pitchFamily="34" charset="-122"/>
                <a:cs typeface="Public Sans" pitchFamily="34" charset="-120"/>
              </a:rPr>
              <a:t>counted, never typed</a:t>
            </a:r>
            <a:endParaRPr lang="en-US" sz="1300" dirty="0"/>
          </a:p>
        </p:txBody>
      </p:sp>
      <p:sp>
        <p:nvSpPr>
          <p:cNvPr id="23" name="Text 20"/>
          <p:cNvSpPr txBox="1"/>
          <p:nvPr/>
        </p:nvSpPr>
        <p:spPr>
          <a:xfrm>
            <a:off x="777240" y="5577840"/>
            <a:ext cx="10607040" cy="457200"/>
          </a:xfrm>
          <a:prstGeom prst="rect">
            <a:avLst/>
          </a:prstGeom>
          <a:noFill/>
          <a:ln/>
        </p:spPr>
        <p:txBody>
          <a:bodyPr wrap="square" lIns="0" tIns="0" rIns="0" bIns="0" rtlCol="0" anchor="ctr"/>
          <a:lstStyle/>
          <a:p>
            <a:pPr indent="0" marL="0">
              <a:buNone/>
            </a:pPr>
            <a:r>
              <a:rPr lang="en-US" sz="1500" dirty="0">
                <a:solidFill>
                  <a:srgbClr val="A8ADBA"/>
                </a:solidFill>
                <a:latin typeface="Public Sans" pitchFamily="34" charset="0"/>
                <a:ea typeface="Public Sans" pitchFamily="34" charset="-122"/>
                <a:cs typeface="Public Sans" pitchFamily="34" charset="-120"/>
              </a:rPr>
              <a:t>None of it phones home. It all still opens if you never speak to an AI again.</a:t>
            </a:r>
            <a:endParaRPr lang="en-US" sz="1500" dirty="0"/>
          </a:p>
        </p:txBody>
      </p:sp>
      <p:sp>
        <p:nvSpPr>
          <p:cNvPr id="24" name="Text 21"/>
          <p:cNvSpPr txBox="1"/>
          <p:nvPr/>
        </p:nvSpPr>
        <p:spPr>
          <a:xfrm>
            <a:off x="777240" y="6291072"/>
            <a:ext cx="10637215" cy="274320"/>
          </a:xfrm>
          <a:prstGeom prst="rect">
            <a:avLst/>
          </a:prstGeom>
          <a:noFill/>
          <a:ln/>
        </p:spPr>
        <p:txBody>
          <a:bodyPr wrap="square" lIns="0" tIns="0" rIns="0" bIns="0" rtlCol="0" anchor="ctr"/>
          <a:lstStyle/>
          <a:p>
            <a:pPr indent="0" marL="0">
              <a:buNone/>
            </a:pPr>
            <a:r>
              <a:rPr lang="en-US" sz="950" spc="100" kern="0" dirty="0">
                <a:solidFill>
                  <a:srgbClr val="8A90A0"/>
                </a:solidFill>
                <a:latin typeface="Courier New" pitchFamily="34" charset="0"/>
                <a:ea typeface="Courier New" pitchFamily="34" charset="-122"/>
                <a:cs typeface="Courier New" pitchFamily="34" charset="-120"/>
              </a:rPr>
              <a:t>19</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5171F"/>
        </a:solidFill>
      </p:bgPr>
    </p:bg>
    <p:spTree>
      <p:nvGrpSpPr>
        <p:cNvPr id="1" name=""/>
        <p:cNvGrpSpPr/>
        <p:nvPr/>
      </p:nvGrpSpPr>
      <p:grpSpPr>
        <a:xfrm>
          <a:off x="0" y="0"/>
          <a:ext cx="0" cy="0"/>
          <a:chOff x="0" y="0"/>
          <a:chExt cx="0" cy="0"/>
        </a:xfrm>
      </p:grpSpPr>
      <p:sp>
        <p:nvSpPr>
          <p:cNvPr id="2" name="Text 0"/>
          <p:cNvSpPr txBox="1"/>
          <p:nvPr/>
        </p:nvSpPr>
        <p:spPr>
          <a:xfrm>
            <a:off x="777240" y="420624"/>
            <a:ext cx="8229600" cy="274320"/>
          </a:xfrm>
          <a:prstGeom prst="rect">
            <a:avLst/>
          </a:prstGeom>
          <a:noFill/>
          <a:ln/>
        </p:spPr>
        <p:txBody>
          <a:bodyPr wrap="square" lIns="0" tIns="0" rIns="0" bIns="0" rtlCol="0" anchor="ctr"/>
          <a:lstStyle/>
          <a:p>
            <a:pPr indent="0" marL="0">
              <a:buNone/>
            </a:pPr>
            <a:r>
              <a:rPr lang="en-US" sz="1100" spc="200" kern="0" dirty="0">
                <a:solidFill>
                  <a:srgbClr val="A59CFF"/>
                </a:solidFill>
                <a:latin typeface="Courier New" pitchFamily="34" charset="0"/>
                <a:ea typeface="Courier New" pitchFamily="34" charset="-122"/>
                <a:cs typeface="Courier New" pitchFamily="34" charset="-120"/>
              </a:rPr>
              <a:t>FROM HERE</a:t>
            </a:r>
            <a:endParaRPr lang="en-US" sz="1100" dirty="0"/>
          </a:p>
        </p:txBody>
      </p:sp>
      <p:sp>
        <p:nvSpPr>
          <p:cNvPr id="3" name="Text 1"/>
          <p:cNvSpPr txBox="1"/>
          <p:nvPr/>
        </p:nvSpPr>
        <p:spPr>
          <a:xfrm>
            <a:off x="777240" y="868680"/>
            <a:ext cx="9951415" cy="914400"/>
          </a:xfrm>
          <a:prstGeom prst="rect">
            <a:avLst/>
          </a:prstGeom>
          <a:noFill/>
          <a:ln/>
        </p:spPr>
        <p:txBody>
          <a:bodyPr wrap="square" lIns="0" tIns="0" rIns="0" bIns="0" rtlCol="0" anchor="ctr"/>
          <a:lstStyle/>
          <a:p>
            <a:pPr indent="0" marL="0">
              <a:lnSpc>
                <a:spcPts val="3944"/>
              </a:lnSpc>
              <a:buNone/>
            </a:pPr>
            <a:r>
              <a:rPr lang="en-US" sz="3400" b="1" dirty="0">
                <a:solidFill>
                  <a:srgbClr val="FFFFFF"/>
                </a:solidFill>
                <a:latin typeface="Public Sans" pitchFamily="34" charset="0"/>
                <a:ea typeface="Public Sans" pitchFamily="34" charset="-122"/>
                <a:cs typeface="Public Sans" pitchFamily="34" charset="-120"/>
              </a:rPr>
              <a:t>The next one is just more of the same</a:t>
            </a:r>
            <a:endParaRPr lang="en-US" sz="3400" dirty="0"/>
          </a:p>
        </p:txBody>
      </p:sp>
      <p:sp>
        <p:nvSpPr>
          <p:cNvPr id="4" name="Text 2"/>
          <p:cNvSpPr txBox="1"/>
          <p:nvPr/>
        </p:nvSpPr>
        <p:spPr>
          <a:xfrm>
            <a:off x="777240" y="1783080"/>
            <a:ext cx="10637215" cy="566928"/>
          </a:xfrm>
          <a:prstGeom prst="rect">
            <a:avLst/>
          </a:prstGeom>
          <a:noFill/>
          <a:ln/>
        </p:spPr>
        <p:txBody>
          <a:bodyPr wrap="square" lIns="0" tIns="0" rIns="0" bIns="0" rtlCol="0" anchor="ctr"/>
          <a:lstStyle/>
          <a:p>
            <a:pPr indent="0" marL="0">
              <a:lnSpc>
                <a:spcPts val="2300"/>
              </a:lnSpc>
              <a:buNone/>
            </a:pPr>
            <a:r>
              <a:rPr lang="en-US" sz="1600" dirty="0">
                <a:solidFill>
                  <a:srgbClr val="A8ADBA"/>
                </a:solidFill>
                <a:latin typeface="Public Sans" pitchFamily="34" charset="0"/>
                <a:ea typeface="Public Sans" pitchFamily="34" charset="-122"/>
                <a:cs typeface="Public Sans" pitchFamily="34" charset="-120"/>
              </a:rPr>
              <a:t>You have made one of everything. Nothing after today is a new kind of thing.</a:t>
            </a:r>
            <a:endParaRPr lang="en-US" sz="1600" dirty="0"/>
          </a:p>
        </p:txBody>
      </p:sp>
      <p:sp>
        <p:nvSpPr>
          <p:cNvPr id="5" name="Text 3"/>
          <p:cNvSpPr txBox="1"/>
          <p:nvPr/>
        </p:nvSpPr>
        <p:spPr>
          <a:xfrm>
            <a:off x="777240" y="2496312"/>
            <a:ext cx="365760" cy="594360"/>
          </a:xfrm>
          <a:prstGeom prst="rect">
            <a:avLst/>
          </a:prstGeom>
          <a:noFill/>
          <a:ln/>
        </p:spPr>
        <p:txBody>
          <a:bodyPr wrap="square" lIns="0" tIns="0" rIns="0" bIns="0" rtlCol="0" anchor="ctr"/>
          <a:lstStyle/>
          <a:p>
            <a:pPr indent="0" marL="0">
              <a:buNone/>
            </a:pPr>
            <a:r>
              <a:rPr lang="en-US" sz="1600" b="1" dirty="0">
                <a:solidFill>
                  <a:srgbClr val="A59CFF"/>
                </a:solidFill>
                <a:latin typeface="Public Sans" pitchFamily="34" charset="0"/>
                <a:ea typeface="Public Sans" pitchFamily="34" charset="-122"/>
                <a:cs typeface="Public Sans" pitchFamily="34" charset="-120"/>
              </a:rPr>
              <a:t>—</a:t>
            </a:r>
            <a:endParaRPr lang="en-US" sz="1600" dirty="0"/>
          </a:p>
        </p:txBody>
      </p:sp>
      <p:sp>
        <p:nvSpPr>
          <p:cNvPr id="6" name="Text 4"/>
          <p:cNvSpPr txBox="1"/>
          <p:nvPr/>
        </p:nvSpPr>
        <p:spPr>
          <a:xfrm>
            <a:off x="1234440" y="2496312"/>
            <a:ext cx="4206240" cy="594360"/>
          </a:xfrm>
          <a:prstGeom prst="rect">
            <a:avLst/>
          </a:prstGeom>
          <a:noFill/>
          <a:ln/>
        </p:spPr>
        <p:txBody>
          <a:bodyPr wrap="square" lIns="0" tIns="0" rIns="0" bIns="0" rtlCol="0" anchor="ctr"/>
          <a:lstStyle/>
          <a:p>
            <a:pPr indent="0" marL="0">
              <a:buNone/>
            </a:pPr>
            <a:r>
              <a:rPr lang="en-US" sz="1600" b="1" dirty="0">
                <a:solidFill>
                  <a:srgbClr val="FFFFFF"/>
                </a:solidFill>
                <a:latin typeface="Public Sans" pitchFamily="34" charset="0"/>
                <a:ea typeface="Public Sans" pitchFamily="34" charset="-122"/>
                <a:cs typeface="Public Sans" pitchFamily="34" charset="-120"/>
              </a:rPr>
              <a:t>Another department</a:t>
            </a:r>
            <a:endParaRPr lang="en-US" sz="1600" dirty="0"/>
          </a:p>
        </p:txBody>
      </p:sp>
      <p:sp>
        <p:nvSpPr>
          <p:cNvPr id="7" name="Text 5"/>
          <p:cNvSpPr txBox="1"/>
          <p:nvPr/>
        </p:nvSpPr>
        <p:spPr>
          <a:xfrm>
            <a:off x="5623560" y="2496312"/>
            <a:ext cx="5760720" cy="594360"/>
          </a:xfrm>
          <a:prstGeom prst="rect">
            <a:avLst/>
          </a:prstGeom>
          <a:noFill/>
          <a:ln/>
        </p:spPr>
        <p:txBody>
          <a:bodyPr wrap="square" lIns="0" tIns="0" rIns="0" bIns="0" rtlCol="0" anchor="ctr"/>
          <a:lstStyle/>
          <a:p>
            <a:pPr indent="0" marL="0">
              <a:lnSpc>
                <a:spcPts val="2100"/>
              </a:lnSpc>
              <a:buNone/>
            </a:pPr>
            <a:r>
              <a:rPr lang="en-US" sz="1500" dirty="0">
                <a:solidFill>
                  <a:srgbClr val="A8ADBA"/>
                </a:solidFill>
                <a:latin typeface="Public Sans" pitchFamily="34" charset="0"/>
                <a:ea typeface="Public Sans" pitchFamily="34" charset="-122"/>
                <a:cs typeface="Public Sans" pitchFamily="34" charset="-120"/>
              </a:rPr>
              <a:t>The moment you notice a part of your job nobody answers for.</a:t>
            </a:r>
            <a:endParaRPr lang="en-US" sz="1500" dirty="0"/>
          </a:p>
        </p:txBody>
      </p:sp>
      <p:sp>
        <p:nvSpPr>
          <p:cNvPr id="8" name="Text 6"/>
          <p:cNvSpPr txBox="1"/>
          <p:nvPr/>
        </p:nvSpPr>
        <p:spPr>
          <a:xfrm>
            <a:off x="777240" y="3273552"/>
            <a:ext cx="365760" cy="594360"/>
          </a:xfrm>
          <a:prstGeom prst="rect">
            <a:avLst/>
          </a:prstGeom>
          <a:noFill/>
          <a:ln/>
        </p:spPr>
        <p:txBody>
          <a:bodyPr wrap="square" lIns="0" tIns="0" rIns="0" bIns="0" rtlCol="0" anchor="ctr"/>
          <a:lstStyle/>
          <a:p>
            <a:pPr indent="0" marL="0">
              <a:buNone/>
            </a:pPr>
            <a:r>
              <a:rPr lang="en-US" sz="1600" b="1" dirty="0">
                <a:solidFill>
                  <a:srgbClr val="A59CFF"/>
                </a:solidFill>
                <a:latin typeface="Public Sans" pitchFamily="34" charset="0"/>
                <a:ea typeface="Public Sans" pitchFamily="34" charset="-122"/>
                <a:cs typeface="Public Sans" pitchFamily="34" charset="-120"/>
              </a:rPr>
              <a:t>—</a:t>
            </a:r>
            <a:endParaRPr lang="en-US" sz="1600" dirty="0"/>
          </a:p>
        </p:txBody>
      </p:sp>
      <p:sp>
        <p:nvSpPr>
          <p:cNvPr id="9" name="Text 7"/>
          <p:cNvSpPr txBox="1"/>
          <p:nvPr/>
        </p:nvSpPr>
        <p:spPr>
          <a:xfrm>
            <a:off x="1234440" y="3273552"/>
            <a:ext cx="4206240" cy="594360"/>
          </a:xfrm>
          <a:prstGeom prst="rect">
            <a:avLst/>
          </a:prstGeom>
          <a:noFill/>
          <a:ln/>
        </p:spPr>
        <p:txBody>
          <a:bodyPr wrap="square" lIns="0" tIns="0" rIns="0" bIns="0" rtlCol="0" anchor="ctr"/>
          <a:lstStyle/>
          <a:p>
            <a:pPr indent="0" marL="0">
              <a:buNone/>
            </a:pPr>
            <a:r>
              <a:rPr lang="en-US" sz="1600" b="1" dirty="0">
                <a:solidFill>
                  <a:srgbClr val="FFFFFF"/>
                </a:solidFill>
                <a:latin typeface="Public Sans" pitchFamily="34" charset="0"/>
                <a:ea typeface="Public Sans" pitchFamily="34" charset="-122"/>
                <a:cs typeface="Public Sans" pitchFamily="34" charset="-120"/>
              </a:rPr>
              <a:t>Another specialist</a:t>
            </a:r>
            <a:endParaRPr lang="en-US" sz="1600" dirty="0"/>
          </a:p>
        </p:txBody>
      </p:sp>
      <p:sp>
        <p:nvSpPr>
          <p:cNvPr id="10" name="Text 8"/>
          <p:cNvSpPr txBox="1"/>
          <p:nvPr/>
        </p:nvSpPr>
        <p:spPr>
          <a:xfrm>
            <a:off x="5623560" y="3273552"/>
            <a:ext cx="5760720" cy="594360"/>
          </a:xfrm>
          <a:prstGeom prst="rect">
            <a:avLst/>
          </a:prstGeom>
          <a:noFill/>
          <a:ln/>
        </p:spPr>
        <p:txBody>
          <a:bodyPr wrap="square" lIns="0" tIns="0" rIns="0" bIns="0" rtlCol="0" anchor="ctr"/>
          <a:lstStyle/>
          <a:p>
            <a:pPr indent="0" marL="0">
              <a:lnSpc>
                <a:spcPts val="2100"/>
              </a:lnSpc>
              <a:buNone/>
            </a:pPr>
            <a:r>
              <a:rPr lang="en-US" sz="1500" dirty="0">
                <a:solidFill>
                  <a:srgbClr val="A8ADBA"/>
                </a:solidFill>
                <a:latin typeface="Public Sans" pitchFamily="34" charset="0"/>
                <a:ea typeface="Public Sans" pitchFamily="34" charset="-122"/>
                <a:cs typeface="Public Sans" pitchFamily="34" charset="-120"/>
              </a:rPr>
              <a:t>The second time one job goes wrong the same way.</a:t>
            </a:r>
            <a:endParaRPr lang="en-US" sz="1500" dirty="0"/>
          </a:p>
        </p:txBody>
      </p:sp>
      <p:sp>
        <p:nvSpPr>
          <p:cNvPr id="11" name="Text 9"/>
          <p:cNvSpPr txBox="1"/>
          <p:nvPr/>
        </p:nvSpPr>
        <p:spPr>
          <a:xfrm>
            <a:off x="777240" y="4050792"/>
            <a:ext cx="365760" cy="594360"/>
          </a:xfrm>
          <a:prstGeom prst="rect">
            <a:avLst/>
          </a:prstGeom>
          <a:noFill/>
          <a:ln/>
        </p:spPr>
        <p:txBody>
          <a:bodyPr wrap="square" lIns="0" tIns="0" rIns="0" bIns="0" rtlCol="0" anchor="ctr"/>
          <a:lstStyle/>
          <a:p>
            <a:pPr indent="0" marL="0">
              <a:buNone/>
            </a:pPr>
            <a:r>
              <a:rPr lang="en-US" sz="1600" b="1" dirty="0">
                <a:solidFill>
                  <a:srgbClr val="A59CFF"/>
                </a:solidFill>
                <a:latin typeface="Public Sans" pitchFamily="34" charset="0"/>
                <a:ea typeface="Public Sans" pitchFamily="34" charset="-122"/>
                <a:cs typeface="Public Sans" pitchFamily="34" charset="-120"/>
              </a:rPr>
              <a:t>—</a:t>
            </a:r>
            <a:endParaRPr lang="en-US" sz="1600" dirty="0"/>
          </a:p>
        </p:txBody>
      </p:sp>
      <p:sp>
        <p:nvSpPr>
          <p:cNvPr id="12" name="Text 10"/>
          <p:cNvSpPr txBox="1"/>
          <p:nvPr/>
        </p:nvSpPr>
        <p:spPr>
          <a:xfrm>
            <a:off x="1234440" y="4050792"/>
            <a:ext cx="4206240" cy="594360"/>
          </a:xfrm>
          <a:prstGeom prst="rect">
            <a:avLst/>
          </a:prstGeom>
          <a:noFill/>
          <a:ln/>
        </p:spPr>
        <p:txBody>
          <a:bodyPr wrap="square" lIns="0" tIns="0" rIns="0" bIns="0" rtlCol="0" anchor="ctr"/>
          <a:lstStyle/>
          <a:p>
            <a:pPr indent="0" marL="0">
              <a:buNone/>
            </a:pPr>
            <a:r>
              <a:rPr lang="en-US" sz="1600" b="1" dirty="0">
                <a:solidFill>
                  <a:srgbClr val="FFFFFF"/>
                </a:solidFill>
                <a:latin typeface="Public Sans" pitchFamily="34" charset="0"/>
                <a:ea typeface="Public Sans" pitchFamily="34" charset="-122"/>
                <a:cs typeface="Public Sans" pitchFamily="34" charset="-120"/>
              </a:rPr>
              <a:t>Another skill</a:t>
            </a:r>
            <a:endParaRPr lang="en-US" sz="1600" dirty="0"/>
          </a:p>
        </p:txBody>
      </p:sp>
      <p:sp>
        <p:nvSpPr>
          <p:cNvPr id="13" name="Text 11"/>
          <p:cNvSpPr txBox="1"/>
          <p:nvPr/>
        </p:nvSpPr>
        <p:spPr>
          <a:xfrm>
            <a:off x="5623560" y="4050792"/>
            <a:ext cx="5760720" cy="594360"/>
          </a:xfrm>
          <a:prstGeom prst="rect">
            <a:avLst/>
          </a:prstGeom>
          <a:noFill/>
          <a:ln/>
        </p:spPr>
        <p:txBody>
          <a:bodyPr wrap="square" lIns="0" tIns="0" rIns="0" bIns="0" rtlCol="0" anchor="ctr"/>
          <a:lstStyle/>
          <a:p>
            <a:pPr indent="0" marL="0">
              <a:lnSpc>
                <a:spcPts val="2100"/>
              </a:lnSpc>
              <a:buNone/>
            </a:pPr>
            <a:r>
              <a:rPr lang="en-US" sz="1500" dirty="0">
                <a:solidFill>
                  <a:srgbClr val="A8ADBA"/>
                </a:solidFill>
                <a:latin typeface="Public Sans" pitchFamily="34" charset="0"/>
                <a:ea typeface="Public Sans" pitchFamily="34" charset="-122"/>
                <a:cs typeface="Public Sans" pitchFamily="34" charset="-120"/>
              </a:rPr>
              <a:t>The second time you explain the same thing.</a:t>
            </a:r>
            <a:endParaRPr lang="en-US" sz="1500" dirty="0"/>
          </a:p>
        </p:txBody>
      </p:sp>
      <p:sp>
        <p:nvSpPr>
          <p:cNvPr id="14" name="Text 12"/>
          <p:cNvSpPr txBox="1"/>
          <p:nvPr/>
        </p:nvSpPr>
        <p:spPr>
          <a:xfrm>
            <a:off x="777240" y="4828032"/>
            <a:ext cx="365760" cy="594360"/>
          </a:xfrm>
          <a:prstGeom prst="rect">
            <a:avLst/>
          </a:prstGeom>
          <a:noFill/>
          <a:ln/>
        </p:spPr>
        <p:txBody>
          <a:bodyPr wrap="square" lIns="0" tIns="0" rIns="0" bIns="0" rtlCol="0" anchor="ctr"/>
          <a:lstStyle/>
          <a:p>
            <a:pPr indent="0" marL="0">
              <a:buNone/>
            </a:pPr>
            <a:r>
              <a:rPr lang="en-US" sz="1600" b="1" dirty="0">
                <a:solidFill>
                  <a:srgbClr val="A59CFF"/>
                </a:solidFill>
                <a:latin typeface="Public Sans" pitchFamily="34" charset="0"/>
                <a:ea typeface="Public Sans" pitchFamily="34" charset="-122"/>
                <a:cs typeface="Public Sans" pitchFamily="34" charset="-120"/>
              </a:rPr>
              <a:t>—</a:t>
            </a:r>
            <a:endParaRPr lang="en-US" sz="1600" dirty="0"/>
          </a:p>
        </p:txBody>
      </p:sp>
      <p:sp>
        <p:nvSpPr>
          <p:cNvPr id="15" name="Text 13"/>
          <p:cNvSpPr txBox="1"/>
          <p:nvPr/>
        </p:nvSpPr>
        <p:spPr>
          <a:xfrm>
            <a:off x="1234440" y="4828032"/>
            <a:ext cx="4206240" cy="594360"/>
          </a:xfrm>
          <a:prstGeom prst="rect">
            <a:avLst/>
          </a:prstGeom>
          <a:noFill/>
          <a:ln/>
        </p:spPr>
        <p:txBody>
          <a:bodyPr wrap="square" lIns="0" tIns="0" rIns="0" bIns="0" rtlCol="0" anchor="ctr"/>
          <a:lstStyle/>
          <a:p>
            <a:pPr indent="0" marL="0">
              <a:buNone/>
            </a:pPr>
            <a:r>
              <a:rPr lang="en-US" sz="1600" b="1" dirty="0">
                <a:solidFill>
                  <a:srgbClr val="FFFFFF"/>
                </a:solidFill>
                <a:latin typeface="Public Sans" pitchFamily="34" charset="0"/>
                <a:ea typeface="Public Sans" pitchFamily="34" charset="-122"/>
                <a:cs typeface="Public Sans" pitchFamily="34" charset="-120"/>
              </a:rPr>
              <a:t>A schedule</a:t>
            </a:r>
            <a:endParaRPr lang="en-US" sz="1600" dirty="0"/>
          </a:p>
        </p:txBody>
      </p:sp>
      <p:sp>
        <p:nvSpPr>
          <p:cNvPr id="16" name="Text 14"/>
          <p:cNvSpPr txBox="1"/>
          <p:nvPr/>
        </p:nvSpPr>
        <p:spPr>
          <a:xfrm>
            <a:off x="5623560" y="4828032"/>
            <a:ext cx="5760720" cy="594360"/>
          </a:xfrm>
          <a:prstGeom prst="rect">
            <a:avLst/>
          </a:prstGeom>
          <a:noFill/>
          <a:ln/>
        </p:spPr>
        <p:txBody>
          <a:bodyPr wrap="square" lIns="0" tIns="0" rIns="0" bIns="0" rtlCol="0" anchor="ctr"/>
          <a:lstStyle/>
          <a:p>
            <a:pPr indent="0" marL="0">
              <a:lnSpc>
                <a:spcPts val="2100"/>
              </a:lnSpc>
              <a:buNone/>
            </a:pPr>
            <a:r>
              <a:rPr lang="en-US" sz="1500" dirty="0">
                <a:solidFill>
                  <a:srgbClr val="A8ADBA"/>
                </a:solidFill>
                <a:latin typeface="Public Sans" pitchFamily="34" charset="0"/>
                <a:ea typeface="Public Sans" pitchFamily="34" charset="-122"/>
                <a:cs typeface="Public Sans" pitchFamily="34" charset="-120"/>
              </a:rPr>
              <a:t>When you want the week closed on Friday without being asked.</a:t>
            </a:r>
            <a:endParaRPr lang="en-US" sz="1500" dirty="0"/>
          </a:p>
        </p:txBody>
      </p:sp>
      <p:sp>
        <p:nvSpPr>
          <p:cNvPr id="17" name="Shape 15"/>
          <p:cNvSpPr/>
          <p:nvPr/>
        </p:nvSpPr>
        <p:spPr>
          <a:xfrm>
            <a:off x="777240" y="5669280"/>
            <a:ext cx="7680960" cy="658368"/>
          </a:xfrm>
          <a:prstGeom prst="roundRect">
            <a:avLst>
              <a:gd name="adj" fmla="val 8333"/>
            </a:avLst>
          </a:prstGeom>
          <a:solidFill>
            <a:srgbClr val="1B1D29"/>
          </a:solidFill>
          <a:ln w="17780">
            <a:solidFill>
              <a:srgbClr val="7367F0"/>
            </a:solidFill>
            <a:prstDash val="solid"/>
          </a:ln>
        </p:spPr>
      </p:sp>
      <p:sp>
        <p:nvSpPr>
          <p:cNvPr id="18" name="Text 16"/>
          <p:cNvSpPr txBox="1"/>
          <p:nvPr/>
        </p:nvSpPr>
        <p:spPr>
          <a:xfrm>
            <a:off x="1097280" y="5669280"/>
            <a:ext cx="7132320" cy="658368"/>
          </a:xfrm>
          <a:prstGeom prst="rect">
            <a:avLst/>
          </a:prstGeom>
          <a:noFill/>
          <a:ln/>
        </p:spPr>
        <p:txBody>
          <a:bodyPr wrap="square" lIns="0" tIns="0" rIns="0" bIns="0" rtlCol="0" anchor="ctr"/>
          <a:lstStyle/>
          <a:p>
            <a:pPr indent="0" marL="0">
              <a:buNone/>
            </a:pPr>
            <a:r>
              <a:rPr lang="en-US" sz="1450" b="1" dirty="0">
                <a:solidFill>
                  <a:srgbClr val="FFFFFF"/>
                </a:solidFill>
                <a:latin typeface="Public Sans" pitchFamily="34" charset="0"/>
                <a:ea typeface="Public Sans" pitchFamily="34" charset="-122"/>
                <a:cs typeface="Public Sans" pitchFamily="34" charset="-120"/>
              </a:rPr>
              <a:t>Monday: open the project, not a new chat. </a:t>
            </a:r>
            <a:pPr indent="0" marL="0">
              <a:buNone/>
            </a:pPr>
            <a:r>
              <a:rPr lang="en-US" sz="1450" dirty="0">
                <a:solidFill>
                  <a:srgbClr val="A8ADBA"/>
                </a:solidFill>
                <a:latin typeface="Public Sans" pitchFamily="34" charset="0"/>
                <a:ea typeface="Public Sans" pitchFamily="34" charset="-122"/>
                <a:cs typeface="Public Sans" pitchFamily="34" charset="-120"/>
              </a:rPr>
              <a:t>That is the whole habit.</a:t>
            </a:r>
            <a:endParaRPr lang="en-US" sz="1450" dirty="0"/>
          </a:p>
        </p:txBody>
      </p:sp>
      <p:pic>
        <p:nvPicPr>
          <p:cNvPr id="19" name="Image 0" descr="/tmp/claude-0/-home-claude/e62a35b1-5075-553d-b086-acebfebc41ba/scratchpad/brand/meshpro-lockup-navy.png">    </p:cNvPr>
          <p:cNvPicPr>
            <a:picLocks noChangeAspect="1"/>
          </p:cNvPicPr>
          <p:nvPr/>
        </p:nvPicPr>
        <p:blipFill>
          <a:blip r:embed="rId1"/>
          <a:stretch>
            <a:fillRect/>
          </a:stretch>
        </p:blipFill>
        <p:spPr>
          <a:xfrm>
            <a:off x="9128455" y="5760720"/>
            <a:ext cx="2286000" cy="57607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MeshPro × Expectus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Personal AI Assistant — Installation</dc:title>
  <dc:subject>PptxGenJS Presentation</dc:subject>
  <dc:creator>MeshPro ehf.</dc:creator>
  <cp:lastModifiedBy>MeshPro ehf.</cp:lastModifiedBy>
  <cp:revision>1</cp:revision>
  <dcterms:created xsi:type="dcterms:W3CDTF">2026-09-24T17:44:38Z</dcterms:created>
  <dcterms:modified xsi:type="dcterms:W3CDTF">2026-09-24T17:44:38Z</dcterms:modified>
</cp:coreProperties>
</file>