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 this up only briefly — the checklist is the slide you actually want on screen while people settle. Say the rule in the first ten seconds: laptops open, we build together, nobody watches.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Put this up as people walk in and leave it up. Walk the room while they install Obsidian — a laptop stalled at step one stays stalled all hour.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goal slide. Say the third card out loud twice — they are not here to receive a setup, they are here to learn how to extend one. Everything after this is that promise being kept.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line that separates this from note-taking advice. Say it plainly: we are writing for the agents. A human-friendly vault is a side effect of a machine-readable one, not the goal.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skip clause early so nobody stalls downloading software. The honest trade is retrieval quality, not whether it works at 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Creating the vault is what makes the folder — people expect to have to do both. Watch for over-thinking the name; any name.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step that fails for people. Stay here until every laptop says connected — the approval dialog is easy to miss.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Put the sentence in the chat so nobody mistypes the address. The naming question is the one bit of fun — let the room shout answers. Expect some laptops to say they cannot run programs: normal, the copy fallback gets them the identical vault.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People do not think to ask for a file to be opened — say it explicitly. If a laptop cannot run programs, Claude still opens the page; it was copied in with everything else.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try to read this from the projector — everyone has it full size on their own screen. Hold the room until hands are down.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this five minutes and walk the room. The twelve-department instinct is universal; push back. Ask two or three people to say theirs out loud — it unsticks everyone else.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third card is the one people remember in a fortnight. Give a real example: a question you would not want an assistant guessing 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names came from the Norse option at install — theirs will differ. Point at the dashed boxes: those are specialists, which is the next two steps. Point at Bragi, across all departments: it owns how a workflow gets written down, not what any department does.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for examples from the room before they type — most people have three of these and have never written one down. Good ones: how you qualify an enquiry, how you structure an update, what makes a good handover.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Specialists are where this starts feeling like a team rather than a chatbot. Keep them narrow in the room — the instinct is to make one specialist that does everything, which is just the executive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zero. Counted rather than reported, so it cannot be quietly optimistic. Ask how many of their own written processes would survive that column.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Slow down here. Read the six out loud. An hour ago every one of these was a thing they would have said needed an IT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Send them away with one instruction, not four: open the project instead of a new chat. Everything else is downstream of that habit. Then offer to come back in a month and look at what they built.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7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e62a35b1-5075-553d-b086-acebfebc41ba/scratchpad/brand/meshpro-lockup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731520"/>
            <a:ext cx="3108960" cy="78638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77240" y="22860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Personal AI Assistant</a:t>
            </a:r>
            <a:endParaRPr lang="en-US" sz="4400" dirty="0"/>
          </a:p>
        </p:txBody>
      </p:sp>
      <p:sp>
        <p:nvSpPr>
          <p:cNvPr id="4" name="Text 1"/>
          <p:cNvSpPr txBox="1"/>
          <p:nvPr/>
        </p:nvSpPr>
        <p:spPr>
          <a:xfrm>
            <a:off x="777240" y="32004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A59C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Installation</a:t>
            </a:r>
            <a:endParaRPr lang="en-US" sz="4400" dirty="0"/>
          </a:p>
        </p:txBody>
      </p:sp>
      <p:sp>
        <p:nvSpPr>
          <p:cNvPr id="5" name="Shape 2"/>
          <p:cNvSpPr/>
          <p:nvPr/>
        </p:nvSpPr>
        <p:spPr>
          <a:xfrm>
            <a:off x="777240" y="4434840"/>
            <a:ext cx="914400" cy="32004"/>
          </a:xfrm>
          <a:prstGeom prst="rect">
            <a:avLst/>
          </a:prstGeom>
          <a:solidFill>
            <a:srgbClr val="7367F0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77240" y="470916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A8ADB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 hands-on hour. Open your laptop: you are building your own AI Second Brain with me, not watching me build one.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6291072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7E84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MeshPro × Expectus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517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59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EVERYONE GETS READY</a:t>
            </a:r>
            <a:endParaRPr lang="en-US" sz="1100" dirty="0"/>
          </a:p>
        </p:txBody>
      </p:sp>
      <p:pic>
        <p:nvPicPr>
          <p:cNvPr id="3" name="Image 0" descr="/tmp/claude-0/-home-claude/e62a35b1-5075-553d-b086-acebfebc41ba/scratchpad/brand/meshpro-emblem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40135" y="411480"/>
            <a:ext cx="384048" cy="37490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77240" y="868680"/>
            <a:ext cx="9951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944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Before we start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777240" y="1783080"/>
            <a:ext cx="10637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A8ADB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Four things. Three of them you already have.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242316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367F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—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234440" y="242316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Claude, on your laptop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5440680" y="242316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A8ADB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desktop app, signed in. This is where every step happens.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33756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367F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—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234440" y="333756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Obsidian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5440680" y="333756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A8ADB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Free, five minutes to install. It is how you read and edit your vault — and creating the vault makes the folder for you.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425196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367F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—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1234440" y="425196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Somewhere to keep it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5440680" y="425196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A8ADB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C:\AI is a good home. Nothing to create yet; step one does it.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777240" y="516636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367F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—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1234440" y="516636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Nothing else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5440680" y="516636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A8ADB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No Python, no terminal, no account to create, no plugin to buy.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777240" y="6291072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7E84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736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POINT OF THE HOUR</a:t>
            </a:r>
            <a:endParaRPr lang="en-US" sz="1100" dirty="0"/>
          </a:p>
        </p:txBody>
      </p:sp>
      <p:pic>
        <p:nvPicPr>
          <p:cNvPr id="3" name="Image 0" descr="/tmp/claude-0/-home-claude/e62a35b1-5075-553d-b086-acebfebc41ba/scratchpad/brand/meshpro-emblem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40135" y="411480"/>
            <a:ext cx="384048" cy="37490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77240" y="868680"/>
            <a:ext cx="9951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712"/>
              </a:lnSpc>
              <a:buNone/>
            </a:pPr>
            <a:r>
              <a:rPr lang="en-US" sz="320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What you will have when you leave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777240" y="1737360"/>
            <a:ext cx="10637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B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Not a demo you watched — an architecture on your own laptop, and enough of a grip on it to keep building after today.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777240" y="2651760"/>
            <a:ext cx="3291840" cy="2114804"/>
          </a:xfrm>
          <a:prstGeom prst="roundRect">
            <a:avLst>
              <a:gd name="adj" fmla="val 2594"/>
            </a:avLst>
          </a:prstGeom>
          <a:solidFill>
            <a:srgbClr val="F4F5F8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51560" y="2926080"/>
            <a:ext cx="274320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Your work has a place to live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051560" y="3572256"/>
            <a:ext cx="2743200" cy="938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B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Accounts, promises, half-finished drafts — written once, in plain text you own, instead of re-typed into a chat window every morning.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434840" y="2651760"/>
            <a:ext cx="3291840" cy="2114804"/>
          </a:xfrm>
          <a:prstGeom prst="roundRect">
            <a:avLst>
              <a:gd name="adj" fmla="val 2594"/>
            </a:avLst>
          </a:prstGeom>
          <a:solidFill>
            <a:srgbClr val="F4F5F8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709160" y="2926080"/>
            <a:ext cx="274320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An organisation that works for you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4709160" y="3572256"/>
            <a:ext cx="2743200" cy="938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B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Departments for the parts of your job, an executive answering for each, specialists under them, and skills that hold your method.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092440" y="2651760"/>
            <a:ext cx="3291840" cy="2114804"/>
          </a:xfrm>
          <a:prstGeom prst="roundRect">
            <a:avLst>
              <a:gd name="adj" fmla="val 2594"/>
            </a:avLst>
          </a:prstGeom>
          <a:solidFill>
            <a:srgbClr val="F4F5F8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366760" y="2926080"/>
            <a:ext cx="2743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 way to keep building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8366760" y="3313176"/>
            <a:ext cx="2743200" cy="1197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B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Agents, skills, workflows, projects, schedules. You will have made one of each by the end, so the next one is just more of the same.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777240" y="566928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Everything you build today is yours, on your own machine, and none of it needs us afterwards.</a:t>
            </a:r>
            <a:endParaRPr lang="en-US" sz="1450" dirty="0"/>
          </a:p>
        </p:txBody>
      </p:sp>
      <p:sp>
        <p:nvSpPr>
          <p:cNvPr id="16" name="Text 13"/>
          <p:cNvSpPr txBox="1"/>
          <p:nvPr/>
        </p:nvSpPr>
        <p:spPr>
          <a:xfrm>
            <a:off x="777240" y="6291072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919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517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59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IDEA</a:t>
            </a:r>
            <a:endParaRPr lang="en-US" sz="1100" dirty="0"/>
          </a:p>
        </p:txBody>
      </p:sp>
      <p:pic>
        <p:nvPicPr>
          <p:cNvPr id="3" name="Image 0" descr="/tmp/claude-0/-home-claude/e62a35b1-5075-553d-b086-acebfebc41ba/scratchpad/brand/meshpro-emblem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40135" y="411480"/>
            <a:ext cx="384048" cy="37490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77240" y="868680"/>
            <a:ext cx="9951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712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This is not being built for you.</a:t>
            </a:r>
            <a:endParaRPr lang="en-US" sz="3200" dirty="0"/>
          </a:p>
          <a:p>
            <a:pPr indent="0" marL="0">
              <a:lnSpc>
                <a:spcPts val="3712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It is being built for the agents.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777240" y="2148840"/>
            <a:ext cx="10637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A8ADB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Your vault is not a nicer set of notes. It is a structure an LLM can read, navigate and act on — written in the shape a machine needs, which happens to also be readable by a person.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777240" y="3200400"/>
            <a:ext cx="3291840" cy="1922907"/>
          </a:xfrm>
          <a:prstGeom prst="roundRect">
            <a:avLst>
              <a:gd name="adj" fmla="val 2853"/>
            </a:avLst>
          </a:prstGeom>
          <a:solidFill>
            <a:srgbClr val="1B1D29"/>
          </a:solidFill>
          <a:ln w="12700">
            <a:solidFill>
              <a:srgbClr val="2B2E3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51560" y="34747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A59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HOME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1051560" y="3767328"/>
            <a:ext cx="2743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 fact lives in one place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1051560" y="4154424"/>
            <a:ext cx="2743200" cy="7128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A8ADB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So an agent never has to choose between two versions of the truth — and neither do you.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434840" y="3200400"/>
            <a:ext cx="3291840" cy="1922907"/>
          </a:xfrm>
          <a:prstGeom prst="roundRect">
            <a:avLst>
              <a:gd name="adj" fmla="val 2853"/>
            </a:avLst>
          </a:prstGeom>
          <a:solidFill>
            <a:srgbClr val="1B1D29"/>
          </a:solidFill>
          <a:ln w="12700">
            <a:solidFill>
              <a:srgbClr val="2B2E3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709160" y="34747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A59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FIELDS, NOT PROSE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4709160" y="3767328"/>
            <a:ext cx="2743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Every note is labelled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4709160" y="4154424"/>
            <a:ext cx="2743200" cy="7128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A8ADB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Plain-text fields it can filter, count and reason over, instead of guessing from prose.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092440" y="3200400"/>
            <a:ext cx="3291840" cy="1922907"/>
          </a:xfrm>
          <a:prstGeom prst="roundRect">
            <a:avLst>
              <a:gd name="adj" fmla="val 2853"/>
            </a:avLst>
          </a:prstGeom>
          <a:solidFill>
            <a:srgbClr val="1B1D29"/>
          </a:solidFill>
          <a:ln w="12700">
            <a:solidFill>
              <a:srgbClr val="2B2E3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366760" y="34747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A59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GRAPH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8366760" y="3767328"/>
            <a:ext cx="2743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Linked, never copied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8366760" y="4154424"/>
            <a:ext cx="2743200" cy="7128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A8ADB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graph is how it finds context. Copy-paste breaks it; a link makes it navigable.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777240" y="6291072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7E84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736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ONE TOOL WORTH HAVING</a:t>
            </a:r>
            <a:endParaRPr lang="en-US" sz="1100" dirty="0"/>
          </a:p>
        </p:txBody>
      </p:sp>
      <p:pic>
        <p:nvPicPr>
          <p:cNvPr id="3" name="Image 0" descr="/tmp/claude-0/-home-claude/e62a35b1-5075-553d-b086-acebfebc41ba/scratchpad/brand/meshpro-emblem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40135" y="411480"/>
            <a:ext cx="384048" cy="37490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77240" y="868680"/>
            <a:ext cx="9951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596"/>
              </a:lnSpc>
              <a:buNone/>
            </a:pPr>
            <a:r>
              <a:rPr lang="en-US" sz="310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Obsidian: your vault, and why it is worth five minutes</a:t>
            </a:r>
            <a:endParaRPr lang="en-US" sz="3100" dirty="0"/>
          </a:p>
        </p:txBody>
      </p:sp>
      <p:sp>
        <p:nvSpPr>
          <p:cNvPr id="5" name="Text 2"/>
          <p:cNvSpPr txBox="1"/>
          <p:nvPr/>
        </p:nvSpPr>
        <p:spPr>
          <a:xfrm>
            <a:off x="777240" y="2011680"/>
            <a:ext cx="10637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B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Obsidian does not store anything. It reads a folder — and when you create a vault, it makes that folder for you.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777240" y="2788920"/>
            <a:ext cx="5029200" cy="2887726"/>
          </a:xfrm>
          <a:prstGeom prst="roundRect">
            <a:avLst>
              <a:gd name="adj" fmla="val 1900"/>
            </a:avLst>
          </a:prstGeom>
          <a:solidFill>
            <a:srgbClr val="F4F5F8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51560" y="3063240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736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IT GIVES THE AGENTS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1051560" y="3355848"/>
            <a:ext cx="448056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Retrieval that actually works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1051560" y="3742944"/>
            <a:ext cx="4480560" cy="1677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5B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Backlinks and the graph turn your notes into something an agent can walk: from a client, to the promise, to the workflow that delivers it.</a:t>
            </a:r>
            <a:endParaRPr lang="en-US" sz="1300" dirty="0"/>
          </a:p>
          <a:p>
            <a:pPr indent="0" marL="0">
              <a:lnSpc>
                <a:spcPts val="1846"/>
              </a:lnSpc>
              <a:buNone/>
            </a:pPr>
            <a:endParaRPr lang="en-US" sz="1300" dirty="0"/>
          </a:p>
          <a:p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5B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Plus the plugin shelf — Dataview and the rest — which lets a page answer a question instead of just sitting there.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172200" y="2788920"/>
            <a:ext cx="5029200" cy="2887726"/>
          </a:xfrm>
          <a:prstGeom prst="roundRect">
            <a:avLst>
              <a:gd name="adj" fmla="val 1900"/>
            </a:avLst>
          </a:prstGeom>
          <a:solidFill>
            <a:srgbClr val="F4F5F8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46520" y="3063240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736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YOU SKIP IT TODAY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446520" y="3355848"/>
            <a:ext cx="448056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Everything still works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6446520" y="3742944"/>
            <a:ext cx="4480560" cy="1677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5B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Make an ordinary folder under C:\AI instead and carry on — the vault is plain Markdown, and every step in this hour runs.</a:t>
            </a:r>
            <a:endParaRPr lang="en-US" sz="1300" dirty="0"/>
          </a:p>
          <a:p>
            <a:pPr indent="0" marL="0">
              <a:lnSpc>
                <a:spcPts val="1846"/>
              </a:lnSpc>
              <a:buNone/>
            </a:pPr>
            <a:endParaRPr lang="en-US" sz="1300" dirty="0"/>
          </a:p>
          <a:p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5B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What you lose is the retrieval side: the graph, the backlinks, the plugins. Install it tonight and nothing has to be redone.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777240" y="6291072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919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736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HANDS ON</a:t>
            </a:r>
            <a:endParaRPr lang="en-US" sz="1100" dirty="0"/>
          </a:p>
        </p:txBody>
      </p:sp>
      <p:pic>
        <p:nvPicPr>
          <p:cNvPr id="3" name="Image 0" descr="/tmp/claude-0/-home-claude/e62a35b1-5075-553d-b086-acebfebc41ba/scratchpad/brand/meshpro-emblem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40135" y="411480"/>
            <a:ext cx="384048" cy="37490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77240" y="868680"/>
            <a:ext cx="868680" cy="868680"/>
          </a:xfrm>
          <a:prstGeom prst="ellipse">
            <a:avLst/>
          </a:prstGeom>
          <a:solidFill>
            <a:srgbClr val="7367F0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77240" y="8686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2011680" y="868680"/>
            <a:ext cx="9402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Create your vault</a:t>
            </a:r>
            <a:endParaRPr lang="en-US" sz="3100" dirty="0"/>
          </a:p>
        </p:txBody>
      </p:sp>
      <p:sp>
        <p:nvSpPr>
          <p:cNvPr id="7" name="Shape 4"/>
          <p:cNvSpPr/>
          <p:nvPr/>
        </p:nvSpPr>
        <p:spPr>
          <a:xfrm>
            <a:off x="777240" y="1938528"/>
            <a:ext cx="10637215" cy="1566672"/>
          </a:xfrm>
          <a:prstGeom prst="roundRect">
            <a:avLst>
              <a:gd name="adj" fmla="val 3502"/>
            </a:avLst>
          </a:prstGeom>
          <a:solidFill>
            <a:srgbClr val="F0EEFC"/>
          </a:solidFill>
          <a:ln w="17780">
            <a:solidFill>
              <a:srgbClr val="C4BD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143000" y="1938528"/>
            <a:ext cx="9905695" cy="1566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050" spc="160" kern="0" dirty="0">
                <a:solidFill>
                  <a:srgbClr val="736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THIS NOW   </a:t>
            </a:r>
            <a:pPr indent="0" marL="0">
              <a:lnSpc>
                <a:spcPts val="2600"/>
              </a:lnSpc>
              <a:buNone/>
            </a:pPr>
            <a:endParaRPr lang="en-US" sz="105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In Obsidian: Create new vault. Name it after yourself or your team, and put it under C:\AI. No Obsidian? Make an empty folder there instead.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669792"/>
            <a:ext cx="10637215" cy="3215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You will know it worked when  </a:t>
            </a:r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5B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Obsidian shows an empty vault, and the folder exists on your disk.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777240" y="4247388"/>
            <a:ext cx="10607040" cy="1700276"/>
          </a:xfrm>
          <a:prstGeom prst="roundRect">
            <a:avLst>
              <a:gd name="adj" fmla="val 3227"/>
            </a:avLst>
          </a:prstGeom>
          <a:solidFill>
            <a:srgbClr val="F4F5F8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51560" y="4521708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736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A FOLDER AND NOT AN APP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1051560" y="4814316"/>
            <a:ext cx="100584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Because you keep it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1051560" y="5186172"/>
            <a:ext cx="10058400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5B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Everything today is plain text files in that folder. No database, no account, nothing hosted. If we never speak again it still opens — and you can read every file of it in Notepad.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777240" y="6291072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919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736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HANDS ON</a:t>
            </a:r>
            <a:endParaRPr lang="en-US" sz="1100" dirty="0"/>
          </a:p>
        </p:txBody>
      </p:sp>
      <p:pic>
        <p:nvPicPr>
          <p:cNvPr id="3" name="Image 0" descr="/tmp/claude-0/-home-claude/e62a35b1-5075-553d-b086-acebfebc41ba/scratchpad/brand/meshpro-emblem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40135" y="411480"/>
            <a:ext cx="384048" cy="37490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77240" y="868680"/>
            <a:ext cx="868680" cy="868680"/>
          </a:xfrm>
          <a:prstGeom prst="ellipse">
            <a:avLst/>
          </a:prstGeom>
          <a:solidFill>
            <a:srgbClr val="7367F0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77240" y="8686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2011680" y="868680"/>
            <a:ext cx="9402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Make a project, and connect the vault</a:t>
            </a:r>
            <a:endParaRPr lang="en-US" sz="3100" dirty="0"/>
          </a:p>
        </p:txBody>
      </p:sp>
      <p:sp>
        <p:nvSpPr>
          <p:cNvPr id="7" name="Shape 4"/>
          <p:cNvSpPr/>
          <p:nvPr/>
        </p:nvSpPr>
        <p:spPr>
          <a:xfrm>
            <a:off x="777240" y="1938528"/>
            <a:ext cx="10637215" cy="1566672"/>
          </a:xfrm>
          <a:prstGeom prst="roundRect">
            <a:avLst>
              <a:gd name="adj" fmla="val 3502"/>
            </a:avLst>
          </a:prstGeom>
          <a:solidFill>
            <a:srgbClr val="F0EEFC"/>
          </a:solidFill>
          <a:ln w="17780">
            <a:solidFill>
              <a:srgbClr val="C4BD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143000" y="1938528"/>
            <a:ext cx="9905695" cy="1566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050" spc="160" kern="0" dirty="0">
                <a:solidFill>
                  <a:srgbClr val="736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THIS NOW   </a:t>
            </a:r>
            <a:pPr indent="0" marL="0">
              <a:lnSpc>
                <a:spcPts val="2600"/>
              </a:lnSpc>
              <a:buNone/>
            </a:pPr>
            <a:endParaRPr lang="en-US" sz="105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In Claude, create a project and name it after your work. Then connect the folder you just made to that project, and approve it.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669792"/>
            <a:ext cx="10637215" cy="3215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You will know it worked when  </a:t>
            </a:r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5B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Claude tells you the folder is connected and can list what is in it — nothing.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777240" y="4247388"/>
            <a:ext cx="10607040" cy="1700276"/>
          </a:xfrm>
          <a:prstGeom prst="roundRect">
            <a:avLst>
              <a:gd name="adj" fmla="val 3227"/>
            </a:avLst>
          </a:prstGeom>
          <a:solidFill>
            <a:srgbClr val="F4F5F8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51560" y="4521708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736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A PROJECT AND NOT A NORMAL CHAT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1051560" y="4814316"/>
            <a:ext cx="100584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Because a project remembers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1051560" y="5186172"/>
            <a:ext cx="10058400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5B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Every conversation inside it reads and writes the same folder. Next week starts where today ended instead of starting from nothing — which is the thing that has been annoying you every morning.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777240" y="6291072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919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517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59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HANDS ON</a:t>
            </a:r>
            <a:endParaRPr lang="en-US" sz="1100" dirty="0"/>
          </a:p>
        </p:txBody>
      </p:sp>
      <p:pic>
        <p:nvPicPr>
          <p:cNvPr id="3" name="Image 0" descr="/tmp/claude-0/-home-claude/e62a35b1-5075-553d-b086-acebfebc41ba/scratchpad/brand/meshpro-emblem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40135" y="411480"/>
            <a:ext cx="384048" cy="37490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77240" y="868680"/>
            <a:ext cx="868680" cy="868680"/>
          </a:xfrm>
          <a:prstGeom prst="ellipse">
            <a:avLst/>
          </a:prstGeom>
          <a:solidFill>
            <a:srgbClr val="7367F0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77240" y="8686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3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2011680" y="868680"/>
            <a:ext cx="9402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Ask for the setup</a:t>
            </a:r>
            <a:endParaRPr lang="en-US" sz="3100" dirty="0"/>
          </a:p>
        </p:txBody>
      </p:sp>
      <p:sp>
        <p:nvSpPr>
          <p:cNvPr id="7" name="Shape 4"/>
          <p:cNvSpPr/>
          <p:nvPr/>
        </p:nvSpPr>
        <p:spPr>
          <a:xfrm>
            <a:off x="777240" y="1938528"/>
            <a:ext cx="10637215" cy="1236472"/>
          </a:xfrm>
          <a:prstGeom prst="roundRect">
            <a:avLst>
              <a:gd name="adj" fmla="val 4437"/>
            </a:avLst>
          </a:prstGeom>
          <a:solidFill>
            <a:srgbClr val="1B1D29"/>
          </a:solidFill>
          <a:ln w="17780">
            <a:solidFill>
              <a:srgbClr val="7367F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143000" y="1938528"/>
            <a:ext cx="9905695" cy="1236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050" spc="160" kern="0" dirty="0">
                <a:solidFill>
                  <a:srgbClr val="736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THIS NOW   </a:t>
            </a:r>
            <a:pPr indent="0" marL="0">
              <a:lnSpc>
                <a:spcPts val="2600"/>
              </a:lnSpc>
              <a:buNone/>
            </a:pPr>
            <a:endParaRPr lang="en-US" sz="105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Type the sentence below into your project. Then watch Obsidian.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339592"/>
            <a:ext cx="10637215" cy="3215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You will know it worked when  </a:t>
            </a:r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A8ADB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Claude reports back, and Obsidian fills with folders as it runs.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777240" y="4041648"/>
            <a:ext cx="10607040" cy="1097280"/>
          </a:xfrm>
          <a:prstGeom prst="roundRect">
            <a:avLst>
              <a:gd name="adj" fmla="val 5000"/>
            </a:avLst>
          </a:prstGeom>
          <a:solidFill>
            <a:srgbClr val="0E1016"/>
          </a:solidFill>
          <a:ln w="19050">
            <a:solidFill>
              <a:srgbClr val="7367F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188720" y="4041648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Set up the AI Operations Framework in my connected folder.</a:t>
            </a:r>
            <a:endParaRPr lang="en-US" sz="175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Pull it from github.com/MeshPro-iPaaS/ai-ops-framework and run the install.</a:t>
            </a:r>
            <a:endParaRPr lang="en-US" sz="175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541324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It asks one question: what to call your executives. 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A8ADB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Job titles, Norse gods, Friends, the Kardashians — or three names of your own.
</a:t>
            </a:r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If it says it cannot run programs on your computer: 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A8ADB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“then copy the starter folder into mine instead.” Same vault, one minute.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6291072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7E84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736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HANDS ON</a:t>
            </a:r>
            <a:endParaRPr lang="en-US" sz="1100" dirty="0"/>
          </a:p>
        </p:txBody>
      </p:sp>
      <p:pic>
        <p:nvPicPr>
          <p:cNvPr id="3" name="Image 0" descr="/tmp/claude-0/-home-claude/e62a35b1-5075-553d-b086-acebfebc41ba/scratchpad/brand/meshpro-emblem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40135" y="411480"/>
            <a:ext cx="384048" cy="37490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77240" y="868680"/>
            <a:ext cx="868680" cy="868680"/>
          </a:xfrm>
          <a:prstGeom prst="ellipse">
            <a:avLst/>
          </a:prstGeom>
          <a:solidFill>
            <a:srgbClr val="7367F0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77240" y="8686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4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2011680" y="868680"/>
            <a:ext cx="9402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Open your dashboard</a:t>
            </a:r>
            <a:endParaRPr lang="en-US" sz="3100" dirty="0"/>
          </a:p>
        </p:txBody>
      </p:sp>
      <p:sp>
        <p:nvSpPr>
          <p:cNvPr id="7" name="Shape 4"/>
          <p:cNvSpPr/>
          <p:nvPr/>
        </p:nvSpPr>
        <p:spPr>
          <a:xfrm>
            <a:off x="777240" y="1938528"/>
            <a:ext cx="10637215" cy="1236472"/>
          </a:xfrm>
          <a:prstGeom prst="roundRect">
            <a:avLst>
              <a:gd name="adj" fmla="val 4437"/>
            </a:avLst>
          </a:prstGeom>
          <a:solidFill>
            <a:srgbClr val="F0EEFC"/>
          </a:solidFill>
          <a:ln w="17780">
            <a:solidFill>
              <a:srgbClr val="C4BD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143000" y="1938528"/>
            <a:ext cx="9905695" cy="1236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050" spc="160" kern="0" dirty="0">
                <a:solidFill>
                  <a:srgbClr val="736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THIS NOW   </a:t>
            </a:r>
            <a:pPr indent="0" marL="0">
              <a:lnSpc>
                <a:spcPts val="2600"/>
              </a:lnSpc>
              <a:buNone/>
            </a:pPr>
            <a:endParaRPr lang="en-US" sz="105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Say: open my dashboard. Claude finds the page it just built and opens it in your browser.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339592"/>
            <a:ext cx="10637215" cy="3215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You will know it worked when  </a:t>
            </a:r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5B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 page opens with four tabs: Dashboard, Agent organization, Workflows, Projects.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777240" y="3917188"/>
            <a:ext cx="5029200" cy="1934718"/>
          </a:xfrm>
          <a:prstGeom prst="roundRect">
            <a:avLst>
              <a:gd name="adj" fmla="val 2836"/>
            </a:avLst>
          </a:prstGeom>
          <a:solidFill>
            <a:srgbClr val="F4F5F8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51560" y="4191508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736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IT ACTUALLY IS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1051560" y="4484116"/>
            <a:ext cx="448056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 file in your own folder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1051560" y="4855972"/>
            <a:ext cx="4480560" cy="739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5B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05 - Operations / picture / ai_operations.html. Nothing is hosted; it opens with no internet. Bookmark it.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172200" y="3917188"/>
            <a:ext cx="5029200" cy="1934718"/>
          </a:xfrm>
          <a:prstGeom prst="roundRect">
            <a:avLst>
              <a:gd name="adj" fmla="val 2836"/>
            </a:avLst>
          </a:prstGeom>
          <a:solidFill>
            <a:srgbClr val="F4F5F8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46520" y="4191508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736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IT IS TRUSTWORTHY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6446520" y="4484116"/>
            <a:ext cx="448056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It was counted, not typed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446520" y="4855972"/>
            <a:ext cx="4480560" cy="739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5B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Every number on it was counted off your notes when it was built. Nobody maintains it, so it cannot quietly go stale while everyone still believes it.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777240" y="6291072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919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736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CHECKPOINT</a:t>
            </a:r>
            <a:endParaRPr lang="en-US" sz="1100" dirty="0"/>
          </a:p>
        </p:txBody>
      </p:sp>
      <p:pic>
        <p:nvPicPr>
          <p:cNvPr id="3" name="Image 0" descr="/tmp/claude-0/-home-claude/e62a35b1-5075-553d-b086-acebfebc41ba/scratchpad/brand/meshpro-emblem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40135" y="411480"/>
            <a:ext cx="384048" cy="37490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77240" y="868680"/>
            <a:ext cx="9951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80"/>
              </a:lnSpc>
              <a:buNone/>
            </a:pPr>
            <a:r>
              <a:rPr lang="en-US" sz="300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Everyone should be looking at this</a:t>
            </a:r>
            <a:endParaRPr lang="en-US" sz="3000" dirty="0"/>
          </a:p>
        </p:txBody>
      </p:sp>
      <p:pic>
        <p:nvPicPr>
          <p:cNvPr id="5" name="Image 1" descr="/tmp/claude-0/-home-claude/e62a35b1-5075-553d-b086-acebfebc41ba/scratchpad/deck/n-dayo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19072"/>
            <a:ext cx="8129016" cy="397764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262872" y="1719072"/>
            <a:ext cx="2258568" cy="1599819"/>
          </a:xfrm>
          <a:prstGeom prst="roundRect">
            <a:avLst>
              <a:gd name="adj" fmla="val 3429"/>
            </a:avLst>
          </a:prstGeom>
          <a:solidFill>
            <a:srgbClr val="F4F5F8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9537192" y="1993392"/>
            <a:ext cx="1709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Four tabs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9537192" y="2350008"/>
            <a:ext cx="1709928" cy="7128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B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Dashboard, agent organization, workflows, projects.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9262872" y="3871468"/>
            <a:ext cx="2258568" cy="1825244"/>
          </a:xfrm>
          <a:prstGeom prst="roundRect">
            <a:avLst>
              <a:gd name="adj" fmla="val 3006"/>
            </a:avLst>
          </a:prstGeom>
          <a:solidFill>
            <a:srgbClr val="F4F5F8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9537192" y="4145788"/>
            <a:ext cx="1709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Honest on day one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9537192" y="4502404"/>
            <a:ext cx="1709928" cy="938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B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Two departments, three executives, and it says so. Not your job yet — that is next.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777240" y="6291072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919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736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HANDS ON · THE REAL FIRST STEP</a:t>
            </a:r>
            <a:endParaRPr lang="en-US" sz="1100" dirty="0"/>
          </a:p>
        </p:txBody>
      </p:sp>
      <p:pic>
        <p:nvPicPr>
          <p:cNvPr id="3" name="Image 0" descr="/tmp/claude-0/-home-claude/e62a35b1-5075-553d-b086-acebfebc41ba/scratchpad/brand/meshpro-emblem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40135" y="411480"/>
            <a:ext cx="384048" cy="37490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77240" y="868680"/>
            <a:ext cx="868680" cy="868680"/>
          </a:xfrm>
          <a:prstGeom prst="ellipse">
            <a:avLst/>
          </a:prstGeom>
          <a:solidFill>
            <a:srgbClr val="7367F0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77240" y="8686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5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2011680" y="868680"/>
            <a:ext cx="9402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Name your departments</a:t>
            </a:r>
            <a:endParaRPr lang="en-US" sz="3100" dirty="0"/>
          </a:p>
        </p:txBody>
      </p:sp>
      <p:sp>
        <p:nvSpPr>
          <p:cNvPr id="7" name="Shape 4"/>
          <p:cNvSpPr/>
          <p:nvPr/>
        </p:nvSpPr>
        <p:spPr>
          <a:xfrm>
            <a:off x="777240" y="1938528"/>
            <a:ext cx="10637215" cy="1236472"/>
          </a:xfrm>
          <a:prstGeom prst="roundRect">
            <a:avLst>
              <a:gd name="adj" fmla="val 4437"/>
            </a:avLst>
          </a:prstGeom>
          <a:solidFill>
            <a:srgbClr val="F0EEFC"/>
          </a:solidFill>
          <a:ln w="17780">
            <a:solidFill>
              <a:srgbClr val="C4BD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143000" y="1938528"/>
            <a:ext cx="9905695" cy="1236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050" spc="160" kern="0" dirty="0">
                <a:solidFill>
                  <a:srgbClr val="736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THIS NOW   </a:t>
            </a:r>
            <a:pPr indent="0" marL="0">
              <a:lnSpc>
                <a:spcPts val="2600"/>
              </a:lnSpc>
              <a:buNone/>
            </a:pPr>
            <a:endParaRPr lang="en-US" sz="105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Tell Claude the parts of your job. Three to six, in your own words.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339592"/>
            <a:ext cx="10637215" cy="3215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You will know it worked when  </a:t>
            </a:r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5B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one note per department appears, each with an executive attached to it.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777240" y="3917188"/>
            <a:ext cx="5029200" cy="1718310"/>
          </a:xfrm>
          <a:prstGeom prst="roundRect">
            <a:avLst>
              <a:gd name="adj" fmla="val 3193"/>
            </a:avLst>
          </a:prstGeom>
          <a:solidFill>
            <a:srgbClr val="F4F5F8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51560" y="4191508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736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COUNTS AS ONE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1051560" y="4484116"/>
            <a:ext cx="448056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 part of your job you answer for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1051560" y="4855972"/>
            <a:ext cx="4480560" cy="5234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17"/>
              </a:lnSpc>
              <a:buNone/>
            </a:pPr>
            <a:r>
              <a:rPr lang="en-US" sz="1350" dirty="0">
                <a:solidFill>
                  <a:srgbClr val="5B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accounts. The reporting. The posting. The thing you inherited that nobody else touches.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172200" y="3917188"/>
            <a:ext cx="5029200" cy="1718310"/>
          </a:xfrm>
          <a:prstGeom prst="roundRect">
            <a:avLst>
              <a:gd name="adj" fmla="val 3193"/>
            </a:avLst>
          </a:prstGeom>
          <a:solidFill>
            <a:srgbClr val="F4F5F8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46520" y="4191508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736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THREE TO SIX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6446520" y="4484116"/>
            <a:ext cx="448056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Not twelve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446520" y="4855972"/>
            <a:ext cx="4480560" cy="5234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17"/>
              </a:lnSpc>
              <a:buNone/>
            </a:pPr>
            <a:r>
              <a:rPr lang="en-US" sz="1350" dirty="0">
                <a:solidFill>
                  <a:srgbClr val="5B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If two would never disagree about anything, they are one. You can add another next week in a sentence.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777240" y="6291072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919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736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YOU JUST CREATED</a:t>
            </a:r>
            <a:endParaRPr lang="en-US" sz="1100" dirty="0"/>
          </a:p>
        </p:txBody>
      </p:sp>
      <p:pic>
        <p:nvPicPr>
          <p:cNvPr id="3" name="Image 0" descr="/tmp/claude-0/-home-claude/e62a35b1-5075-553d-b086-acebfebc41ba/scratchpad/brand/meshpro-emblem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40135" y="411480"/>
            <a:ext cx="384048" cy="37490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77240" y="868680"/>
            <a:ext cx="9951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712"/>
              </a:lnSpc>
              <a:buNone/>
            </a:pPr>
            <a:r>
              <a:rPr lang="en-US" sz="320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Executives own a department and operate it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777240" y="1737360"/>
            <a:ext cx="10637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B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Each department note compiles into an agent that answers for that department and nothing else. That is the unit everything else hangs off.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777240" y="2651760"/>
            <a:ext cx="3291840" cy="2373757"/>
          </a:xfrm>
          <a:prstGeom prst="roundRect">
            <a:avLst>
              <a:gd name="adj" fmla="val 2311"/>
            </a:avLst>
          </a:prstGeom>
          <a:solidFill>
            <a:srgbClr val="F4F5F8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51560" y="292608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736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 ANSWERS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1051560" y="3218688"/>
            <a:ext cx="2743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For one department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1051560" y="3605784"/>
            <a:ext cx="2743200" cy="1163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B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Ask it about its own ground and it knows the notes, the workflows and what is outstanding. Ask it about somebody else's and it hands the question back.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434840" y="2651760"/>
            <a:ext cx="3291840" cy="2373757"/>
          </a:xfrm>
          <a:prstGeom prst="roundRect">
            <a:avLst>
              <a:gd name="adj" fmla="val 2311"/>
            </a:avLst>
          </a:prstGeom>
          <a:solidFill>
            <a:srgbClr val="F4F5F8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709160" y="292608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736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 PREPARES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4709160" y="3218688"/>
            <a:ext cx="2743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It does not decide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4709160" y="3605784"/>
            <a:ext cx="2743200" cy="1163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B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Drafts, assessments, the next version of a note. Publishing, sending, spending and deleting stay yours — that never changes.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092440" y="2651760"/>
            <a:ext cx="3291840" cy="2373757"/>
          </a:xfrm>
          <a:prstGeom prst="roundRect">
            <a:avLst>
              <a:gd name="adj" fmla="val 2311"/>
            </a:avLst>
          </a:prstGeom>
          <a:solidFill>
            <a:srgbClr val="F4F5F8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366760" y="292608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736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 STOPS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8366760" y="3218688"/>
            <a:ext cx="2743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Somewhere stated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8366760" y="3605784"/>
            <a:ext cx="2743200" cy="1163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B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Every executive writes down what it does not own. An agent always answers; the stop line is what makes the answers you do get worth having.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777240" y="566928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Add a department next month and you get another one — same sentence, no setup.</a:t>
            </a:r>
            <a:endParaRPr lang="en-US" sz="1450" dirty="0"/>
          </a:p>
        </p:txBody>
      </p:sp>
      <p:sp>
        <p:nvSpPr>
          <p:cNvPr id="19" name="Text 16"/>
          <p:cNvSpPr txBox="1"/>
          <p:nvPr/>
        </p:nvSpPr>
        <p:spPr>
          <a:xfrm>
            <a:off x="777240" y="6291072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919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736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ORGANISATION</a:t>
            </a:r>
            <a:endParaRPr lang="en-US" sz="1100" dirty="0"/>
          </a:p>
        </p:txBody>
      </p:sp>
      <p:pic>
        <p:nvPicPr>
          <p:cNvPr id="3" name="Image 0" descr="/tmp/claude-0/-home-claude/e62a35b1-5075-553d-b086-acebfebc41ba/scratchpad/brand/meshpro-emblem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40135" y="411480"/>
            <a:ext cx="384048" cy="37490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77240" y="868680"/>
            <a:ext cx="9951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596"/>
              </a:lnSpc>
              <a:buNone/>
            </a:pPr>
            <a:r>
              <a:rPr lang="en-US" sz="310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That is an executive layer, and it is yours</a:t>
            </a:r>
            <a:endParaRPr lang="en-US" sz="3100" dirty="0"/>
          </a:p>
        </p:txBody>
      </p:sp>
      <p:sp>
        <p:nvSpPr>
          <p:cNvPr id="5" name="Text 2"/>
          <p:cNvSpPr txBox="1"/>
          <p:nvPr/>
        </p:nvSpPr>
        <p:spPr>
          <a:xfrm>
            <a:off x="777240" y="1572768"/>
            <a:ext cx="10637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B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Nobody drew this. It is read off each role note — who it reports to, which department it answers for — and redrawn every time the site is built.</a:t>
            </a:r>
            <a:endParaRPr lang="en-US" sz="1500" dirty="0"/>
          </a:p>
        </p:txBody>
      </p:sp>
      <p:pic>
        <p:nvPicPr>
          <p:cNvPr id="6" name="Image 1" descr="/tmp/claude-0/-home-claude/e62a35b1-5075-553d-b086-acebfebc41ba/scratchpad/deck/n-or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2808" y="2304288"/>
            <a:ext cx="8412480" cy="37490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77240" y="6291072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919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736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HANDS ON</a:t>
            </a:r>
            <a:endParaRPr lang="en-US" sz="1100" dirty="0"/>
          </a:p>
        </p:txBody>
      </p:sp>
      <p:pic>
        <p:nvPicPr>
          <p:cNvPr id="3" name="Image 0" descr="/tmp/claude-0/-home-claude/e62a35b1-5075-553d-b086-acebfebc41ba/scratchpad/brand/meshpro-emblem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40135" y="411480"/>
            <a:ext cx="384048" cy="37490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77240" y="868680"/>
            <a:ext cx="868680" cy="868680"/>
          </a:xfrm>
          <a:prstGeom prst="ellipse">
            <a:avLst/>
          </a:prstGeom>
          <a:solidFill>
            <a:srgbClr val="7367F0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77240" y="8686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6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2011680" y="868680"/>
            <a:ext cx="9402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Teach an executive a skill</a:t>
            </a:r>
            <a:endParaRPr lang="en-US" sz="3100" dirty="0"/>
          </a:p>
        </p:txBody>
      </p:sp>
      <p:sp>
        <p:nvSpPr>
          <p:cNvPr id="7" name="Shape 4"/>
          <p:cNvSpPr/>
          <p:nvPr/>
        </p:nvSpPr>
        <p:spPr>
          <a:xfrm>
            <a:off x="777240" y="1938528"/>
            <a:ext cx="10637215" cy="1566672"/>
          </a:xfrm>
          <a:prstGeom prst="roundRect">
            <a:avLst>
              <a:gd name="adj" fmla="val 3502"/>
            </a:avLst>
          </a:prstGeom>
          <a:solidFill>
            <a:srgbClr val="F0EEFC"/>
          </a:solidFill>
          <a:ln w="17780">
            <a:solidFill>
              <a:srgbClr val="C4BD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143000" y="1938528"/>
            <a:ext cx="9905695" cy="1566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050" spc="160" kern="0" dirty="0">
                <a:solidFill>
                  <a:srgbClr val="736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THIS NOW   </a:t>
            </a:r>
            <a:pPr indent="0" marL="0">
              <a:lnSpc>
                <a:spcPts val="2600"/>
              </a:lnSpc>
              <a:buNone/>
            </a:pPr>
            <a:endParaRPr lang="en-US" sz="105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Pick something you explain the same way every time. Say: teach [executive] a skill for this, and then describe how you do it.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669792"/>
            <a:ext cx="10637215" cy="3215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You will know it worked when  </a:t>
            </a:r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5B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 skill appears in your vault, and the executive knows to reach for it by name.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777240" y="4247388"/>
            <a:ext cx="5029200" cy="1700276"/>
          </a:xfrm>
          <a:prstGeom prst="roundRect">
            <a:avLst>
              <a:gd name="adj" fmla="val 3227"/>
            </a:avLst>
          </a:prstGeom>
          <a:solidFill>
            <a:srgbClr val="F4F5F8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51560" y="4521708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736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A SKILL IS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1051560" y="4814316"/>
            <a:ext cx="448056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Your method, written once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1051560" y="5186172"/>
            <a:ext cx="4480560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5B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When to use it, the steps, where it stops. It is why the agent works your way instead of improvising.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172200" y="4247388"/>
            <a:ext cx="5029200" cy="1700276"/>
          </a:xfrm>
          <a:prstGeom prst="roundRect">
            <a:avLst>
              <a:gd name="adj" fmla="val 3227"/>
            </a:avLst>
          </a:prstGeom>
          <a:solidFill>
            <a:srgbClr val="F4F5F8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46520" y="4521708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736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YOU KNOW YOU NEED ONE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6446520" y="4814316"/>
            <a:ext cx="448056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You explained it twice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446520" y="5186172"/>
            <a:ext cx="4480560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5B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second time you type the same guidance, it should have been a skill the first time.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777240" y="6291072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919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736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HANDS ON · THE LAST ONE</a:t>
            </a:r>
            <a:endParaRPr lang="en-US" sz="1100" dirty="0"/>
          </a:p>
        </p:txBody>
      </p:sp>
      <p:pic>
        <p:nvPicPr>
          <p:cNvPr id="3" name="Image 0" descr="/tmp/claude-0/-home-claude/e62a35b1-5075-553d-b086-acebfebc41ba/scratchpad/brand/meshpro-emblem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40135" y="411480"/>
            <a:ext cx="384048" cy="37490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77240" y="868680"/>
            <a:ext cx="868680" cy="868680"/>
          </a:xfrm>
          <a:prstGeom prst="ellipse">
            <a:avLst/>
          </a:prstGeom>
          <a:solidFill>
            <a:srgbClr val="7367F0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77240" y="8686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7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2011680" y="868680"/>
            <a:ext cx="9402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Give an executive a specialist</a:t>
            </a:r>
            <a:endParaRPr lang="en-US" sz="3100" dirty="0"/>
          </a:p>
        </p:txBody>
      </p:sp>
      <p:sp>
        <p:nvSpPr>
          <p:cNvPr id="7" name="Shape 4"/>
          <p:cNvSpPr/>
          <p:nvPr/>
        </p:nvSpPr>
        <p:spPr>
          <a:xfrm>
            <a:off x="777240" y="1938528"/>
            <a:ext cx="10637215" cy="1566672"/>
          </a:xfrm>
          <a:prstGeom prst="roundRect">
            <a:avLst>
              <a:gd name="adj" fmla="val 3502"/>
            </a:avLst>
          </a:prstGeom>
          <a:solidFill>
            <a:srgbClr val="F0EEFC"/>
          </a:solidFill>
          <a:ln w="17780">
            <a:solidFill>
              <a:srgbClr val="C4BD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143000" y="1938528"/>
            <a:ext cx="9905695" cy="1566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050" spc="160" kern="0" dirty="0">
                <a:solidFill>
                  <a:srgbClr val="736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THIS NOW   </a:t>
            </a:r>
            <a:pPr indent="0" marL="0">
              <a:lnSpc>
                <a:spcPts val="2600"/>
              </a:lnSpc>
              <a:buNone/>
            </a:pPr>
            <a:endParaRPr lang="en-US" sz="105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Say: add a specialist under [executive] that does [one narrow job]. Then rebuild and look at the chart.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669792"/>
            <a:ext cx="10637215" cy="3215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You will know it worked when  </a:t>
            </a:r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5B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 dashed box appears under that executive — its own agent, with one job.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777240" y="4247388"/>
            <a:ext cx="5029200" cy="1700276"/>
          </a:xfrm>
          <a:prstGeom prst="roundRect">
            <a:avLst>
              <a:gd name="adj" fmla="val 3227"/>
            </a:avLst>
          </a:prstGeom>
          <a:solidFill>
            <a:srgbClr val="F4F5F8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51560" y="4521708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736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NARROW ON PURPOSE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1051560" y="4814316"/>
            <a:ext cx="448056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One job, done properly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1051560" y="5186172"/>
            <a:ext cx="4480560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5B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Spots quiet accounts. Drafts the post. Writes the first pass. Anything else, it hands straight back.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172200" y="4247388"/>
            <a:ext cx="5029200" cy="1700276"/>
          </a:xfrm>
          <a:prstGeom prst="roundRect">
            <a:avLst>
              <a:gd name="adj" fmla="val 3227"/>
            </a:avLst>
          </a:prstGeom>
          <a:solidFill>
            <a:srgbClr val="F4F5F8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46520" y="4521708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736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TEST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6446520" y="4814316"/>
            <a:ext cx="448056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 task, not an area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446520" y="5186172"/>
            <a:ext cx="4480560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5B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Several kinds of work? That is a department. One fiddly thing that keeps going wrong? That is this.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777240" y="6291072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919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736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THE LAYER PRODUCES</a:t>
            </a:r>
            <a:endParaRPr lang="en-US" sz="1100" dirty="0"/>
          </a:p>
        </p:txBody>
      </p:sp>
      <p:pic>
        <p:nvPicPr>
          <p:cNvPr id="3" name="Image 0" descr="/tmp/claude-0/-home-claude/e62a35b1-5075-553d-b086-acebfebc41ba/scratchpad/brand/meshpro-emblem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40135" y="411480"/>
            <a:ext cx="384048" cy="37490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77240" y="868680"/>
            <a:ext cx="9951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596"/>
              </a:lnSpc>
              <a:buNone/>
            </a:pPr>
            <a:r>
              <a:rPr lang="en-US" sz="310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Workflows and projects belong to a department</a:t>
            </a:r>
            <a:endParaRPr lang="en-US" sz="3100" dirty="0"/>
          </a:p>
        </p:txBody>
      </p:sp>
      <p:sp>
        <p:nvSpPr>
          <p:cNvPr id="5" name="Text 2"/>
          <p:cNvSpPr txBox="1"/>
          <p:nvPr/>
        </p:nvSpPr>
        <p:spPr>
          <a:xfrm>
            <a:off x="777240" y="1572768"/>
            <a:ext cx="10637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B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 workflow is how a piece of work happens. A project is a piece of work with an end. Both belong to a department, so neither drifts into a pile nobody owns.</a:t>
            </a:r>
            <a:endParaRPr lang="en-US" sz="1500" dirty="0"/>
          </a:p>
        </p:txBody>
      </p:sp>
      <p:pic>
        <p:nvPicPr>
          <p:cNvPr id="6" name="Image 1" descr="/tmp/claude-0/-home-claude/e62a35b1-5075-553d-b086-acebfebc41ba/scratchpad/deck/n-block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212848"/>
            <a:ext cx="10607040" cy="180136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77240" y="4315968"/>
            <a:ext cx="5029200" cy="1700276"/>
          </a:xfrm>
          <a:prstGeom prst="roundRect">
            <a:avLst>
              <a:gd name="adj" fmla="val 3227"/>
            </a:avLst>
          </a:prstGeom>
          <a:solidFill>
            <a:srgbClr val="F4F5F8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1051560" y="4590288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736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TWO MARKS, NOT ONE</a:t>
            </a:r>
            <a:endParaRPr lang="en-US" sz="950" dirty="0"/>
          </a:p>
        </p:txBody>
      </p:sp>
      <p:sp>
        <p:nvSpPr>
          <p:cNvPr id="9" name="Text 5"/>
          <p:cNvSpPr txBox="1"/>
          <p:nvPr/>
        </p:nvSpPr>
        <p:spPr>
          <a:xfrm>
            <a:off x="1051560" y="4882896"/>
            <a:ext cx="448056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Written down is not working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1051560" y="5254752"/>
            <a:ext cx="4480560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5B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Is the note true? Only after one real case. Does it run end to end? Different question.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172200" y="4315968"/>
            <a:ext cx="5029200" cy="1700276"/>
          </a:xfrm>
          <a:prstGeom prst="roundRect">
            <a:avLst>
              <a:gd name="adj" fmla="val 3227"/>
            </a:avLst>
          </a:prstGeom>
          <a:solidFill>
            <a:srgbClr val="F4F5F8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446520" y="4590288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736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NUMBER TO LOOK AT</a:t>
            </a:r>
            <a:endParaRPr lang="en-US" sz="950" dirty="0"/>
          </a:p>
        </p:txBody>
      </p:sp>
      <p:sp>
        <p:nvSpPr>
          <p:cNvPr id="13" name="Text 9"/>
          <p:cNvSpPr txBox="1"/>
          <p:nvPr/>
        </p:nvSpPr>
        <p:spPr>
          <a:xfrm>
            <a:off x="6446520" y="4882896"/>
            <a:ext cx="448056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One workflow, none running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6446520" y="5254752"/>
            <a:ext cx="4480560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5B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Uncomfortable, true, and you did not have to admit it. It was counted.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777240" y="6291072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919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517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59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 HOUR AGO THIS WAS AN EMPTY FOLDER</a:t>
            </a:r>
            <a:endParaRPr lang="en-US" sz="1100" dirty="0"/>
          </a:p>
        </p:txBody>
      </p:sp>
      <p:pic>
        <p:nvPicPr>
          <p:cNvPr id="3" name="Image 0" descr="/tmp/claude-0/-home-claude/e62a35b1-5075-553d-b086-acebfebc41ba/scratchpad/brand/meshpro-emblem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40135" y="411480"/>
            <a:ext cx="384048" cy="37490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77240" y="868680"/>
            <a:ext cx="9951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944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Look at what is on your laptop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777240" y="2103120"/>
            <a:ext cx="3337560" cy="1325880"/>
          </a:xfrm>
          <a:prstGeom prst="roundRect">
            <a:avLst>
              <a:gd name="adj" fmla="val 4138"/>
            </a:avLst>
          </a:prstGeom>
          <a:solidFill>
            <a:srgbClr val="1B1D29"/>
          </a:solidFill>
          <a:ln w="12700">
            <a:solidFill>
              <a:srgbClr val="2B2E3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51560" y="233172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 vault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1051560" y="278892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DB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plain text, yours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389120" y="2103120"/>
            <a:ext cx="3337560" cy="1325880"/>
          </a:xfrm>
          <a:prstGeom prst="roundRect">
            <a:avLst>
              <a:gd name="adj" fmla="val 4138"/>
            </a:avLst>
          </a:prstGeom>
          <a:solidFill>
            <a:srgbClr val="1B1D29"/>
          </a:solidFill>
          <a:ln w="12700">
            <a:solidFill>
              <a:srgbClr val="2B2E3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663440" y="233172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Departments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4663440" y="278892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DB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parts of your job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001000" y="2103120"/>
            <a:ext cx="3337560" cy="1325880"/>
          </a:xfrm>
          <a:prstGeom prst="roundRect">
            <a:avLst>
              <a:gd name="adj" fmla="val 4138"/>
            </a:avLst>
          </a:prstGeom>
          <a:solidFill>
            <a:srgbClr val="1B1D29"/>
          </a:solidFill>
          <a:ln w="12700">
            <a:solidFill>
              <a:srgbClr val="2B2E3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75320" y="233172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Executives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8275320" y="278892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DB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one answering for each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77240" y="3703320"/>
            <a:ext cx="3337560" cy="1325880"/>
          </a:xfrm>
          <a:prstGeom prst="roundRect">
            <a:avLst>
              <a:gd name="adj" fmla="val 4138"/>
            </a:avLst>
          </a:prstGeom>
          <a:solidFill>
            <a:srgbClr val="1B1D29"/>
          </a:solidFill>
          <a:ln w="12700">
            <a:solidFill>
              <a:srgbClr val="2B2E3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051560" y="393192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 specialist</a:t>
            </a:r>
            <a:endParaRPr 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1051560" y="438912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DB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one job, done properly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389120" y="3703320"/>
            <a:ext cx="3337560" cy="1325880"/>
          </a:xfrm>
          <a:prstGeom prst="roundRect">
            <a:avLst>
              <a:gd name="adj" fmla="val 4138"/>
            </a:avLst>
          </a:prstGeom>
          <a:solidFill>
            <a:srgbClr val="1B1D29"/>
          </a:solidFill>
          <a:ln w="12700">
            <a:solidFill>
              <a:srgbClr val="2B2E3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663440" y="393192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 skill</a:t>
            </a:r>
            <a:endParaRPr lang="en-US" sz="1900" dirty="0"/>
          </a:p>
        </p:txBody>
      </p:sp>
      <p:sp>
        <p:nvSpPr>
          <p:cNvPr id="19" name="Text 16"/>
          <p:cNvSpPr txBox="1"/>
          <p:nvPr/>
        </p:nvSpPr>
        <p:spPr>
          <a:xfrm>
            <a:off x="4663440" y="438912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DB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your method, written once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01000" y="3703320"/>
            <a:ext cx="3337560" cy="1325880"/>
          </a:xfrm>
          <a:prstGeom prst="roundRect">
            <a:avLst>
              <a:gd name="adj" fmla="val 4138"/>
            </a:avLst>
          </a:prstGeom>
          <a:solidFill>
            <a:srgbClr val="1B1D29"/>
          </a:solidFill>
          <a:ln w="12700">
            <a:solidFill>
              <a:srgbClr val="2B2E3C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75320" y="393192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 dashboard</a:t>
            </a:r>
            <a:endParaRPr lang="en-US" sz="1900" dirty="0"/>
          </a:p>
        </p:txBody>
      </p:sp>
      <p:sp>
        <p:nvSpPr>
          <p:cNvPr id="22" name="Text 19"/>
          <p:cNvSpPr txBox="1"/>
          <p:nvPr/>
        </p:nvSpPr>
        <p:spPr>
          <a:xfrm>
            <a:off x="8275320" y="438912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DB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counted, never typed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777240" y="55778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ADB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None of it needs us. None of it phones home. It all still opens if you never speak to an AI again.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777240" y="6291072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7E84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517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59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HERE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868680"/>
            <a:ext cx="9951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944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next one is just more of the same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783080"/>
            <a:ext cx="10637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A8ADB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You have now made one of everything. Nothing you add after today is a new kind of thing to learn.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496312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367F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—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496312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Another department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623560" y="2496312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A8ADB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moment you notice a part of your job nobody answers for.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273552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367F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—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3273552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Another specialist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623560" y="3273552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A8ADB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second time one job goes wrong the same way.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050792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367F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—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4050792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Another skill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623560" y="4050792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A8ADB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second time you explain the same thing.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828032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367F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—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828032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 schedule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623560" y="4828032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A8ADB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When you want the week closed on Friday without being asked.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77240" y="5669280"/>
            <a:ext cx="7680960" cy="658368"/>
          </a:xfrm>
          <a:prstGeom prst="roundRect">
            <a:avLst>
              <a:gd name="adj" fmla="val 8333"/>
            </a:avLst>
          </a:prstGeom>
          <a:solidFill>
            <a:srgbClr val="1B1D29"/>
          </a:solidFill>
          <a:ln w="17780">
            <a:solidFill>
              <a:srgbClr val="7367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97280" y="5669280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Monday: open the project, not a new chat. </a:t>
            </a:r>
            <a:pPr indent="0" marL="0">
              <a:buNone/>
            </a:pPr>
            <a:r>
              <a:rPr lang="en-US" sz="1450" dirty="0">
                <a:solidFill>
                  <a:srgbClr val="A8ADB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That is the whole habit.</a:t>
            </a:r>
            <a:endParaRPr lang="en-US" sz="1450" dirty="0"/>
          </a:p>
        </p:txBody>
      </p:sp>
      <p:pic>
        <p:nvPicPr>
          <p:cNvPr id="19" name="Image 0" descr="/tmp/claude-0/-home-claude/e62a35b1-5075-553d-b086-acebfebc41ba/scratchpad/brand/meshpro-lockup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28455" y="5760720"/>
            <a:ext cx="2286000" cy="5760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MeshPro × Expectus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Personal AI Assistant — Installation</dc:title>
  <dc:subject>PptxGenJS Presentation</dc:subject>
  <dc:creator>MeshPro ehf.</dc:creator>
  <cp:lastModifiedBy>MeshPro ehf.</cp:lastModifiedBy>
  <cp:revision>1</cp:revision>
  <dcterms:created xsi:type="dcterms:W3CDTF">2026-09-23T15:49:43Z</dcterms:created>
  <dcterms:modified xsi:type="dcterms:W3CDTF">2026-09-23T15:49:43Z</dcterms:modified>
</cp:coreProperties>
</file>